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15-minute talk with rapid demonstrations. Frame: not 'is AI coming' but 'which AI, for which job, with which guardrails'. The next three sessions go deep on difficult cases, tests and reports, and medicines, so this one sets up the toolkit.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Keep it moving: one minute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distinction. General assistants are generalists; clinical-grade tools restrict themselves to curated medical sources and show citations. The assistants can be upgraded with connectors, which we will see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vendor pages and press releases, 2025–2026. OpenEvidence LMIC rollout announced with Anthropic, Sept 2026; India not explicitly named in coverage, so tell the audience to check. UpToDate Expert AI launched 2025; closed to the open web. Vera Health: free for licensed clinicians and students (vendor claim). Glass Health: Lite tier free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from press coverage: Claude for Healthcare announced at JPM, January 2026 (connectors to CMS Coverage Database, ICD-10, PubMed). ChatGPT for Clinicians launched 23 April 2026 for verified US clinicians. ChatGPT Health launched to US users July 2026. Emphasise that patients are consulting AI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Model Context Protocol simply: a plug that lets the assistant use another service. Claude's PubMed connector searches 35M+ citations; Consensus covers 220M+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if Wi-Fi allows: show the Connectors screen in Claude and the Consensus app in ChatGPT. Menu paths are as of September 2026; they change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in Claude with the PubMed connector on. Point out the PMIDs, then click one to show it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differential-diagnosis skill we use. The skill carries the structure; the clinician brings the findings. Dr. Saikat's next session takes difficult cases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biggest time-saver on the ward. Stress the de-identification and that the resident signs the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Rapid tour. Medicines and tests/reports are covered in depth in Dr. Saikat's sessions later this evening, so keep these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to photograph. Walk through two rows only, given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bias is the subtle one: seniors fall for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DPDP Act 2023 (Digital Personal Data Protection Act). Rules notified 2025. Keep the message simple: de-identify,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checks. Suggest they screenshot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30 seconds and hand over to Dr. Saikat for difficult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566928"/>
            <a:ext cx="128016" cy="128016"/>
          </a:xfrm>
          <a:prstGeom prst="ellipse">
            <a:avLst/>
          </a:prstGeom>
          <a:solidFill>
            <a:srgbClr val="FF641E"/>
          </a:solidFill>
          <a:ln w="12700">
            <a:solidFill>
              <a:srgbClr val="FF641E"/>
            </a:solidFill>
            <a:prstDash val="solid"/>
          </a:ln>
        </p:spPr>
      </p:sp>
      <p:sp>
        <p:nvSpPr>
          <p:cNvPr id="4" name="Text 1"/>
          <p:cNvSpPr txBox="1"/>
          <p:nvPr/>
        </p:nvSpPr>
        <p:spPr>
          <a:xfrm>
            <a:off x="768096" y="484632"/>
            <a:ext cx="3657600" cy="292608"/>
          </a:xfrm>
          <a:prstGeom prst="rect">
            <a:avLst/>
          </a:prstGeom>
          <a:noFill/>
          <a:ln/>
        </p:spPr>
        <p:txBody>
          <a:bodyPr wrap="square" lIns="0" tIns="0" rIns="0" bIns="0" rtlCol="0" anchor="ctr"/>
          <a:lstStyle/>
          <a:p>
            <a:pPr indent="0" marL="0">
              <a:buNone/>
            </a:pPr>
            <a:r>
              <a:rPr lang="en-US" sz="1200" b="1" spc="400" kern="0" dirty="0">
                <a:solidFill>
                  <a:srgbClr val="FBF4EC"/>
                </a:solidFill>
                <a:latin typeface="Arial" pitchFamily="34" charset="0"/>
                <a:ea typeface="Arial" pitchFamily="34" charset="-122"/>
                <a:cs typeface="Arial" pitchFamily="34" charset="-120"/>
              </a:rPr>
              <a:t>PARABOX AI</a:t>
            </a:r>
            <a:endParaRPr lang="en-US" sz="1200" dirty="0"/>
          </a:p>
        </p:txBody>
      </p:sp>
      <p:sp>
        <p:nvSpPr>
          <p:cNvPr id="5" name="Text 2"/>
          <p:cNvSpPr txBox="1"/>
          <p:nvPr/>
        </p:nvSpPr>
        <p:spPr>
          <a:xfrm>
            <a:off x="548640" y="1417320"/>
            <a:ext cx="10058400" cy="320040"/>
          </a:xfrm>
          <a:prstGeom prst="rect">
            <a:avLst/>
          </a:prstGeom>
          <a:noFill/>
          <a:ln/>
        </p:spPr>
        <p:txBody>
          <a:bodyPr wrap="square" lIns="0" tIns="0" rIns="0" bIns="0" rtlCol="0" anchor="ctr"/>
          <a:lstStyle/>
          <a:p>
            <a:pPr indent="0" marL="0">
              <a:buNone/>
            </a:pPr>
            <a:r>
              <a:rPr lang="en-US" sz="1200" b="1" spc="300" kern="0" dirty="0">
                <a:solidFill>
                  <a:srgbClr val="FF641E"/>
                </a:solidFill>
                <a:latin typeface="Arial" pitchFamily="34" charset="0"/>
                <a:ea typeface="Arial" pitchFamily="34" charset="-122"/>
                <a:cs typeface="Arial" pitchFamily="34" charset="-120"/>
              </a:rPr>
              <a:t>PRE-CONFERENCE WORKSHOP · AI IN CLINICAL PRACTICE AND RESEARCH</a:t>
            </a:r>
            <a:endParaRPr lang="en-US" sz="1200" dirty="0"/>
          </a:p>
        </p:txBody>
      </p:sp>
      <p:sp>
        <p:nvSpPr>
          <p:cNvPr id="6" name="Text 3"/>
          <p:cNvSpPr txBox="1"/>
          <p:nvPr/>
        </p:nvSpPr>
        <p:spPr>
          <a:xfrm>
            <a:off x="548640" y="1783080"/>
            <a:ext cx="10789920" cy="880110"/>
          </a:xfrm>
          <a:prstGeom prst="rect">
            <a:avLst/>
          </a:prstGeom>
          <a:noFill/>
          <a:ln/>
        </p:spPr>
        <p:txBody>
          <a:bodyPr wrap="square" lIns="0" tIns="0" rIns="0" bIns="0" rtlCol="0" anchor="t"/>
          <a:lstStyle/>
          <a:p>
            <a:pPr indent="0" marL="0">
              <a:buNone/>
            </a:pPr>
            <a:r>
              <a:rPr lang="en-US" sz="5400" b="1" dirty="0">
                <a:solidFill>
                  <a:srgbClr val="FBF4EC"/>
                </a:solidFill>
                <a:latin typeface="Arial" pitchFamily="34" charset="0"/>
                <a:ea typeface="Arial" pitchFamily="34" charset="-122"/>
                <a:cs typeface="Arial" pitchFamily="34" charset="-120"/>
              </a:rPr>
              <a:t>AI in </a:t>
            </a:r>
            <a:pPr indent="0" marL="0">
              <a:buNone/>
            </a:pPr>
            <a:r>
              <a:rPr lang="en-US" sz="5400" b="1" dirty="0">
                <a:solidFill>
                  <a:srgbClr val="FF641E"/>
                </a:solidFill>
                <a:latin typeface="Arial" pitchFamily="34" charset="0"/>
                <a:ea typeface="Arial" pitchFamily="34" charset="-122"/>
                <a:cs typeface="Arial" pitchFamily="34" charset="-120"/>
              </a:rPr>
              <a:t>Clinical Practice.</a:t>
            </a:r>
            <a:endParaRPr lang="en-US" sz="5400" dirty="0"/>
          </a:p>
        </p:txBody>
      </p:sp>
      <p:sp>
        <p:nvSpPr>
          <p:cNvPr id="7" name="Text 4"/>
          <p:cNvSpPr txBox="1"/>
          <p:nvPr/>
        </p:nvSpPr>
        <p:spPr>
          <a:xfrm>
            <a:off x="548640" y="2846070"/>
            <a:ext cx="8778240" cy="822960"/>
          </a:xfrm>
          <a:prstGeom prst="rect">
            <a:avLst/>
          </a:prstGeom>
          <a:noFill/>
          <a:ln/>
        </p:spPr>
        <p:txBody>
          <a:bodyPr wrap="square" lIns="0" tIns="0" rIns="0" bIns="0" rtlCol="0" anchor="t"/>
          <a:lstStyle/>
          <a:p>
            <a:pPr indent="0" marL="0">
              <a:buNone/>
            </a:pPr>
            <a:r>
              <a:rPr lang="en-US" sz="1800" i="1" dirty="0">
                <a:solidFill>
                  <a:srgbClr val="A89C91"/>
                </a:solidFill>
                <a:latin typeface="Cambria" pitchFamily="34" charset="0"/>
                <a:ea typeface="Cambria" pitchFamily="34" charset="-122"/>
                <a:cs typeface="Cambria" pitchFamily="34" charset="-120"/>
              </a:rPr>
              <a:t>Which tools are built for medicine, how to ground a chatbot in real evidence, and the bedside workflows worth adopting this week.</a:t>
            </a:r>
            <a:endParaRPr lang="en-US" sz="1800" dirty="0"/>
          </a:p>
        </p:txBody>
      </p:sp>
      <p:sp>
        <p:nvSpPr>
          <p:cNvPr id="8" name="Shape 5"/>
          <p:cNvSpPr/>
          <p:nvPr/>
        </p:nvSpPr>
        <p:spPr>
          <a:xfrm>
            <a:off x="548640" y="4709160"/>
            <a:ext cx="2057400" cy="329184"/>
          </a:xfrm>
          <a:prstGeom prst="roundRect">
            <a:avLst>
              <a:gd name="adj" fmla="val 50000"/>
            </a:avLst>
          </a:prstGeom>
          <a:solidFill>
            <a:srgbClr val="141010"/>
          </a:solidFill>
          <a:ln w="12700">
            <a:solidFill>
              <a:srgbClr val="2E2522"/>
            </a:solidFill>
            <a:prstDash val="solid"/>
          </a:ln>
        </p:spPr>
      </p:sp>
      <p:sp>
        <p:nvSpPr>
          <p:cNvPr id="9" name="Text 6"/>
          <p:cNvSpPr txBox="1"/>
          <p:nvPr/>
        </p:nvSpPr>
        <p:spPr>
          <a:xfrm>
            <a:off x="548640" y="4709160"/>
            <a:ext cx="2057400" cy="329184"/>
          </a:xfrm>
          <a:prstGeom prst="rect">
            <a:avLst/>
          </a:prstGeom>
          <a:noFill/>
          <a:ln/>
        </p:spPr>
        <p:txBody>
          <a:bodyPr wrap="square" lIns="0" tIns="0" rIns="0" bIns="0" rtlCol="0" anchor="ctr"/>
          <a:lstStyle/>
          <a:p>
            <a:pPr algn="ctr" indent="0" marL="0">
              <a:buNone/>
            </a:pPr>
            <a:r>
              <a:rPr lang="en-US" sz="900" b="1" spc="200" kern="0" dirty="0">
                <a:solidFill>
                  <a:srgbClr val="FBF4EC"/>
                </a:solidFill>
                <a:latin typeface="Arial" pitchFamily="34" charset="0"/>
                <a:ea typeface="Arial" pitchFamily="34" charset="-122"/>
                <a:cs typeface="Arial" pitchFamily="34" charset="-120"/>
              </a:rPr>
              <a:t>CLINICAL-GRADE TOOLS</a:t>
            </a:r>
            <a:endParaRPr lang="en-US" sz="900" dirty="0"/>
          </a:p>
        </p:txBody>
      </p:sp>
      <p:sp>
        <p:nvSpPr>
          <p:cNvPr id="10" name="Shape 7"/>
          <p:cNvSpPr/>
          <p:nvPr/>
        </p:nvSpPr>
        <p:spPr>
          <a:xfrm>
            <a:off x="2743200" y="4709160"/>
            <a:ext cx="1143000" cy="329184"/>
          </a:xfrm>
          <a:prstGeom prst="roundRect">
            <a:avLst>
              <a:gd name="adj" fmla="val 50000"/>
            </a:avLst>
          </a:prstGeom>
          <a:solidFill>
            <a:srgbClr val="141010"/>
          </a:solidFill>
          <a:ln w="12700">
            <a:solidFill>
              <a:srgbClr val="2E2522"/>
            </a:solidFill>
            <a:prstDash val="solid"/>
          </a:ln>
        </p:spPr>
      </p:sp>
      <p:sp>
        <p:nvSpPr>
          <p:cNvPr id="11" name="Text 8"/>
          <p:cNvSpPr txBox="1"/>
          <p:nvPr/>
        </p:nvSpPr>
        <p:spPr>
          <a:xfrm>
            <a:off x="2743200" y="4709160"/>
            <a:ext cx="1143000" cy="329184"/>
          </a:xfrm>
          <a:prstGeom prst="rect">
            <a:avLst/>
          </a:prstGeom>
          <a:noFill/>
          <a:ln/>
        </p:spPr>
        <p:txBody>
          <a:bodyPr wrap="square" lIns="0" tIns="0" rIns="0" bIns="0" rtlCol="0" anchor="ctr"/>
          <a:lstStyle/>
          <a:p>
            <a:pPr algn="ctr" indent="0" marL="0">
              <a:buNone/>
            </a:pPr>
            <a:r>
              <a:rPr lang="en-US" sz="900" b="1" spc="200" kern="0" dirty="0">
                <a:solidFill>
                  <a:srgbClr val="FBF4EC"/>
                </a:solidFill>
                <a:latin typeface="Arial" pitchFamily="34" charset="0"/>
                <a:ea typeface="Arial" pitchFamily="34" charset="-122"/>
                <a:cs typeface="Arial" pitchFamily="34" charset="-120"/>
              </a:rPr>
              <a:t>CONNECTORS</a:t>
            </a:r>
            <a:endParaRPr lang="en-US" sz="900" dirty="0"/>
          </a:p>
        </p:txBody>
      </p:sp>
      <p:sp>
        <p:nvSpPr>
          <p:cNvPr id="12" name="Shape 9"/>
          <p:cNvSpPr/>
          <p:nvPr/>
        </p:nvSpPr>
        <p:spPr>
          <a:xfrm>
            <a:off x="4023360" y="4709160"/>
            <a:ext cx="1783080" cy="329184"/>
          </a:xfrm>
          <a:prstGeom prst="roundRect">
            <a:avLst>
              <a:gd name="adj" fmla="val 50000"/>
            </a:avLst>
          </a:prstGeom>
          <a:solidFill>
            <a:srgbClr val="141010"/>
          </a:solidFill>
          <a:ln w="12700">
            <a:solidFill>
              <a:srgbClr val="2E2522"/>
            </a:solidFill>
            <a:prstDash val="solid"/>
          </a:ln>
        </p:spPr>
      </p:sp>
      <p:sp>
        <p:nvSpPr>
          <p:cNvPr id="13" name="Text 10"/>
          <p:cNvSpPr txBox="1"/>
          <p:nvPr/>
        </p:nvSpPr>
        <p:spPr>
          <a:xfrm>
            <a:off x="4023360" y="4709160"/>
            <a:ext cx="1783080" cy="329184"/>
          </a:xfrm>
          <a:prstGeom prst="rect">
            <a:avLst/>
          </a:prstGeom>
          <a:noFill/>
          <a:ln/>
        </p:spPr>
        <p:txBody>
          <a:bodyPr wrap="square" lIns="0" tIns="0" rIns="0" bIns="0" rtlCol="0" anchor="ctr"/>
          <a:lstStyle/>
          <a:p>
            <a:pPr algn="ctr" indent="0" marL="0">
              <a:buNone/>
            </a:pPr>
            <a:r>
              <a:rPr lang="en-US" sz="900" b="1" spc="200" kern="0" dirty="0">
                <a:solidFill>
                  <a:srgbClr val="FBF4EC"/>
                </a:solidFill>
                <a:latin typeface="Arial" pitchFamily="34" charset="0"/>
                <a:ea typeface="Arial" pitchFamily="34" charset="-122"/>
                <a:cs typeface="Arial" pitchFamily="34" charset="-120"/>
              </a:rPr>
              <a:t>BEDSIDE WORKFLOWS</a:t>
            </a:r>
            <a:endParaRPr lang="en-US" sz="900" dirty="0"/>
          </a:p>
        </p:txBody>
      </p:sp>
      <p:sp>
        <p:nvSpPr>
          <p:cNvPr id="14" name="Shape 11"/>
          <p:cNvSpPr/>
          <p:nvPr/>
        </p:nvSpPr>
        <p:spPr>
          <a:xfrm>
            <a:off x="5943600" y="4709160"/>
            <a:ext cx="1143000" cy="329184"/>
          </a:xfrm>
          <a:prstGeom prst="roundRect">
            <a:avLst>
              <a:gd name="adj" fmla="val 50000"/>
            </a:avLst>
          </a:prstGeom>
          <a:solidFill>
            <a:srgbClr val="141010"/>
          </a:solidFill>
          <a:ln w="12700">
            <a:solidFill>
              <a:srgbClr val="2E2522"/>
            </a:solidFill>
            <a:prstDash val="solid"/>
          </a:ln>
        </p:spPr>
      </p:sp>
      <p:sp>
        <p:nvSpPr>
          <p:cNvPr id="15" name="Text 12"/>
          <p:cNvSpPr txBox="1"/>
          <p:nvPr/>
        </p:nvSpPr>
        <p:spPr>
          <a:xfrm>
            <a:off x="5943600" y="4709160"/>
            <a:ext cx="1143000" cy="329184"/>
          </a:xfrm>
          <a:prstGeom prst="rect">
            <a:avLst/>
          </a:prstGeom>
          <a:noFill/>
          <a:ln/>
        </p:spPr>
        <p:txBody>
          <a:bodyPr wrap="square" lIns="0" tIns="0" rIns="0" bIns="0" rtlCol="0" anchor="ctr"/>
          <a:lstStyle/>
          <a:p>
            <a:pPr algn="ctr" indent="0" marL="0">
              <a:buNone/>
            </a:pPr>
            <a:r>
              <a:rPr lang="en-US" sz="900" b="1" spc="200" kern="0" dirty="0">
                <a:solidFill>
                  <a:srgbClr val="FBF4EC"/>
                </a:solidFill>
                <a:latin typeface="Arial" pitchFamily="34" charset="0"/>
                <a:ea typeface="Arial" pitchFamily="34" charset="-122"/>
                <a:cs typeface="Arial" pitchFamily="34" charset="-120"/>
              </a:rPr>
              <a:t>GUARDRAILS</a:t>
            </a:r>
            <a:endParaRPr lang="en-US" sz="900" dirty="0"/>
          </a:p>
        </p:txBody>
      </p:sp>
      <p:sp>
        <p:nvSpPr>
          <p:cNvPr id="16" name="Shape 13"/>
          <p:cNvSpPr/>
          <p:nvPr/>
        </p:nvSpPr>
        <p:spPr>
          <a:xfrm>
            <a:off x="0" y="5532120"/>
            <a:ext cx="12191695" cy="1325880"/>
          </a:xfrm>
          <a:prstGeom prst="rect">
            <a:avLst/>
          </a:prstGeom>
          <a:solidFill>
            <a:srgbClr val="FF641E"/>
          </a:solidFill>
          <a:ln w="12700">
            <a:solidFill>
              <a:srgbClr val="FF641E"/>
            </a:solidFill>
            <a:prstDash val="solid"/>
          </a:ln>
        </p:spPr>
      </p:sp>
      <p:sp>
        <p:nvSpPr>
          <p:cNvPr id="17" name="Text 14"/>
          <p:cNvSpPr txBox="1"/>
          <p:nvPr/>
        </p:nvSpPr>
        <p:spPr>
          <a:xfrm>
            <a:off x="548640" y="5715000"/>
            <a:ext cx="7772400" cy="411480"/>
          </a:xfrm>
          <a:prstGeom prst="rect">
            <a:avLst/>
          </a:prstGeom>
          <a:noFill/>
          <a:ln/>
        </p:spPr>
        <p:txBody>
          <a:bodyPr wrap="square" lIns="0" tIns="0" rIns="0" bIns="0" rtlCol="0" anchor="ctr"/>
          <a:lstStyle/>
          <a:p>
            <a:pPr indent="0" marL="0">
              <a:buNone/>
            </a:pPr>
            <a:r>
              <a:rPr lang="en-US" sz="2000" b="1" dirty="0">
                <a:solidFill>
                  <a:srgbClr val="0A0808"/>
                </a:solidFill>
                <a:latin typeface="Arial" pitchFamily="34" charset="0"/>
                <a:ea typeface="Arial" pitchFamily="34" charset="-122"/>
                <a:cs typeface="Arial" pitchFamily="34" charset="-120"/>
              </a:rPr>
              <a:t>Dr. Abhishek J. Benur  ·  Dr. Saikat Banerjee</a:t>
            </a:r>
            <a:endParaRPr lang="en-US" sz="2000" dirty="0"/>
          </a:p>
        </p:txBody>
      </p:sp>
      <p:sp>
        <p:nvSpPr>
          <p:cNvPr id="18" name="Text 15"/>
          <p:cNvSpPr txBox="1"/>
          <p:nvPr/>
        </p:nvSpPr>
        <p:spPr>
          <a:xfrm>
            <a:off x="548640" y="6144768"/>
            <a:ext cx="7772400" cy="457200"/>
          </a:xfrm>
          <a:prstGeom prst="rect">
            <a:avLst/>
          </a:prstGeom>
          <a:noFill/>
          <a:ln/>
        </p:spPr>
        <p:txBody>
          <a:bodyPr wrap="square" lIns="0" tIns="0" rIns="0" bIns="0" rtlCol="0" anchor="t"/>
          <a:lstStyle/>
          <a:p>
            <a:pPr indent="0" marL="0">
              <a:buNone/>
            </a:pPr>
            <a:r>
              <a:rPr lang="en-US" sz="1100" dirty="0">
                <a:solidFill>
                  <a:srgbClr val="2A1208"/>
                </a:solidFill>
                <a:latin typeface="Arial" pitchFamily="34" charset="0"/>
                <a:ea typeface="Arial" pitchFamily="34" charset="-122"/>
                <a:cs typeface="Arial" pitchFamily="34" charset="-120"/>
              </a:rPr>
              <a:t>Pulmonologist · Co-Founder, Parabox AI</a:t>
            </a:r>
            <a:endParaRPr lang="en-US" sz="1100" dirty="0"/>
          </a:p>
        </p:txBody>
      </p:sp>
      <p:sp>
        <p:nvSpPr>
          <p:cNvPr id="19" name="Text 16"/>
          <p:cNvSpPr txBox="1"/>
          <p:nvPr/>
        </p:nvSpPr>
        <p:spPr>
          <a:xfrm>
            <a:off x="7985455" y="5760720"/>
            <a:ext cx="3657600" cy="731520"/>
          </a:xfrm>
          <a:prstGeom prst="rect">
            <a:avLst/>
          </a:prstGeom>
          <a:noFill/>
          <a:ln/>
        </p:spPr>
        <p:txBody>
          <a:bodyPr wrap="square" lIns="0" tIns="0" rIns="0" bIns="0" rtlCol="0" anchor="ctr"/>
          <a:lstStyle/>
          <a:p>
            <a:pPr algn="r" indent="0" marL="0">
              <a:buNone/>
            </a:pPr>
            <a:r>
              <a:rPr lang="en-US" sz="1400" b="1" dirty="0">
                <a:solidFill>
                  <a:srgbClr val="0A0808"/>
                </a:solidFill>
                <a:latin typeface="Arial" pitchFamily="34" charset="0"/>
                <a:ea typeface="Arial" pitchFamily="34" charset="-122"/>
                <a:cs typeface="Arial" pitchFamily="34" charset="-120"/>
              </a:rPr>
              <a:t>@abhishekjbenur</a:t>
            </a:r>
            <a:endParaRPr lang="en-US" sz="1400" dirty="0"/>
          </a:p>
          <a:p>
            <a:pPr algn="r" indent="0" marL="0">
              <a:buNone/>
            </a:pPr>
            <a:r>
              <a:rPr lang="en-US" sz="1000" dirty="0">
                <a:solidFill>
                  <a:srgbClr val="0A0808"/>
                </a:solidFill>
                <a:latin typeface="Arial" pitchFamily="34" charset="0"/>
                <a:ea typeface="Arial" pitchFamily="34" charset="-122"/>
                <a:cs typeface="Arial" pitchFamily="34" charset="-120"/>
              </a:rPr>
              <a:t>PULMOCON 2026  ·  6:10 PM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02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THE NEXT 15 MINUTES</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Four questions every clinician is asking</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10" name="Shape 7"/>
          <p:cNvSpPr/>
          <p:nvPr/>
        </p:nvSpPr>
        <p:spPr>
          <a:xfrm>
            <a:off x="548640" y="2011680"/>
            <a:ext cx="2567864" cy="3017520"/>
          </a:xfrm>
          <a:prstGeom prst="roundRect">
            <a:avLst>
              <a:gd name="adj" fmla="val 2849"/>
            </a:avLst>
          </a:prstGeom>
          <a:solidFill>
            <a:srgbClr val="141010"/>
          </a:solidFill>
          <a:ln w="12700">
            <a:solidFill>
              <a:srgbClr val="2E2522"/>
            </a:solidFill>
            <a:prstDash val="solid"/>
          </a:ln>
        </p:spPr>
      </p:sp>
      <p:sp>
        <p:nvSpPr>
          <p:cNvPr id="11" name="Shape 8"/>
          <p:cNvSpPr/>
          <p:nvPr/>
        </p:nvSpPr>
        <p:spPr>
          <a:xfrm>
            <a:off x="777240" y="2212848"/>
            <a:ext cx="502920" cy="502920"/>
          </a:xfrm>
          <a:prstGeom prst="ellipse">
            <a:avLst/>
          </a:prstGeom>
          <a:solidFill>
            <a:srgbClr val="3A1E12"/>
          </a:solidFill>
          <a:ln w="12700">
            <a:solidFill>
              <a:srgbClr val="3A1E12"/>
            </a:solidFill>
            <a:prstDash val="solid"/>
          </a:ln>
        </p:spPr>
      </p:sp>
      <p:pic>
        <p:nvPicPr>
          <p:cNvPr id="12" name="Image 0" descr="preencoded.png">    </p:cNvPr>
          <p:cNvPicPr>
            <a:picLocks noChangeAspect="1"/>
          </p:cNvPicPr>
          <p:nvPr/>
        </p:nvPicPr>
        <p:blipFill>
          <a:blip r:embed="rId1"/>
          <a:stretch>
            <a:fillRect/>
          </a:stretch>
        </p:blipFill>
        <p:spPr>
          <a:xfrm>
            <a:off x="905256" y="2340864"/>
            <a:ext cx="246888" cy="246888"/>
          </a:xfrm>
          <a:prstGeom prst="rect">
            <a:avLst/>
          </a:prstGeom>
        </p:spPr>
      </p:pic>
      <p:sp>
        <p:nvSpPr>
          <p:cNvPr id="13" name="Text 9"/>
          <p:cNvSpPr txBox="1"/>
          <p:nvPr/>
        </p:nvSpPr>
        <p:spPr>
          <a:xfrm>
            <a:off x="777240" y="2871216"/>
            <a:ext cx="2110664"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01</a:t>
            </a:r>
            <a:endParaRPr lang="en-US" sz="900" dirty="0"/>
          </a:p>
        </p:txBody>
      </p:sp>
      <p:sp>
        <p:nvSpPr>
          <p:cNvPr id="14" name="Text 10"/>
          <p:cNvSpPr txBox="1"/>
          <p:nvPr/>
        </p:nvSpPr>
        <p:spPr>
          <a:xfrm>
            <a:off x="777240" y="3127248"/>
            <a:ext cx="2110664" cy="585470"/>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Which tools are made for medicine?</a:t>
            </a:r>
            <a:endParaRPr lang="en-US" sz="1700" dirty="0"/>
          </a:p>
        </p:txBody>
      </p:sp>
      <p:sp>
        <p:nvSpPr>
          <p:cNvPr id="15" name="Text 11"/>
          <p:cNvSpPr txBox="1"/>
          <p:nvPr/>
        </p:nvSpPr>
        <p:spPr>
          <a:xfrm>
            <a:off x="777240" y="3776726"/>
            <a:ext cx="2110664" cy="1115314"/>
          </a:xfrm>
          <a:prstGeom prst="rect">
            <a:avLst/>
          </a:prstGeom>
          <a:noFill/>
          <a:ln/>
        </p:spPr>
        <p:txBody>
          <a:bodyPr wrap="square" lIns="0" tIns="0" rIns="0" bIns="0" rtlCol="0" anchor="t"/>
          <a:lstStyle/>
          <a:p>
            <a:pPr indent="0" marL="0">
              <a:spcAft>
                <a:spcPts val="400"/>
              </a:spcAft>
              <a:buNone/>
            </a:pPr>
            <a:r>
              <a:rPr lang="en-US" sz="1500" dirty="0">
                <a:solidFill>
                  <a:srgbClr val="A89C91"/>
                </a:solidFill>
                <a:latin typeface="Arial" pitchFamily="34" charset="0"/>
                <a:ea typeface="Arial" pitchFamily="34" charset="-122"/>
                <a:cs typeface="Arial" pitchFamily="34" charset="-120"/>
              </a:rPr>
              <a:t>Clinical-grade answer engines versus general chatbots.</a:t>
            </a:r>
            <a:endParaRPr lang="en-US" sz="1500" dirty="0"/>
          </a:p>
        </p:txBody>
      </p:sp>
      <p:sp>
        <p:nvSpPr>
          <p:cNvPr id="16" name="Shape 12"/>
          <p:cNvSpPr/>
          <p:nvPr/>
        </p:nvSpPr>
        <p:spPr>
          <a:xfrm>
            <a:off x="3390824" y="2011680"/>
            <a:ext cx="2567864" cy="3017520"/>
          </a:xfrm>
          <a:prstGeom prst="roundRect">
            <a:avLst>
              <a:gd name="adj" fmla="val 2849"/>
            </a:avLst>
          </a:prstGeom>
          <a:solidFill>
            <a:srgbClr val="141010"/>
          </a:solidFill>
          <a:ln w="12700">
            <a:solidFill>
              <a:srgbClr val="2E2522"/>
            </a:solidFill>
            <a:prstDash val="solid"/>
          </a:ln>
        </p:spPr>
      </p:sp>
      <p:sp>
        <p:nvSpPr>
          <p:cNvPr id="17" name="Shape 13"/>
          <p:cNvSpPr/>
          <p:nvPr/>
        </p:nvSpPr>
        <p:spPr>
          <a:xfrm>
            <a:off x="3619424" y="2212848"/>
            <a:ext cx="502920" cy="502920"/>
          </a:xfrm>
          <a:prstGeom prst="ellipse">
            <a:avLst/>
          </a:prstGeom>
          <a:solidFill>
            <a:srgbClr val="3A1E12"/>
          </a:solidFill>
          <a:ln w="12700">
            <a:solidFill>
              <a:srgbClr val="3A1E12"/>
            </a:solidFill>
            <a:prstDash val="solid"/>
          </a:ln>
        </p:spPr>
      </p:sp>
      <p:pic>
        <p:nvPicPr>
          <p:cNvPr id="18" name="Image 1" descr="preencoded.png">    </p:cNvPr>
          <p:cNvPicPr>
            <a:picLocks noChangeAspect="1"/>
          </p:cNvPicPr>
          <p:nvPr/>
        </p:nvPicPr>
        <p:blipFill>
          <a:blip r:embed="rId2"/>
          <a:stretch>
            <a:fillRect/>
          </a:stretch>
        </p:blipFill>
        <p:spPr>
          <a:xfrm>
            <a:off x="3747440" y="2340864"/>
            <a:ext cx="246888" cy="246888"/>
          </a:xfrm>
          <a:prstGeom prst="rect">
            <a:avLst/>
          </a:prstGeom>
        </p:spPr>
      </p:pic>
      <p:sp>
        <p:nvSpPr>
          <p:cNvPr id="19" name="Text 14"/>
          <p:cNvSpPr txBox="1"/>
          <p:nvPr/>
        </p:nvSpPr>
        <p:spPr>
          <a:xfrm>
            <a:off x="3619424" y="2871216"/>
            <a:ext cx="2110664"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02</a:t>
            </a:r>
            <a:endParaRPr lang="en-US" sz="900" dirty="0"/>
          </a:p>
        </p:txBody>
      </p:sp>
      <p:sp>
        <p:nvSpPr>
          <p:cNvPr id="20" name="Text 15"/>
          <p:cNvSpPr txBox="1"/>
          <p:nvPr/>
        </p:nvSpPr>
        <p:spPr>
          <a:xfrm>
            <a:off x="3619424" y="3127248"/>
            <a:ext cx="2110664" cy="585470"/>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How do I stop it making things up?</a:t>
            </a:r>
            <a:endParaRPr lang="en-US" sz="1700" dirty="0"/>
          </a:p>
        </p:txBody>
      </p:sp>
      <p:sp>
        <p:nvSpPr>
          <p:cNvPr id="21" name="Text 16"/>
          <p:cNvSpPr txBox="1"/>
          <p:nvPr/>
        </p:nvSpPr>
        <p:spPr>
          <a:xfrm>
            <a:off x="3619424" y="3776726"/>
            <a:ext cx="2110664" cy="1115314"/>
          </a:xfrm>
          <a:prstGeom prst="rect">
            <a:avLst/>
          </a:prstGeom>
          <a:noFill/>
          <a:ln/>
        </p:spPr>
        <p:txBody>
          <a:bodyPr wrap="square" lIns="0" tIns="0" rIns="0" bIns="0" rtlCol="0" anchor="t"/>
          <a:lstStyle/>
          <a:p>
            <a:pPr indent="0" marL="0">
              <a:spcAft>
                <a:spcPts val="400"/>
              </a:spcAft>
              <a:buNone/>
            </a:pPr>
            <a:r>
              <a:rPr lang="en-US" sz="1500" dirty="0">
                <a:solidFill>
                  <a:srgbClr val="A89C91"/>
                </a:solidFill>
                <a:latin typeface="Arial" pitchFamily="34" charset="0"/>
                <a:ea typeface="Arial" pitchFamily="34" charset="-122"/>
                <a:cs typeface="Arial" pitchFamily="34" charset="-120"/>
              </a:rPr>
              <a:t>Connect ChatGPT and Claude to PubMed and Consensus.</a:t>
            </a:r>
            <a:endParaRPr lang="en-US" sz="1500" dirty="0"/>
          </a:p>
        </p:txBody>
      </p:sp>
      <p:sp>
        <p:nvSpPr>
          <p:cNvPr id="22" name="Shape 17"/>
          <p:cNvSpPr/>
          <p:nvPr/>
        </p:nvSpPr>
        <p:spPr>
          <a:xfrm>
            <a:off x="6233008" y="2011680"/>
            <a:ext cx="2567864" cy="3017520"/>
          </a:xfrm>
          <a:prstGeom prst="roundRect">
            <a:avLst>
              <a:gd name="adj" fmla="val 2849"/>
            </a:avLst>
          </a:prstGeom>
          <a:solidFill>
            <a:srgbClr val="141010"/>
          </a:solidFill>
          <a:ln w="12700">
            <a:solidFill>
              <a:srgbClr val="2E2522"/>
            </a:solidFill>
            <a:prstDash val="solid"/>
          </a:ln>
        </p:spPr>
      </p:sp>
      <p:sp>
        <p:nvSpPr>
          <p:cNvPr id="23" name="Shape 18"/>
          <p:cNvSpPr/>
          <p:nvPr/>
        </p:nvSpPr>
        <p:spPr>
          <a:xfrm>
            <a:off x="6461608" y="2212848"/>
            <a:ext cx="502920" cy="502920"/>
          </a:xfrm>
          <a:prstGeom prst="ellipse">
            <a:avLst/>
          </a:prstGeom>
          <a:solidFill>
            <a:srgbClr val="3A1E12"/>
          </a:solidFill>
          <a:ln w="12700">
            <a:solidFill>
              <a:srgbClr val="3A1E12"/>
            </a:solidFill>
            <a:prstDash val="solid"/>
          </a:ln>
        </p:spPr>
      </p:sp>
      <p:pic>
        <p:nvPicPr>
          <p:cNvPr id="24" name="Image 2" descr="preencoded.png">    </p:cNvPr>
          <p:cNvPicPr>
            <a:picLocks noChangeAspect="1"/>
          </p:cNvPicPr>
          <p:nvPr/>
        </p:nvPicPr>
        <p:blipFill>
          <a:blip r:embed="rId3"/>
          <a:stretch>
            <a:fillRect/>
          </a:stretch>
        </p:blipFill>
        <p:spPr>
          <a:xfrm>
            <a:off x="6589624" y="2340864"/>
            <a:ext cx="246888" cy="246888"/>
          </a:xfrm>
          <a:prstGeom prst="rect">
            <a:avLst/>
          </a:prstGeom>
        </p:spPr>
      </p:pic>
      <p:sp>
        <p:nvSpPr>
          <p:cNvPr id="25" name="Text 19"/>
          <p:cNvSpPr txBox="1"/>
          <p:nvPr/>
        </p:nvSpPr>
        <p:spPr>
          <a:xfrm>
            <a:off x="6461608" y="2871216"/>
            <a:ext cx="2110664"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03</a:t>
            </a:r>
            <a:endParaRPr lang="en-US" sz="900" dirty="0"/>
          </a:p>
        </p:txBody>
      </p:sp>
      <p:sp>
        <p:nvSpPr>
          <p:cNvPr id="26" name="Text 20"/>
          <p:cNvSpPr txBox="1"/>
          <p:nvPr/>
        </p:nvSpPr>
        <p:spPr>
          <a:xfrm>
            <a:off x="6461608" y="3127248"/>
            <a:ext cx="2110664" cy="585470"/>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Where does it help on the ward?</a:t>
            </a:r>
            <a:endParaRPr lang="en-US" sz="1700" dirty="0"/>
          </a:p>
        </p:txBody>
      </p:sp>
      <p:sp>
        <p:nvSpPr>
          <p:cNvPr id="27" name="Text 21"/>
          <p:cNvSpPr txBox="1"/>
          <p:nvPr/>
        </p:nvSpPr>
        <p:spPr>
          <a:xfrm>
            <a:off x="6461608" y="3776726"/>
            <a:ext cx="2110664" cy="1115314"/>
          </a:xfrm>
          <a:prstGeom prst="rect">
            <a:avLst/>
          </a:prstGeom>
          <a:noFill/>
          <a:ln/>
        </p:spPr>
        <p:txBody>
          <a:bodyPr wrap="square" lIns="0" tIns="0" rIns="0" bIns="0" rtlCol="0" anchor="t"/>
          <a:lstStyle/>
          <a:p>
            <a:pPr indent="0" marL="0">
              <a:spcAft>
                <a:spcPts val="400"/>
              </a:spcAft>
              <a:buNone/>
            </a:pPr>
            <a:r>
              <a:rPr lang="en-US" sz="1500" dirty="0">
                <a:solidFill>
                  <a:srgbClr val="A89C91"/>
                </a:solidFill>
                <a:latin typeface="Arial" pitchFamily="34" charset="0"/>
                <a:ea typeface="Arial" pitchFamily="34" charset="-122"/>
                <a:cs typeface="Arial" pitchFamily="34" charset="-120"/>
              </a:rPr>
              <a:t>Differentials, discharge summaries, letters, patient education.</a:t>
            </a:r>
            <a:endParaRPr lang="en-US" sz="1500" dirty="0"/>
          </a:p>
        </p:txBody>
      </p:sp>
      <p:sp>
        <p:nvSpPr>
          <p:cNvPr id="28" name="Shape 22"/>
          <p:cNvSpPr/>
          <p:nvPr/>
        </p:nvSpPr>
        <p:spPr>
          <a:xfrm>
            <a:off x="9075191" y="2011680"/>
            <a:ext cx="2567864" cy="3017520"/>
          </a:xfrm>
          <a:prstGeom prst="roundRect">
            <a:avLst>
              <a:gd name="adj" fmla="val 2849"/>
            </a:avLst>
          </a:prstGeom>
          <a:solidFill>
            <a:srgbClr val="141010"/>
          </a:solidFill>
          <a:ln w="12700">
            <a:solidFill>
              <a:srgbClr val="2E2522"/>
            </a:solidFill>
            <a:prstDash val="solid"/>
          </a:ln>
        </p:spPr>
      </p:sp>
      <p:sp>
        <p:nvSpPr>
          <p:cNvPr id="29" name="Shape 23"/>
          <p:cNvSpPr/>
          <p:nvPr/>
        </p:nvSpPr>
        <p:spPr>
          <a:xfrm>
            <a:off x="9303791" y="2212848"/>
            <a:ext cx="502920" cy="502920"/>
          </a:xfrm>
          <a:prstGeom prst="ellipse">
            <a:avLst/>
          </a:prstGeom>
          <a:solidFill>
            <a:srgbClr val="3A1E12"/>
          </a:solidFill>
          <a:ln w="12700">
            <a:solidFill>
              <a:srgbClr val="3A1E12"/>
            </a:solidFill>
            <a:prstDash val="solid"/>
          </a:ln>
        </p:spPr>
      </p:sp>
      <p:pic>
        <p:nvPicPr>
          <p:cNvPr id="30" name="Image 3" descr="preencoded.png">    </p:cNvPr>
          <p:cNvPicPr>
            <a:picLocks noChangeAspect="1"/>
          </p:cNvPicPr>
          <p:nvPr/>
        </p:nvPicPr>
        <p:blipFill>
          <a:blip r:embed="rId4"/>
          <a:stretch>
            <a:fillRect/>
          </a:stretch>
        </p:blipFill>
        <p:spPr>
          <a:xfrm>
            <a:off x="9431807" y="2340864"/>
            <a:ext cx="246888" cy="246888"/>
          </a:xfrm>
          <a:prstGeom prst="rect">
            <a:avLst/>
          </a:prstGeom>
        </p:spPr>
      </p:pic>
      <p:sp>
        <p:nvSpPr>
          <p:cNvPr id="31" name="Text 24"/>
          <p:cNvSpPr txBox="1"/>
          <p:nvPr/>
        </p:nvSpPr>
        <p:spPr>
          <a:xfrm>
            <a:off x="9303791" y="2871216"/>
            <a:ext cx="2110664"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04</a:t>
            </a:r>
            <a:endParaRPr lang="en-US" sz="900" dirty="0"/>
          </a:p>
        </p:txBody>
      </p:sp>
      <p:sp>
        <p:nvSpPr>
          <p:cNvPr id="32" name="Text 25"/>
          <p:cNvSpPr txBox="1"/>
          <p:nvPr/>
        </p:nvSpPr>
        <p:spPr>
          <a:xfrm>
            <a:off x="9303791" y="3127248"/>
            <a:ext cx="2110664" cy="585470"/>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What must I never do?</a:t>
            </a:r>
            <a:endParaRPr lang="en-US" sz="1700" dirty="0"/>
          </a:p>
        </p:txBody>
      </p:sp>
      <p:sp>
        <p:nvSpPr>
          <p:cNvPr id="33" name="Text 26"/>
          <p:cNvSpPr txBox="1"/>
          <p:nvPr/>
        </p:nvSpPr>
        <p:spPr>
          <a:xfrm>
            <a:off x="9303791" y="3776726"/>
            <a:ext cx="2110664" cy="1115314"/>
          </a:xfrm>
          <a:prstGeom prst="rect">
            <a:avLst/>
          </a:prstGeom>
          <a:noFill/>
          <a:ln/>
        </p:spPr>
        <p:txBody>
          <a:bodyPr wrap="square" lIns="0" tIns="0" rIns="0" bIns="0" rtlCol="0" anchor="t"/>
          <a:lstStyle/>
          <a:p>
            <a:pPr indent="0" marL="0">
              <a:spcAft>
                <a:spcPts val="400"/>
              </a:spcAft>
              <a:buNone/>
            </a:pPr>
            <a:r>
              <a:rPr lang="en-US" sz="1500" dirty="0">
                <a:solidFill>
                  <a:srgbClr val="A89C91"/>
                </a:solidFill>
                <a:latin typeface="Arial" pitchFamily="34" charset="0"/>
                <a:ea typeface="Arial" pitchFamily="34" charset="-122"/>
                <a:cs typeface="Arial" pitchFamily="34" charset="-120"/>
              </a:rPr>
              <a:t>Privacy, verification and accountability, in one checklist.</a:t>
            </a:r>
            <a:endParaRPr lang="en-US" sz="1500" dirty="0"/>
          </a:p>
        </p:txBody>
      </p:sp>
      <p:sp>
        <p:nvSpPr>
          <p:cNvPr id="34" name="Shape 27"/>
          <p:cNvSpPr/>
          <p:nvPr/>
        </p:nvSpPr>
        <p:spPr>
          <a:xfrm>
            <a:off x="548640" y="5669280"/>
            <a:ext cx="11094415" cy="530352"/>
          </a:xfrm>
          <a:prstGeom prst="roundRect">
            <a:avLst>
              <a:gd name="adj" fmla="val 13793"/>
            </a:avLst>
          </a:prstGeom>
          <a:solidFill>
            <a:srgbClr val="3A1E12"/>
          </a:solidFill>
          <a:ln w="12700">
            <a:solidFill>
              <a:srgbClr val="3A1E12"/>
            </a:solidFill>
            <a:prstDash val="solid"/>
          </a:ln>
        </p:spPr>
      </p:sp>
      <p:sp>
        <p:nvSpPr>
          <p:cNvPr id="35" name="Text 28"/>
          <p:cNvSpPr txBox="1"/>
          <p:nvPr/>
        </p:nvSpPr>
        <p:spPr>
          <a:xfrm>
            <a:off x="777240" y="5669280"/>
            <a:ext cx="10637215" cy="530352"/>
          </a:xfrm>
          <a:prstGeom prst="rect">
            <a:avLst/>
          </a:prstGeom>
          <a:noFill/>
          <a:ln/>
        </p:spPr>
        <p:txBody>
          <a:bodyPr wrap="square" lIns="0" tIns="0" rIns="0" bIns="0" rtlCol="0" anchor="ctr"/>
          <a:lstStyle/>
          <a:p>
            <a:pPr indent="0" marL="0">
              <a:buNone/>
            </a:pPr>
            <a:r>
              <a:rPr lang="en-US" sz="1300" dirty="0">
                <a:solidFill>
                  <a:srgbClr val="FBF4EC"/>
                </a:solidFill>
                <a:latin typeface="Arial" pitchFamily="34" charset="0"/>
                <a:ea typeface="Arial" pitchFamily="34" charset="-122"/>
                <a:cs typeface="Arial" pitchFamily="34" charset="-120"/>
              </a:rPr>
              <a:t>The promise: </a:t>
            </a:r>
            <a:pPr indent="0" marL="0">
              <a:buNone/>
            </a:pPr>
            <a:r>
              <a:rPr lang="en-US" sz="1300" dirty="0">
                <a:solidFill>
                  <a:srgbClr val="FF641E"/>
                </a:solidFill>
                <a:latin typeface="Arial" pitchFamily="34" charset="0"/>
                <a:ea typeface="Arial" pitchFamily="34" charset="-122"/>
                <a:cs typeface="Arial" pitchFamily="34" charset="-120"/>
              </a:rPr>
              <a:t>every tool in this talk works on your phone tonight,</a:t>
            </a:r>
            <a:pPr indent="0" marL="0">
              <a:buNone/>
            </a:pPr>
            <a:r>
              <a:rPr lang="en-US" sz="1300" dirty="0">
                <a:solidFill>
                  <a:srgbClr val="FBF4EC"/>
                </a:solidFill>
                <a:latin typeface="Arial" pitchFamily="34" charset="0"/>
                <a:ea typeface="Arial" pitchFamily="34" charset="-122"/>
                <a:cs typeface="Arial" pitchFamily="34" charset="-120"/>
              </a:rPr>
              <a:t> and each one comes with a guardrail.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03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THE LANDSCAPE</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Two families of </a:t>
            </a:r>
            <a:pPr indent="0" marL="0">
              <a:buNone/>
            </a:pPr>
            <a:r>
              <a:rPr lang="en-US" sz="3000" b="1" dirty="0">
                <a:solidFill>
                  <a:srgbClr val="FF641E"/>
                </a:solidFill>
                <a:latin typeface="Arial" pitchFamily="34" charset="0"/>
                <a:ea typeface="Arial" pitchFamily="34" charset="-122"/>
                <a:cs typeface="Arial" pitchFamily="34" charset="-120"/>
              </a:rPr>
              <a:t>clinical AI</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10" name="Shape 7"/>
          <p:cNvSpPr/>
          <p:nvPr/>
        </p:nvSpPr>
        <p:spPr>
          <a:xfrm>
            <a:off x="548640" y="2011680"/>
            <a:ext cx="5410048" cy="3520440"/>
          </a:xfrm>
          <a:prstGeom prst="roundRect">
            <a:avLst>
              <a:gd name="adj" fmla="val 2078"/>
            </a:avLst>
          </a:prstGeom>
          <a:solidFill>
            <a:srgbClr val="141010"/>
          </a:solidFill>
          <a:ln w="12700">
            <a:solidFill>
              <a:srgbClr val="2E2522"/>
            </a:solidFill>
            <a:prstDash val="solid"/>
          </a:ln>
        </p:spPr>
      </p:sp>
      <p:sp>
        <p:nvSpPr>
          <p:cNvPr id="11" name="Shape 8"/>
          <p:cNvSpPr/>
          <p:nvPr/>
        </p:nvSpPr>
        <p:spPr>
          <a:xfrm>
            <a:off x="777240" y="2212848"/>
            <a:ext cx="502920" cy="502920"/>
          </a:xfrm>
          <a:prstGeom prst="ellipse">
            <a:avLst/>
          </a:prstGeom>
          <a:solidFill>
            <a:srgbClr val="3A1E12"/>
          </a:solidFill>
          <a:ln w="12700">
            <a:solidFill>
              <a:srgbClr val="3A1E12"/>
            </a:solidFill>
            <a:prstDash val="solid"/>
          </a:ln>
        </p:spPr>
      </p:sp>
      <p:pic>
        <p:nvPicPr>
          <p:cNvPr id="12" name="Image 0" descr="preencoded.png">    </p:cNvPr>
          <p:cNvPicPr>
            <a:picLocks noChangeAspect="1"/>
          </p:cNvPicPr>
          <p:nvPr/>
        </p:nvPicPr>
        <p:blipFill>
          <a:blip r:embed="rId1"/>
          <a:stretch>
            <a:fillRect/>
          </a:stretch>
        </p:blipFill>
        <p:spPr>
          <a:xfrm>
            <a:off x="905256" y="2340864"/>
            <a:ext cx="246888" cy="246888"/>
          </a:xfrm>
          <a:prstGeom prst="rect">
            <a:avLst/>
          </a:prstGeom>
        </p:spPr>
      </p:pic>
      <p:sp>
        <p:nvSpPr>
          <p:cNvPr id="13" name="Text 9"/>
          <p:cNvSpPr txBox="1"/>
          <p:nvPr/>
        </p:nvSpPr>
        <p:spPr>
          <a:xfrm>
            <a:off x="777240" y="2871216"/>
            <a:ext cx="4952848"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GENERAL-PURPOSE ASSISTANTS</a:t>
            </a:r>
            <a:endParaRPr lang="en-US" sz="900" dirty="0"/>
          </a:p>
        </p:txBody>
      </p:sp>
      <p:sp>
        <p:nvSpPr>
          <p:cNvPr id="14" name="Text 10"/>
          <p:cNvSpPr txBox="1"/>
          <p:nvPr/>
        </p:nvSpPr>
        <p:spPr>
          <a:xfrm>
            <a:off x="777240" y="3127248"/>
            <a:ext cx="495284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ChatGPT · Claude · Gemini</a:t>
            </a:r>
            <a:endParaRPr lang="en-US" sz="1700" dirty="0"/>
          </a:p>
        </p:txBody>
      </p:sp>
      <p:sp>
        <p:nvSpPr>
          <p:cNvPr id="15" name="Text 11"/>
          <p:cNvSpPr txBox="1"/>
          <p:nvPr/>
        </p:nvSpPr>
        <p:spPr>
          <a:xfrm>
            <a:off x="777240" y="3506851"/>
            <a:ext cx="4952848" cy="1888109"/>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Brilliant at drafting, explaining, summarising and reasoning</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Trained on the open internet: answers sound right even when they're not</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Become evidence tools only when you connect them to sources</a:t>
            </a:r>
            <a:endParaRPr lang="en-US" sz="1400" dirty="0"/>
          </a:p>
        </p:txBody>
      </p:sp>
      <p:sp>
        <p:nvSpPr>
          <p:cNvPr id="16" name="Shape 12"/>
          <p:cNvSpPr/>
          <p:nvPr/>
        </p:nvSpPr>
        <p:spPr>
          <a:xfrm>
            <a:off x="6233008" y="2011680"/>
            <a:ext cx="5410048" cy="3520440"/>
          </a:xfrm>
          <a:prstGeom prst="roundRect">
            <a:avLst>
              <a:gd name="adj" fmla="val 2078"/>
            </a:avLst>
          </a:prstGeom>
          <a:solidFill>
            <a:srgbClr val="3A1E12"/>
          </a:solidFill>
          <a:ln w="12700">
            <a:solidFill>
              <a:srgbClr val="FF641E"/>
            </a:solidFill>
            <a:prstDash val="solid"/>
          </a:ln>
        </p:spPr>
      </p:sp>
      <p:sp>
        <p:nvSpPr>
          <p:cNvPr id="17" name="Shape 13"/>
          <p:cNvSpPr/>
          <p:nvPr/>
        </p:nvSpPr>
        <p:spPr>
          <a:xfrm>
            <a:off x="6461608" y="2212848"/>
            <a:ext cx="502920" cy="502920"/>
          </a:xfrm>
          <a:prstGeom prst="ellipse">
            <a:avLst/>
          </a:prstGeom>
          <a:solidFill>
            <a:srgbClr val="3A1E12"/>
          </a:solidFill>
          <a:ln w="12700">
            <a:solidFill>
              <a:srgbClr val="3A1E12"/>
            </a:solidFill>
            <a:prstDash val="solid"/>
          </a:ln>
        </p:spPr>
      </p:sp>
      <p:pic>
        <p:nvPicPr>
          <p:cNvPr id="18" name="Image 1" descr="preencoded.png">    </p:cNvPr>
          <p:cNvPicPr>
            <a:picLocks noChangeAspect="1"/>
          </p:cNvPicPr>
          <p:nvPr/>
        </p:nvPicPr>
        <p:blipFill>
          <a:blip r:embed="rId2"/>
          <a:stretch>
            <a:fillRect/>
          </a:stretch>
        </p:blipFill>
        <p:spPr>
          <a:xfrm>
            <a:off x="6589624" y="2340864"/>
            <a:ext cx="246888" cy="246888"/>
          </a:xfrm>
          <a:prstGeom prst="rect">
            <a:avLst/>
          </a:prstGeom>
        </p:spPr>
      </p:pic>
      <p:sp>
        <p:nvSpPr>
          <p:cNvPr id="19" name="Text 14"/>
          <p:cNvSpPr txBox="1"/>
          <p:nvPr/>
        </p:nvSpPr>
        <p:spPr>
          <a:xfrm>
            <a:off x="6461608" y="2871216"/>
            <a:ext cx="4952848"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CLINICAL-GRADE ANSWER ENGINES</a:t>
            </a:r>
            <a:endParaRPr lang="en-US" sz="900" dirty="0"/>
          </a:p>
        </p:txBody>
      </p:sp>
      <p:sp>
        <p:nvSpPr>
          <p:cNvPr id="20" name="Text 15"/>
          <p:cNvSpPr txBox="1"/>
          <p:nvPr/>
        </p:nvSpPr>
        <p:spPr>
          <a:xfrm>
            <a:off x="6461608" y="3127248"/>
            <a:ext cx="4952848" cy="585470"/>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OpenEvidence · UpToDate Expert AI · Vera · Glass</a:t>
            </a:r>
            <a:endParaRPr lang="en-US" sz="1700" dirty="0"/>
          </a:p>
        </p:txBody>
      </p:sp>
      <p:sp>
        <p:nvSpPr>
          <p:cNvPr id="21" name="Text 16"/>
          <p:cNvSpPr txBox="1"/>
          <p:nvPr/>
        </p:nvSpPr>
        <p:spPr>
          <a:xfrm>
            <a:off x="6461608" y="3776726"/>
            <a:ext cx="4952848" cy="1618234"/>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Built for clinicians, searching curated literature and guidelines</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Every answer cited, so you can open the source</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Verified-clinician access; some are free, some are institutional</a:t>
            </a:r>
            <a:endParaRPr lang="en-US" sz="1400" dirty="0"/>
          </a:p>
        </p:txBody>
      </p:sp>
      <p:sp>
        <p:nvSpPr>
          <p:cNvPr id="22" name="Shape 17"/>
          <p:cNvSpPr/>
          <p:nvPr/>
        </p:nvSpPr>
        <p:spPr>
          <a:xfrm>
            <a:off x="548640" y="5669280"/>
            <a:ext cx="11094415" cy="530352"/>
          </a:xfrm>
          <a:prstGeom prst="roundRect">
            <a:avLst>
              <a:gd name="adj" fmla="val 13793"/>
            </a:avLst>
          </a:prstGeom>
          <a:solidFill>
            <a:srgbClr val="3A1E12"/>
          </a:solidFill>
          <a:ln w="12700">
            <a:solidFill>
              <a:srgbClr val="3A1E12"/>
            </a:solidFill>
            <a:prstDash val="solid"/>
          </a:ln>
        </p:spPr>
      </p:sp>
      <p:sp>
        <p:nvSpPr>
          <p:cNvPr id="23" name="Text 18"/>
          <p:cNvSpPr txBox="1"/>
          <p:nvPr/>
        </p:nvSpPr>
        <p:spPr>
          <a:xfrm>
            <a:off x="777240" y="5669280"/>
            <a:ext cx="10637215" cy="530352"/>
          </a:xfrm>
          <a:prstGeom prst="rect">
            <a:avLst/>
          </a:prstGeom>
          <a:noFill/>
          <a:ln/>
        </p:spPr>
        <p:txBody>
          <a:bodyPr wrap="square" lIns="0" tIns="0" rIns="0" bIns="0" rtlCol="0" anchor="ctr"/>
          <a:lstStyle/>
          <a:p>
            <a:pPr indent="0" marL="0">
              <a:buNone/>
            </a:pPr>
            <a:r>
              <a:rPr lang="en-US" sz="1300" dirty="0">
                <a:solidFill>
                  <a:srgbClr val="FBF4EC"/>
                </a:solidFill>
                <a:latin typeface="Arial" pitchFamily="34" charset="0"/>
                <a:ea typeface="Arial" pitchFamily="34" charset="-122"/>
                <a:cs typeface="Arial" pitchFamily="34" charset="-120"/>
              </a:rPr>
              <a:t>Rule of thumb: </a:t>
            </a:r>
            <a:pPr indent="0" marL="0">
              <a:buNone/>
            </a:pPr>
            <a:r>
              <a:rPr lang="en-US" sz="1300" dirty="0">
                <a:solidFill>
                  <a:srgbClr val="FF641E"/>
                </a:solidFill>
                <a:latin typeface="Arial" pitchFamily="34" charset="0"/>
                <a:ea typeface="Arial" pitchFamily="34" charset="-122"/>
                <a:cs typeface="Arial" pitchFamily="34" charset="-120"/>
              </a:rPr>
              <a:t>a clinical question goes to a clinical-grade tool first;</a:t>
            </a:r>
            <a:pPr indent="0" marL="0">
              <a:buNone/>
            </a:pPr>
            <a:r>
              <a:rPr lang="en-US" sz="1300" dirty="0">
                <a:solidFill>
                  <a:srgbClr val="FBF4EC"/>
                </a:solidFill>
                <a:latin typeface="Arial" pitchFamily="34" charset="0"/>
                <a:ea typeface="Arial" pitchFamily="34" charset="-122"/>
                <a:cs typeface="Arial" pitchFamily="34" charset="-120"/>
              </a:rPr>
              <a:t> a writing or thinking task goes to an assistant.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04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CLINICAL-GRADE TOOLS</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The line-up at the </a:t>
            </a:r>
            <a:pPr indent="0" marL="0">
              <a:buNone/>
            </a:pPr>
            <a:r>
              <a:rPr lang="en-US" sz="3000" b="1" dirty="0">
                <a:solidFill>
                  <a:srgbClr val="FF641E"/>
                </a:solidFill>
                <a:latin typeface="Arial" pitchFamily="34" charset="0"/>
                <a:ea typeface="Arial" pitchFamily="34" charset="-122"/>
                <a:cs typeface="Arial" pitchFamily="34" charset="-120"/>
              </a:rPr>
              <a:t>point of care</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10" name="Shape 7"/>
          <p:cNvSpPr/>
          <p:nvPr/>
        </p:nvSpPr>
        <p:spPr>
          <a:xfrm>
            <a:off x="548640" y="2011680"/>
            <a:ext cx="2567864" cy="3520440"/>
          </a:xfrm>
          <a:prstGeom prst="roundRect">
            <a:avLst>
              <a:gd name="adj" fmla="val 2849"/>
            </a:avLst>
          </a:prstGeom>
          <a:solidFill>
            <a:srgbClr val="141010"/>
          </a:solidFill>
          <a:ln w="12700">
            <a:solidFill>
              <a:srgbClr val="2E2522"/>
            </a:solidFill>
            <a:prstDash val="solid"/>
          </a:ln>
        </p:spPr>
      </p:sp>
      <p:sp>
        <p:nvSpPr>
          <p:cNvPr id="11" name="Shape 8"/>
          <p:cNvSpPr/>
          <p:nvPr/>
        </p:nvSpPr>
        <p:spPr>
          <a:xfrm>
            <a:off x="777240" y="2212848"/>
            <a:ext cx="502920" cy="502920"/>
          </a:xfrm>
          <a:prstGeom prst="ellipse">
            <a:avLst/>
          </a:prstGeom>
          <a:solidFill>
            <a:srgbClr val="3A1E12"/>
          </a:solidFill>
          <a:ln w="12700">
            <a:solidFill>
              <a:srgbClr val="3A1E12"/>
            </a:solidFill>
            <a:prstDash val="solid"/>
          </a:ln>
        </p:spPr>
      </p:sp>
      <p:pic>
        <p:nvPicPr>
          <p:cNvPr id="12" name="Image 0" descr="preencoded.png">    </p:cNvPr>
          <p:cNvPicPr>
            <a:picLocks noChangeAspect="1"/>
          </p:cNvPicPr>
          <p:nvPr/>
        </p:nvPicPr>
        <p:blipFill>
          <a:blip r:embed="rId1"/>
          <a:stretch>
            <a:fillRect/>
          </a:stretch>
        </p:blipFill>
        <p:spPr>
          <a:xfrm>
            <a:off x="905256" y="2340864"/>
            <a:ext cx="246888" cy="246888"/>
          </a:xfrm>
          <a:prstGeom prst="rect">
            <a:avLst/>
          </a:prstGeom>
        </p:spPr>
      </p:pic>
      <p:sp>
        <p:nvSpPr>
          <p:cNvPr id="13" name="Text 9"/>
          <p:cNvSpPr txBox="1"/>
          <p:nvPr/>
        </p:nvSpPr>
        <p:spPr>
          <a:xfrm>
            <a:off x="777240" y="2871216"/>
            <a:ext cx="2110664"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OPENEVIDENCE</a:t>
            </a:r>
            <a:endParaRPr lang="en-US" sz="900" dirty="0"/>
          </a:p>
        </p:txBody>
      </p:sp>
      <p:sp>
        <p:nvSpPr>
          <p:cNvPr id="14" name="Text 10"/>
          <p:cNvSpPr txBox="1"/>
          <p:nvPr/>
        </p:nvSpPr>
        <p:spPr>
          <a:xfrm>
            <a:off x="777240" y="3127248"/>
            <a:ext cx="2110664" cy="521970"/>
          </a:xfrm>
          <a:prstGeom prst="rect">
            <a:avLst/>
          </a:prstGeom>
          <a:noFill/>
          <a:ln/>
        </p:spPr>
        <p:txBody>
          <a:bodyPr wrap="square" lIns="0" tIns="0" rIns="0" bIns="0" rtlCol="0" anchor="t"/>
          <a:lstStyle/>
          <a:p>
            <a:pPr indent="0" marL="0">
              <a:buNone/>
            </a:pPr>
            <a:r>
              <a:rPr lang="en-US" sz="1500" b="1" dirty="0">
                <a:solidFill>
                  <a:srgbClr val="FBF4EC"/>
                </a:solidFill>
                <a:latin typeface="Arial" pitchFamily="34" charset="0"/>
                <a:ea typeface="Arial" pitchFamily="34" charset="-122"/>
                <a:cs typeface="Arial" pitchFamily="34" charset="-120"/>
              </a:rPr>
              <a:t>Cited clinical answers</a:t>
            </a:r>
            <a:endParaRPr lang="en-US" sz="1500" dirty="0"/>
          </a:p>
        </p:txBody>
      </p:sp>
      <p:sp>
        <p:nvSpPr>
          <p:cNvPr id="15" name="Text 11"/>
          <p:cNvSpPr txBox="1"/>
          <p:nvPr/>
        </p:nvSpPr>
        <p:spPr>
          <a:xfrm>
            <a:off x="777240" y="3713226"/>
            <a:ext cx="2110664" cy="1681734"/>
          </a:xfrm>
          <a:prstGeom prst="rect">
            <a:avLst/>
          </a:prstGeom>
          <a:noFill/>
          <a:ln/>
        </p:spPr>
        <p:txBody>
          <a:bodyPr wrap="square" lIns="0" tIns="0" rIns="0" bIns="0" rtlCol="0" anchor="t"/>
          <a:lstStyle/>
          <a:p>
            <a:pPr indent="0" marL="0">
              <a:spcAft>
                <a:spcPts val="400"/>
              </a:spcAft>
              <a:buNone/>
            </a:pPr>
            <a:r>
              <a:rPr lang="en-US" sz="1350" dirty="0">
                <a:solidFill>
                  <a:srgbClr val="A89C91"/>
                </a:solidFill>
                <a:latin typeface="Arial" pitchFamily="34" charset="0"/>
                <a:ea typeface="Arial" pitchFamily="34" charset="-122"/>
                <a:cs typeface="Arial" pitchFamily="34" charset="-120"/>
              </a:rPr>
              <a:t>Searches peer-reviewed journals and guidelines; free for verified clinicians. A free version is rolling out to ~100 low- and middle-income countries (2026).</a:t>
            </a:r>
            <a:endParaRPr lang="en-US" sz="1350" dirty="0"/>
          </a:p>
        </p:txBody>
      </p:sp>
      <p:sp>
        <p:nvSpPr>
          <p:cNvPr id="16" name="Shape 12"/>
          <p:cNvSpPr/>
          <p:nvPr/>
        </p:nvSpPr>
        <p:spPr>
          <a:xfrm>
            <a:off x="3390824" y="2011680"/>
            <a:ext cx="2567864" cy="3520440"/>
          </a:xfrm>
          <a:prstGeom prst="roundRect">
            <a:avLst>
              <a:gd name="adj" fmla="val 2849"/>
            </a:avLst>
          </a:prstGeom>
          <a:solidFill>
            <a:srgbClr val="141010"/>
          </a:solidFill>
          <a:ln w="12700">
            <a:solidFill>
              <a:srgbClr val="2E2522"/>
            </a:solidFill>
            <a:prstDash val="solid"/>
          </a:ln>
        </p:spPr>
      </p:sp>
      <p:sp>
        <p:nvSpPr>
          <p:cNvPr id="17" name="Shape 13"/>
          <p:cNvSpPr/>
          <p:nvPr/>
        </p:nvSpPr>
        <p:spPr>
          <a:xfrm>
            <a:off x="3619424" y="2212848"/>
            <a:ext cx="502920" cy="502920"/>
          </a:xfrm>
          <a:prstGeom prst="ellipse">
            <a:avLst/>
          </a:prstGeom>
          <a:solidFill>
            <a:srgbClr val="3A1E12"/>
          </a:solidFill>
          <a:ln w="12700">
            <a:solidFill>
              <a:srgbClr val="3A1E12"/>
            </a:solidFill>
            <a:prstDash val="solid"/>
          </a:ln>
        </p:spPr>
      </p:sp>
      <p:pic>
        <p:nvPicPr>
          <p:cNvPr id="18" name="Image 1" descr="preencoded.png">    </p:cNvPr>
          <p:cNvPicPr>
            <a:picLocks noChangeAspect="1"/>
          </p:cNvPicPr>
          <p:nvPr/>
        </p:nvPicPr>
        <p:blipFill>
          <a:blip r:embed="rId2"/>
          <a:stretch>
            <a:fillRect/>
          </a:stretch>
        </p:blipFill>
        <p:spPr>
          <a:xfrm>
            <a:off x="3747440" y="2340864"/>
            <a:ext cx="246888" cy="246888"/>
          </a:xfrm>
          <a:prstGeom prst="rect">
            <a:avLst/>
          </a:prstGeom>
        </p:spPr>
      </p:pic>
      <p:sp>
        <p:nvSpPr>
          <p:cNvPr id="19" name="Text 14"/>
          <p:cNvSpPr txBox="1"/>
          <p:nvPr/>
        </p:nvSpPr>
        <p:spPr>
          <a:xfrm>
            <a:off x="3619424" y="2871216"/>
            <a:ext cx="2110664"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UPTODATE EXPERT AI</a:t>
            </a:r>
            <a:endParaRPr lang="en-US" sz="900" dirty="0"/>
          </a:p>
        </p:txBody>
      </p:sp>
      <p:sp>
        <p:nvSpPr>
          <p:cNvPr id="20" name="Text 15"/>
          <p:cNvSpPr txBox="1"/>
          <p:nvPr/>
        </p:nvSpPr>
        <p:spPr>
          <a:xfrm>
            <a:off x="3619424" y="3127248"/>
            <a:ext cx="2110664" cy="521970"/>
          </a:xfrm>
          <a:prstGeom prst="rect">
            <a:avLst/>
          </a:prstGeom>
          <a:noFill/>
          <a:ln/>
        </p:spPr>
        <p:txBody>
          <a:bodyPr wrap="square" lIns="0" tIns="0" rIns="0" bIns="0" rtlCol="0" anchor="t"/>
          <a:lstStyle/>
          <a:p>
            <a:pPr indent="0" marL="0">
              <a:buNone/>
            </a:pPr>
            <a:r>
              <a:rPr lang="en-US" sz="1500" b="1" dirty="0">
                <a:solidFill>
                  <a:srgbClr val="FBF4EC"/>
                </a:solidFill>
                <a:latin typeface="Arial" pitchFamily="34" charset="0"/>
                <a:ea typeface="Arial" pitchFamily="34" charset="-122"/>
                <a:cs typeface="Arial" pitchFamily="34" charset="-120"/>
              </a:rPr>
              <a:t>Answers from UpToDate</a:t>
            </a:r>
            <a:endParaRPr lang="en-US" sz="1500" dirty="0"/>
          </a:p>
        </p:txBody>
      </p:sp>
      <p:sp>
        <p:nvSpPr>
          <p:cNvPr id="21" name="Text 16"/>
          <p:cNvSpPr txBox="1"/>
          <p:nvPr/>
        </p:nvSpPr>
        <p:spPr>
          <a:xfrm>
            <a:off x="3619424" y="3713226"/>
            <a:ext cx="2110664" cy="1681734"/>
          </a:xfrm>
          <a:prstGeom prst="rect">
            <a:avLst/>
          </a:prstGeom>
          <a:noFill/>
          <a:ln/>
        </p:spPr>
        <p:txBody>
          <a:bodyPr wrap="square" lIns="0" tIns="0" rIns="0" bIns="0" rtlCol="0" anchor="t"/>
          <a:lstStyle/>
          <a:p>
            <a:pPr indent="0" marL="0">
              <a:spcAft>
                <a:spcPts val="400"/>
              </a:spcAft>
              <a:buNone/>
            </a:pPr>
            <a:r>
              <a:rPr lang="en-US" sz="1350" dirty="0">
                <a:solidFill>
                  <a:srgbClr val="A89C91"/>
                </a:solidFill>
                <a:latin typeface="Arial" pitchFamily="34" charset="0"/>
                <a:ea typeface="Arial" pitchFamily="34" charset="-122"/>
                <a:cs typeface="Arial" pitchFamily="34" charset="-120"/>
              </a:rPr>
              <a:t>GenAI answers drawn only from UpToDate's expert-authored content, with Lexidrug drug information. Institutional licence; Pro Plus for individuals.</a:t>
            </a:r>
            <a:endParaRPr lang="en-US" sz="1350" dirty="0"/>
          </a:p>
        </p:txBody>
      </p:sp>
      <p:sp>
        <p:nvSpPr>
          <p:cNvPr id="22" name="Shape 17"/>
          <p:cNvSpPr/>
          <p:nvPr/>
        </p:nvSpPr>
        <p:spPr>
          <a:xfrm>
            <a:off x="6233008" y="2011680"/>
            <a:ext cx="2567864" cy="3520440"/>
          </a:xfrm>
          <a:prstGeom prst="roundRect">
            <a:avLst>
              <a:gd name="adj" fmla="val 2849"/>
            </a:avLst>
          </a:prstGeom>
          <a:solidFill>
            <a:srgbClr val="141010"/>
          </a:solidFill>
          <a:ln w="12700">
            <a:solidFill>
              <a:srgbClr val="2E2522"/>
            </a:solidFill>
            <a:prstDash val="solid"/>
          </a:ln>
        </p:spPr>
      </p:sp>
      <p:sp>
        <p:nvSpPr>
          <p:cNvPr id="23" name="Shape 18"/>
          <p:cNvSpPr/>
          <p:nvPr/>
        </p:nvSpPr>
        <p:spPr>
          <a:xfrm>
            <a:off x="6461608" y="2212848"/>
            <a:ext cx="502920" cy="502920"/>
          </a:xfrm>
          <a:prstGeom prst="ellipse">
            <a:avLst/>
          </a:prstGeom>
          <a:solidFill>
            <a:srgbClr val="3A1E12"/>
          </a:solidFill>
          <a:ln w="12700">
            <a:solidFill>
              <a:srgbClr val="3A1E12"/>
            </a:solidFill>
            <a:prstDash val="solid"/>
          </a:ln>
        </p:spPr>
      </p:sp>
      <p:pic>
        <p:nvPicPr>
          <p:cNvPr id="24" name="Image 2" descr="preencoded.png">    </p:cNvPr>
          <p:cNvPicPr>
            <a:picLocks noChangeAspect="1"/>
          </p:cNvPicPr>
          <p:nvPr/>
        </p:nvPicPr>
        <p:blipFill>
          <a:blip r:embed="rId3"/>
          <a:stretch>
            <a:fillRect/>
          </a:stretch>
        </p:blipFill>
        <p:spPr>
          <a:xfrm>
            <a:off x="6589624" y="2340864"/>
            <a:ext cx="246888" cy="246888"/>
          </a:xfrm>
          <a:prstGeom prst="rect">
            <a:avLst/>
          </a:prstGeom>
        </p:spPr>
      </p:pic>
      <p:sp>
        <p:nvSpPr>
          <p:cNvPr id="25" name="Text 19"/>
          <p:cNvSpPr txBox="1"/>
          <p:nvPr/>
        </p:nvSpPr>
        <p:spPr>
          <a:xfrm>
            <a:off x="6461608" y="2871216"/>
            <a:ext cx="2110664"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VERA HEALTH</a:t>
            </a:r>
            <a:endParaRPr lang="en-US" sz="900" dirty="0"/>
          </a:p>
        </p:txBody>
      </p:sp>
      <p:sp>
        <p:nvSpPr>
          <p:cNvPr id="26" name="Text 20"/>
          <p:cNvSpPr txBox="1"/>
          <p:nvPr/>
        </p:nvSpPr>
        <p:spPr>
          <a:xfrm>
            <a:off x="6461608" y="3127248"/>
            <a:ext cx="2110664" cy="521970"/>
          </a:xfrm>
          <a:prstGeom prst="rect">
            <a:avLst/>
          </a:prstGeom>
          <a:noFill/>
          <a:ln/>
        </p:spPr>
        <p:txBody>
          <a:bodyPr wrap="square" lIns="0" tIns="0" rIns="0" bIns="0" rtlCol="0" anchor="t"/>
          <a:lstStyle/>
          <a:p>
            <a:pPr indent="0" marL="0">
              <a:buNone/>
            </a:pPr>
            <a:r>
              <a:rPr lang="en-US" sz="1500" b="1" dirty="0">
                <a:solidFill>
                  <a:srgbClr val="FBF4EC"/>
                </a:solidFill>
                <a:latin typeface="Arial" pitchFamily="34" charset="0"/>
                <a:ea typeface="Arial" pitchFamily="34" charset="-122"/>
                <a:cs typeface="Arial" pitchFamily="34" charset="-120"/>
              </a:rPr>
              <a:t>Evidence-graded answers</a:t>
            </a:r>
            <a:endParaRPr lang="en-US" sz="1500" dirty="0"/>
          </a:p>
        </p:txBody>
      </p:sp>
      <p:sp>
        <p:nvSpPr>
          <p:cNvPr id="27" name="Text 21"/>
          <p:cNvSpPr txBox="1"/>
          <p:nvPr/>
        </p:nvSpPr>
        <p:spPr>
          <a:xfrm>
            <a:off x="6461608" y="3713226"/>
            <a:ext cx="2110664" cy="1681734"/>
          </a:xfrm>
          <a:prstGeom prst="rect">
            <a:avLst/>
          </a:prstGeom>
          <a:noFill/>
          <a:ln/>
        </p:spPr>
        <p:txBody>
          <a:bodyPr wrap="square" lIns="0" tIns="0" rIns="0" bIns="0" rtlCol="0" anchor="t"/>
          <a:lstStyle/>
          <a:p>
            <a:pPr indent="0" marL="0">
              <a:spcAft>
                <a:spcPts val="400"/>
              </a:spcAft>
              <a:buNone/>
            </a:pPr>
            <a:r>
              <a:rPr lang="en-US" sz="1350" dirty="0">
                <a:solidFill>
                  <a:srgbClr val="A89C91"/>
                </a:solidFill>
                <a:latin typeface="Arial" pitchFamily="34" charset="0"/>
                <a:ea typeface="Arial" pitchFamily="34" charset="-122"/>
                <a:cs typeface="Arial" pitchFamily="34" charset="-120"/>
              </a:rPr>
              <a:t>Retrieves from 60M+ papers and guidelines, grades the evidence, cites it. Free for licensed clinicians and medical students.</a:t>
            </a:r>
            <a:endParaRPr lang="en-US" sz="1350" dirty="0"/>
          </a:p>
        </p:txBody>
      </p:sp>
      <p:sp>
        <p:nvSpPr>
          <p:cNvPr id="28" name="Shape 22"/>
          <p:cNvSpPr/>
          <p:nvPr/>
        </p:nvSpPr>
        <p:spPr>
          <a:xfrm>
            <a:off x="9075191" y="2011680"/>
            <a:ext cx="2567864" cy="3520440"/>
          </a:xfrm>
          <a:prstGeom prst="roundRect">
            <a:avLst>
              <a:gd name="adj" fmla="val 2849"/>
            </a:avLst>
          </a:prstGeom>
          <a:solidFill>
            <a:srgbClr val="141010"/>
          </a:solidFill>
          <a:ln w="12700">
            <a:solidFill>
              <a:srgbClr val="2E2522"/>
            </a:solidFill>
            <a:prstDash val="solid"/>
          </a:ln>
        </p:spPr>
      </p:sp>
      <p:sp>
        <p:nvSpPr>
          <p:cNvPr id="29" name="Shape 23"/>
          <p:cNvSpPr/>
          <p:nvPr/>
        </p:nvSpPr>
        <p:spPr>
          <a:xfrm>
            <a:off x="9303791" y="2212848"/>
            <a:ext cx="502920" cy="502920"/>
          </a:xfrm>
          <a:prstGeom prst="ellipse">
            <a:avLst/>
          </a:prstGeom>
          <a:solidFill>
            <a:srgbClr val="3A1E12"/>
          </a:solidFill>
          <a:ln w="12700">
            <a:solidFill>
              <a:srgbClr val="3A1E12"/>
            </a:solidFill>
            <a:prstDash val="solid"/>
          </a:ln>
        </p:spPr>
      </p:sp>
      <p:pic>
        <p:nvPicPr>
          <p:cNvPr id="30" name="Image 3" descr="preencoded.png">    </p:cNvPr>
          <p:cNvPicPr>
            <a:picLocks noChangeAspect="1"/>
          </p:cNvPicPr>
          <p:nvPr/>
        </p:nvPicPr>
        <p:blipFill>
          <a:blip r:embed="rId4"/>
          <a:stretch>
            <a:fillRect/>
          </a:stretch>
        </p:blipFill>
        <p:spPr>
          <a:xfrm>
            <a:off x="9431807" y="2340864"/>
            <a:ext cx="246888" cy="246888"/>
          </a:xfrm>
          <a:prstGeom prst="rect">
            <a:avLst/>
          </a:prstGeom>
        </p:spPr>
      </p:pic>
      <p:sp>
        <p:nvSpPr>
          <p:cNvPr id="31" name="Text 24"/>
          <p:cNvSpPr txBox="1"/>
          <p:nvPr/>
        </p:nvSpPr>
        <p:spPr>
          <a:xfrm>
            <a:off x="9303791" y="2871216"/>
            <a:ext cx="2110664"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GLASS HEALTH</a:t>
            </a:r>
            <a:endParaRPr lang="en-US" sz="900" dirty="0"/>
          </a:p>
        </p:txBody>
      </p:sp>
      <p:sp>
        <p:nvSpPr>
          <p:cNvPr id="32" name="Text 25"/>
          <p:cNvSpPr txBox="1"/>
          <p:nvPr/>
        </p:nvSpPr>
        <p:spPr>
          <a:xfrm>
            <a:off x="9303791" y="3127248"/>
            <a:ext cx="2110664" cy="283845"/>
          </a:xfrm>
          <a:prstGeom prst="rect">
            <a:avLst/>
          </a:prstGeom>
          <a:noFill/>
          <a:ln/>
        </p:spPr>
        <p:txBody>
          <a:bodyPr wrap="square" lIns="0" tIns="0" rIns="0" bIns="0" rtlCol="0" anchor="t"/>
          <a:lstStyle/>
          <a:p>
            <a:pPr indent="0" marL="0">
              <a:buNone/>
            </a:pPr>
            <a:r>
              <a:rPr lang="en-US" sz="1500" b="1" dirty="0">
                <a:solidFill>
                  <a:srgbClr val="FBF4EC"/>
                </a:solidFill>
                <a:latin typeface="Arial" pitchFamily="34" charset="0"/>
                <a:ea typeface="Arial" pitchFamily="34" charset="-122"/>
                <a:cs typeface="Arial" pitchFamily="34" charset="-120"/>
              </a:rPr>
              <a:t>DDx and A&amp;P drafting</a:t>
            </a:r>
            <a:endParaRPr lang="en-US" sz="1500" dirty="0"/>
          </a:p>
        </p:txBody>
      </p:sp>
      <p:sp>
        <p:nvSpPr>
          <p:cNvPr id="33" name="Text 26"/>
          <p:cNvSpPr txBox="1"/>
          <p:nvPr/>
        </p:nvSpPr>
        <p:spPr>
          <a:xfrm>
            <a:off x="9303791" y="3475101"/>
            <a:ext cx="2110664" cy="1919859"/>
          </a:xfrm>
          <a:prstGeom prst="rect">
            <a:avLst/>
          </a:prstGeom>
          <a:noFill/>
          <a:ln/>
        </p:spPr>
        <p:txBody>
          <a:bodyPr wrap="square" lIns="0" tIns="0" rIns="0" bIns="0" rtlCol="0" anchor="t"/>
          <a:lstStyle/>
          <a:p>
            <a:pPr indent="0" marL="0">
              <a:spcAft>
                <a:spcPts val="400"/>
              </a:spcAft>
              <a:buNone/>
            </a:pPr>
            <a:r>
              <a:rPr lang="en-US" sz="1350" dirty="0">
                <a:solidFill>
                  <a:srgbClr val="A89C91"/>
                </a:solidFill>
                <a:latin typeface="Arial" pitchFamily="34" charset="0"/>
                <a:ea typeface="Arial" pitchFamily="34" charset="-122"/>
                <a:cs typeface="Arial" pitchFamily="34" charset="-120"/>
              </a:rPr>
              <a:t>Keeps an evolving differential and drafts an assessment and plan with citations. Includes an ambient scribe. Free Lite tier.</a:t>
            </a:r>
            <a:endParaRPr lang="en-US" sz="1350" dirty="0"/>
          </a:p>
        </p:txBody>
      </p:sp>
      <p:sp>
        <p:nvSpPr>
          <p:cNvPr id="34" name="Shape 27"/>
          <p:cNvSpPr/>
          <p:nvPr/>
        </p:nvSpPr>
        <p:spPr>
          <a:xfrm>
            <a:off x="548640" y="5669280"/>
            <a:ext cx="11094415" cy="530352"/>
          </a:xfrm>
          <a:prstGeom prst="roundRect">
            <a:avLst>
              <a:gd name="adj" fmla="val 13793"/>
            </a:avLst>
          </a:prstGeom>
          <a:solidFill>
            <a:srgbClr val="3A1E12"/>
          </a:solidFill>
          <a:ln w="12700">
            <a:solidFill>
              <a:srgbClr val="3A1E12"/>
            </a:solidFill>
            <a:prstDash val="solid"/>
          </a:ln>
        </p:spPr>
      </p:sp>
      <p:sp>
        <p:nvSpPr>
          <p:cNvPr id="35" name="Text 28"/>
          <p:cNvSpPr txBox="1"/>
          <p:nvPr/>
        </p:nvSpPr>
        <p:spPr>
          <a:xfrm>
            <a:off x="777240" y="5669280"/>
            <a:ext cx="10637215" cy="530352"/>
          </a:xfrm>
          <a:prstGeom prst="rect">
            <a:avLst/>
          </a:prstGeom>
          <a:noFill/>
          <a:ln/>
        </p:spPr>
        <p:txBody>
          <a:bodyPr wrap="square" lIns="0" tIns="0" rIns="0" bIns="0" rtlCol="0" anchor="ctr"/>
          <a:lstStyle/>
          <a:p>
            <a:pPr indent="0" marL="0">
              <a:buNone/>
            </a:pPr>
            <a:r>
              <a:rPr lang="en-US" sz="1300" dirty="0">
                <a:solidFill>
                  <a:srgbClr val="FBF4EC"/>
                </a:solidFill>
                <a:latin typeface="Arial" pitchFamily="34" charset="0"/>
                <a:ea typeface="Arial" pitchFamily="34" charset="-122"/>
                <a:cs typeface="Arial" pitchFamily="34" charset="-120"/>
              </a:rPr>
              <a:t>Access, pricing and availability in India change often. </a:t>
            </a:r>
            <a:pPr indent="0" marL="0">
              <a:buNone/>
            </a:pPr>
            <a:r>
              <a:rPr lang="en-US" sz="1300" dirty="0">
                <a:solidFill>
                  <a:srgbClr val="FF641E"/>
                </a:solidFill>
                <a:latin typeface="Arial" pitchFamily="34" charset="0"/>
                <a:ea typeface="Arial" pitchFamily="34" charset="-122"/>
                <a:cs typeface="Arial" pitchFamily="34" charset="-120"/>
              </a:rPr>
              <a:t>Check each tool's current terms before you rely on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05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THE BIG ASSISTANTS, MADE CLINICAL</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Healthcare editions of </a:t>
            </a:r>
            <a:pPr indent="0" marL="0">
              <a:buNone/>
            </a:pPr>
            <a:r>
              <a:rPr lang="en-US" sz="3000" b="1" dirty="0">
                <a:solidFill>
                  <a:srgbClr val="FF641E"/>
                </a:solidFill>
                <a:latin typeface="Arial" pitchFamily="34" charset="0"/>
                <a:ea typeface="Arial" pitchFamily="34" charset="-122"/>
                <a:cs typeface="Arial" pitchFamily="34" charset="-120"/>
              </a:rPr>
              <a:t>Claude and ChatGPT</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10" name="Shape 7"/>
          <p:cNvSpPr/>
          <p:nvPr/>
        </p:nvSpPr>
        <p:spPr>
          <a:xfrm>
            <a:off x="548640" y="2011680"/>
            <a:ext cx="3515258" cy="3520440"/>
          </a:xfrm>
          <a:prstGeom prst="roundRect">
            <a:avLst>
              <a:gd name="adj" fmla="val 2081"/>
            </a:avLst>
          </a:prstGeom>
          <a:solidFill>
            <a:srgbClr val="141010"/>
          </a:solidFill>
          <a:ln w="12700">
            <a:solidFill>
              <a:srgbClr val="2E2522"/>
            </a:solidFill>
            <a:prstDash val="solid"/>
          </a:ln>
        </p:spPr>
      </p:sp>
      <p:sp>
        <p:nvSpPr>
          <p:cNvPr id="11" name="Shape 8"/>
          <p:cNvSpPr/>
          <p:nvPr/>
        </p:nvSpPr>
        <p:spPr>
          <a:xfrm>
            <a:off x="777240" y="2212848"/>
            <a:ext cx="502920" cy="502920"/>
          </a:xfrm>
          <a:prstGeom prst="ellipse">
            <a:avLst/>
          </a:prstGeom>
          <a:solidFill>
            <a:srgbClr val="3A1E12"/>
          </a:solidFill>
          <a:ln w="12700">
            <a:solidFill>
              <a:srgbClr val="3A1E12"/>
            </a:solidFill>
            <a:prstDash val="solid"/>
          </a:ln>
        </p:spPr>
      </p:sp>
      <p:pic>
        <p:nvPicPr>
          <p:cNvPr id="12" name="Image 0" descr="preencoded.png">    </p:cNvPr>
          <p:cNvPicPr>
            <a:picLocks noChangeAspect="1"/>
          </p:cNvPicPr>
          <p:nvPr/>
        </p:nvPicPr>
        <p:blipFill>
          <a:blip r:embed="rId1"/>
          <a:stretch>
            <a:fillRect/>
          </a:stretch>
        </p:blipFill>
        <p:spPr>
          <a:xfrm>
            <a:off x="905256" y="2340864"/>
            <a:ext cx="246888" cy="246888"/>
          </a:xfrm>
          <a:prstGeom prst="rect">
            <a:avLst/>
          </a:prstGeom>
        </p:spPr>
      </p:pic>
      <p:sp>
        <p:nvSpPr>
          <p:cNvPr id="13" name="Text 9"/>
          <p:cNvSpPr txBox="1"/>
          <p:nvPr/>
        </p:nvSpPr>
        <p:spPr>
          <a:xfrm>
            <a:off x="777240" y="2871216"/>
            <a:ext cx="3058058"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ANTHROPIC · JAN 2026</a:t>
            </a:r>
            <a:endParaRPr lang="en-US" sz="900" dirty="0"/>
          </a:p>
        </p:txBody>
      </p:sp>
      <p:sp>
        <p:nvSpPr>
          <p:cNvPr id="14" name="Text 10"/>
          <p:cNvSpPr txBox="1"/>
          <p:nvPr/>
        </p:nvSpPr>
        <p:spPr>
          <a:xfrm>
            <a:off x="777240" y="3127248"/>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Claude for Healthcare</a:t>
            </a:r>
            <a:endParaRPr lang="en-US" sz="1700" dirty="0"/>
          </a:p>
        </p:txBody>
      </p:sp>
      <p:sp>
        <p:nvSpPr>
          <p:cNvPr id="15" name="Text 11"/>
          <p:cNvSpPr txBox="1"/>
          <p:nvPr/>
        </p:nvSpPr>
        <p:spPr>
          <a:xfrm>
            <a:off x="777240" y="3506851"/>
            <a:ext cx="3058058" cy="1888109"/>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Native connectors: PubMed, ICD-10, CMS Coverage Database</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HIPAA-ready enterprise offering</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Agent Skills for repeatable clinical workflows</a:t>
            </a:r>
            <a:endParaRPr lang="en-US" sz="1400" dirty="0"/>
          </a:p>
        </p:txBody>
      </p:sp>
      <p:sp>
        <p:nvSpPr>
          <p:cNvPr id="16" name="Shape 12"/>
          <p:cNvSpPr/>
          <p:nvPr/>
        </p:nvSpPr>
        <p:spPr>
          <a:xfrm>
            <a:off x="4338218" y="2011680"/>
            <a:ext cx="3515258" cy="3520440"/>
          </a:xfrm>
          <a:prstGeom prst="roundRect">
            <a:avLst>
              <a:gd name="adj" fmla="val 2081"/>
            </a:avLst>
          </a:prstGeom>
          <a:solidFill>
            <a:srgbClr val="141010"/>
          </a:solidFill>
          <a:ln w="12700">
            <a:solidFill>
              <a:srgbClr val="2E2522"/>
            </a:solidFill>
            <a:prstDash val="solid"/>
          </a:ln>
        </p:spPr>
      </p:sp>
      <p:sp>
        <p:nvSpPr>
          <p:cNvPr id="17" name="Shape 13"/>
          <p:cNvSpPr/>
          <p:nvPr/>
        </p:nvSpPr>
        <p:spPr>
          <a:xfrm>
            <a:off x="4566818" y="2212848"/>
            <a:ext cx="502920" cy="502920"/>
          </a:xfrm>
          <a:prstGeom prst="ellipse">
            <a:avLst/>
          </a:prstGeom>
          <a:solidFill>
            <a:srgbClr val="3A1E12"/>
          </a:solidFill>
          <a:ln w="12700">
            <a:solidFill>
              <a:srgbClr val="3A1E12"/>
            </a:solidFill>
            <a:prstDash val="solid"/>
          </a:ln>
        </p:spPr>
      </p:sp>
      <p:pic>
        <p:nvPicPr>
          <p:cNvPr id="18" name="Image 1" descr="preencoded.png">    </p:cNvPr>
          <p:cNvPicPr>
            <a:picLocks noChangeAspect="1"/>
          </p:cNvPicPr>
          <p:nvPr/>
        </p:nvPicPr>
        <p:blipFill>
          <a:blip r:embed="rId2"/>
          <a:stretch>
            <a:fillRect/>
          </a:stretch>
        </p:blipFill>
        <p:spPr>
          <a:xfrm>
            <a:off x="4694834" y="2340864"/>
            <a:ext cx="246888" cy="246888"/>
          </a:xfrm>
          <a:prstGeom prst="rect">
            <a:avLst/>
          </a:prstGeom>
        </p:spPr>
      </p:pic>
      <p:sp>
        <p:nvSpPr>
          <p:cNvPr id="19" name="Text 14"/>
          <p:cNvSpPr txBox="1"/>
          <p:nvPr/>
        </p:nvSpPr>
        <p:spPr>
          <a:xfrm>
            <a:off x="4566818" y="2871216"/>
            <a:ext cx="3058058"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OPENAI · APR 2026</a:t>
            </a:r>
            <a:endParaRPr lang="en-US" sz="900" dirty="0"/>
          </a:p>
        </p:txBody>
      </p:sp>
      <p:sp>
        <p:nvSpPr>
          <p:cNvPr id="20" name="Text 15"/>
          <p:cNvSpPr txBox="1"/>
          <p:nvPr/>
        </p:nvSpPr>
        <p:spPr>
          <a:xfrm>
            <a:off x="4566818" y="3127248"/>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ChatGPT for Clinicians</a:t>
            </a:r>
            <a:endParaRPr lang="en-US" sz="1700" dirty="0"/>
          </a:p>
        </p:txBody>
      </p:sp>
      <p:sp>
        <p:nvSpPr>
          <p:cNvPr id="21" name="Text 16"/>
          <p:cNvSpPr txBox="1"/>
          <p:nvPr/>
        </p:nvSpPr>
        <p:spPr>
          <a:xfrm>
            <a:off x="4566818" y="3506851"/>
            <a:ext cx="3058058" cy="1888109"/>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Free for verified US physicians, NPs, PAs and pharmacists</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Cited clinical search, documentation, reusable skills</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Not yet a default option for Indian clinicians</a:t>
            </a:r>
            <a:endParaRPr lang="en-US" sz="1400" dirty="0"/>
          </a:p>
        </p:txBody>
      </p:sp>
      <p:sp>
        <p:nvSpPr>
          <p:cNvPr id="22" name="Shape 17"/>
          <p:cNvSpPr/>
          <p:nvPr/>
        </p:nvSpPr>
        <p:spPr>
          <a:xfrm>
            <a:off x="8127797" y="2011680"/>
            <a:ext cx="3515258" cy="3520440"/>
          </a:xfrm>
          <a:prstGeom prst="roundRect">
            <a:avLst>
              <a:gd name="adj" fmla="val 2081"/>
            </a:avLst>
          </a:prstGeom>
          <a:solidFill>
            <a:srgbClr val="141010"/>
          </a:solidFill>
          <a:ln w="12700">
            <a:solidFill>
              <a:srgbClr val="2E2522"/>
            </a:solidFill>
            <a:prstDash val="solid"/>
          </a:ln>
        </p:spPr>
      </p:sp>
      <p:sp>
        <p:nvSpPr>
          <p:cNvPr id="23" name="Shape 18"/>
          <p:cNvSpPr/>
          <p:nvPr/>
        </p:nvSpPr>
        <p:spPr>
          <a:xfrm>
            <a:off x="8356397" y="2212848"/>
            <a:ext cx="502920" cy="502920"/>
          </a:xfrm>
          <a:prstGeom prst="ellipse">
            <a:avLst/>
          </a:prstGeom>
          <a:solidFill>
            <a:srgbClr val="3A1E12"/>
          </a:solidFill>
          <a:ln w="12700">
            <a:solidFill>
              <a:srgbClr val="3A1E12"/>
            </a:solidFill>
            <a:prstDash val="solid"/>
          </a:ln>
        </p:spPr>
      </p:sp>
      <p:pic>
        <p:nvPicPr>
          <p:cNvPr id="24" name="Image 2" descr="preencoded.png">    </p:cNvPr>
          <p:cNvPicPr>
            <a:picLocks noChangeAspect="1"/>
          </p:cNvPicPr>
          <p:nvPr/>
        </p:nvPicPr>
        <p:blipFill>
          <a:blip r:embed="rId3"/>
          <a:stretch>
            <a:fillRect/>
          </a:stretch>
        </p:blipFill>
        <p:spPr>
          <a:xfrm>
            <a:off x="8484413" y="2340864"/>
            <a:ext cx="246888" cy="246888"/>
          </a:xfrm>
          <a:prstGeom prst="rect">
            <a:avLst/>
          </a:prstGeom>
        </p:spPr>
      </p:pic>
      <p:sp>
        <p:nvSpPr>
          <p:cNvPr id="25" name="Text 19"/>
          <p:cNvSpPr txBox="1"/>
          <p:nvPr/>
        </p:nvSpPr>
        <p:spPr>
          <a:xfrm>
            <a:off x="8356397" y="2871216"/>
            <a:ext cx="3058058"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OPENAI · JUL 2026</a:t>
            </a:r>
            <a:endParaRPr lang="en-US" sz="900" dirty="0"/>
          </a:p>
        </p:txBody>
      </p:sp>
      <p:sp>
        <p:nvSpPr>
          <p:cNvPr id="26" name="Text 20"/>
          <p:cNvSpPr txBox="1"/>
          <p:nvPr/>
        </p:nvSpPr>
        <p:spPr>
          <a:xfrm>
            <a:off x="8356397" y="3127248"/>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ChatGPT Health</a:t>
            </a:r>
            <a:endParaRPr lang="en-US" sz="1700" dirty="0"/>
          </a:p>
        </p:txBody>
      </p:sp>
      <p:sp>
        <p:nvSpPr>
          <p:cNvPr id="27" name="Text 21"/>
          <p:cNvSpPr txBox="1"/>
          <p:nvPr/>
        </p:nvSpPr>
        <p:spPr>
          <a:xfrm>
            <a:off x="8356397" y="3506851"/>
            <a:ext cx="3058058" cy="1888109"/>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Consumer health space inside ChatGPT (US first)</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Your patients are already using it</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Ask them what it told them</a:t>
            </a:r>
            <a:endParaRPr lang="en-US" sz="1400" dirty="0"/>
          </a:p>
        </p:txBody>
      </p:sp>
      <p:sp>
        <p:nvSpPr>
          <p:cNvPr id="28" name="Shape 22"/>
          <p:cNvSpPr/>
          <p:nvPr/>
        </p:nvSpPr>
        <p:spPr>
          <a:xfrm>
            <a:off x="548640" y="5669280"/>
            <a:ext cx="11094415" cy="530352"/>
          </a:xfrm>
          <a:prstGeom prst="roundRect">
            <a:avLst>
              <a:gd name="adj" fmla="val 13793"/>
            </a:avLst>
          </a:prstGeom>
          <a:solidFill>
            <a:srgbClr val="3A1E12"/>
          </a:solidFill>
          <a:ln w="12700">
            <a:solidFill>
              <a:srgbClr val="3A1E12"/>
            </a:solidFill>
            <a:prstDash val="solid"/>
          </a:ln>
        </p:spPr>
      </p:sp>
      <p:sp>
        <p:nvSpPr>
          <p:cNvPr id="29" name="Text 23"/>
          <p:cNvSpPr txBox="1"/>
          <p:nvPr/>
        </p:nvSpPr>
        <p:spPr>
          <a:xfrm>
            <a:off x="777240" y="5669280"/>
            <a:ext cx="10637215" cy="530352"/>
          </a:xfrm>
          <a:prstGeom prst="rect">
            <a:avLst/>
          </a:prstGeom>
          <a:noFill/>
          <a:ln/>
        </p:spPr>
        <p:txBody>
          <a:bodyPr wrap="square" lIns="0" tIns="0" rIns="0" bIns="0" rtlCol="0" anchor="ctr"/>
          <a:lstStyle/>
          <a:p>
            <a:pPr indent="0" marL="0">
              <a:buNone/>
            </a:pPr>
            <a:r>
              <a:rPr lang="en-US" sz="1300" dirty="0">
                <a:solidFill>
                  <a:srgbClr val="FBF4EC"/>
                </a:solidFill>
                <a:latin typeface="Arial" pitchFamily="34" charset="0"/>
                <a:ea typeface="Arial" pitchFamily="34" charset="-122"/>
                <a:cs typeface="Arial" pitchFamily="34" charset="-120"/>
              </a:rPr>
              <a:t>What you can use in India today: </a:t>
            </a:r>
            <a:pPr indent="0" marL="0">
              <a:buNone/>
            </a:pPr>
            <a:r>
              <a:rPr lang="en-US" sz="1300" dirty="0">
                <a:solidFill>
                  <a:srgbClr val="FF641E"/>
                </a:solidFill>
                <a:latin typeface="Arial" pitchFamily="34" charset="0"/>
                <a:ea typeface="Arial" pitchFamily="34" charset="-122"/>
                <a:cs typeface="Arial" pitchFamily="34" charset="-120"/>
              </a:rPr>
              <a:t>Claude or ChatGPT with the PubMed and Consensus connectors.</a:t>
            </a:r>
            <a:pPr indent="0" marL="0">
              <a:buNone/>
            </a:pPr>
            <a:r>
              <a:rPr lang="en-US" sz="1300" dirty="0">
                <a:solidFill>
                  <a:srgbClr val="FBF4EC"/>
                </a:solidFill>
                <a:latin typeface="Arial" pitchFamily="34" charset="0"/>
                <a:ea typeface="Arial" pitchFamily="34" charset="-122"/>
                <a:cs typeface="Arial" pitchFamily="34" charset="-120"/>
              </a:rPr>
              <a:t> That's next.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06 / 19</a:t>
            </a:r>
            <a:endParaRPr lang="en-US" sz="1000" dirty="0"/>
          </a:p>
        </p:txBody>
      </p:sp>
      <p:sp>
        <p:nvSpPr>
          <p:cNvPr id="6" name="Text 3"/>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7" name="Text 4"/>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8" name="Text 5"/>
          <p:cNvSpPr txBox="1"/>
          <p:nvPr/>
        </p:nvSpPr>
        <p:spPr>
          <a:xfrm>
            <a:off x="502920" y="1097280"/>
            <a:ext cx="4572000" cy="2011680"/>
          </a:xfrm>
          <a:prstGeom prst="rect">
            <a:avLst/>
          </a:prstGeom>
          <a:noFill/>
          <a:ln/>
        </p:spPr>
        <p:txBody>
          <a:bodyPr wrap="square" lIns="0" tIns="0" rIns="0" bIns="0" rtlCol="0" anchor="t"/>
          <a:lstStyle/>
          <a:p>
            <a:pPr indent="0" marL="0">
              <a:buNone/>
            </a:pPr>
            <a:r>
              <a:rPr lang="en-US" sz="15000" b="1" dirty="0">
                <a:solidFill>
                  <a:srgbClr val="FF641E"/>
                </a:solidFill>
                <a:latin typeface="Arial" pitchFamily="34" charset="0"/>
                <a:ea typeface="Arial" pitchFamily="34" charset="-122"/>
                <a:cs typeface="Arial" pitchFamily="34" charset="-120"/>
              </a:rPr>
              <a:t>01</a:t>
            </a:r>
            <a:endParaRPr lang="en-US" sz="15000" dirty="0"/>
          </a:p>
        </p:txBody>
      </p:sp>
      <p:sp>
        <p:nvSpPr>
          <p:cNvPr id="9" name="Text 6"/>
          <p:cNvSpPr txBox="1"/>
          <p:nvPr/>
        </p:nvSpPr>
        <p:spPr>
          <a:xfrm>
            <a:off x="548640" y="3337560"/>
            <a:ext cx="10058400" cy="320040"/>
          </a:xfrm>
          <a:prstGeom prst="rect">
            <a:avLst/>
          </a:prstGeom>
          <a:noFill/>
          <a:ln/>
        </p:spPr>
        <p:txBody>
          <a:bodyPr wrap="square" lIns="0" tIns="0" rIns="0" bIns="0" rtlCol="0" anchor="ctr"/>
          <a:lstStyle/>
          <a:p>
            <a:pPr indent="0" marL="0">
              <a:buNone/>
            </a:pPr>
            <a:r>
              <a:rPr lang="en-US" sz="1200" b="1" spc="300" kern="0" dirty="0">
                <a:solidFill>
                  <a:srgbClr val="FF641E"/>
                </a:solidFill>
                <a:latin typeface="Arial" pitchFamily="34" charset="0"/>
                <a:ea typeface="Arial" pitchFamily="34" charset="-122"/>
                <a:cs typeface="Arial" pitchFamily="34" charset="-120"/>
              </a:rPr>
              <a:t>GROUNDING</a:t>
            </a:r>
            <a:endParaRPr lang="en-US" sz="1200" dirty="0"/>
          </a:p>
        </p:txBody>
      </p:sp>
      <p:sp>
        <p:nvSpPr>
          <p:cNvPr id="10" name="Text 7"/>
          <p:cNvSpPr txBox="1"/>
          <p:nvPr/>
        </p:nvSpPr>
        <p:spPr>
          <a:xfrm>
            <a:off x="548640" y="3657600"/>
            <a:ext cx="10972800" cy="914400"/>
          </a:xfrm>
          <a:prstGeom prst="rect">
            <a:avLst/>
          </a:prstGeom>
          <a:noFill/>
          <a:ln/>
        </p:spPr>
        <p:txBody>
          <a:bodyPr wrap="square" lIns="0" tIns="0" rIns="0" bIns="0" rtlCol="0" anchor="t"/>
          <a:lstStyle/>
          <a:p>
            <a:pPr indent="0" marL="0">
              <a:buNone/>
            </a:pPr>
            <a:r>
              <a:rPr lang="en-US" sz="4400" b="1" dirty="0">
                <a:solidFill>
                  <a:srgbClr val="FBF4EC"/>
                </a:solidFill>
                <a:latin typeface="Arial" pitchFamily="34" charset="0"/>
                <a:ea typeface="Arial" pitchFamily="34" charset="-122"/>
                <a:cs typeface="Arial" pitchFamily="34" charset="-120"/>
              </a:rPr>
              <a:t>Connect the chatbot to </a:t>
            </a:r>
            <a:pPr indent="0" marL="0">
              <a:buNone/>
            </a:pPr>
            <a:r>
              <a:rPr lang="en-US" sz="4400" b="1" dirty="0">
                <a:solidFill>
                  <a:srgbClr val="FF641E"/>
                </a:solidFill>
                <a:latin typeface="Arial" pitchFamily="34" charset="0"/>
                <a:ea typeface="Arial" pitchFamily="34" charset="-122"/>
                <a:cs typeface="Arial" pitchFamily="34" charset="-120"/>
              </a:rPr>
              <a:t>real evidence</a:t>
            </a:r>
            <a:endParaRPr lang="en-US" sz="4400" dirty="0"/>
          </a:p>
        </p:txBody>
      </p:sp>
      <p:sp>
        <p:nvSpPr>
          <p:cNvPr id="11" name="Text 8"/>
          <p:cNvSpPr txBox="1"/>
          <p:nvPr/>
        </p:nvSpPr>
        <p:spPr>
          <a:xfrm>
            <a:off x="548640" y="4663440"/>
            <a:ext cx="9144000" cy="1005840"/>
          </a:xfrm>
          <a:prstGeom prst="rect">
            <a:avLst/>
          </a:prstGeom>
          <a:noFill/>
          <a:ln/>
        </p:spPr>
        <p:txBody>
          <a:bodyPr wrap="square" lIns="0" tIns="0" rIns="0" bIns="0" rtlCol="0" anchor="t"/>
          <a:lstStyle/>
          <a:p>
            <a:pPr indent="0" marL="0">
              <a:buNone/>
            </a:pPr>
            <a:r>
              <a:rPr lang="en-US" sz="1800" i="1" dirty="0">
                <a:solidFill>
                  <a:srgbClr val="A89C91"/>
                </a:solidFill>
                <a:latin typeface="Cambria" pitchFamily="34" charset="0"/>
                <a:ea typeface="Cambria" pitchFamily="34" charset="-122"/>
                <a:cs typeface="Cambria" pitchFamily="34" charset="-120"/>
              </a:rPr>
              <a:t>A connector lets ChatGPT or Claude search PubMed or Consensus while it answers, so you get PMIDs you can open, not references it remembers.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07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HOW A CONNECTOR WORKS</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From a memory to a </a:t>
            </a:r>
            <a:pPr indent="0" marL="0">
              <a:buNone/>
            </a:pPr>
            <a:r>
              <a:rPr lang="en-US" sz="3000" b="1" dirty="0">
                <a:solidFill>
                  <a:srgbClr val="FF641E"/>
                </a:solidFill>
                <a:latin typeface="Arial" pitchFamily="34" charset="0"/>
                <a:ea typeface="Arial" pitchFamily="34" charset="-122"/>
                <a:cs typeface="Arial" pitchFamily="34" charset="-120"/>
              </a:rPr>
              <a:t>search</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10" name="Shape 7"/>
          <p:cNvSpPr/>
          <p:nvPr/>
        </p:nvSpPr>
        <p:spPr>
          <a:xfrm>
            <a:off x="548640" y="2057400"/>
            <a:ext cx="2014057" cy="3429000"/>
          </a:xfrm>
          <a:prstGeom prst="roundRect">
            <a:avLst>
              <a:gd name="adj" fmla="val 3632"/>
            </a:avLst>
          </a:prstGeom>
          <a:solidFill>
            <a:srgbClr val="141010"/>
          </a:solidFill>
          <a:ln w="12700">
            <a:solidFill>
              <a:srgbClr val="2E2522"/>
            </a:solidFill>
            <a:prstDash val="solid"/>
          </a:ln>
        </p:spPr>
      </p:sp>
      <p:sp>
        <p:nvSpPr>
          <p:cNvPr id="11" name="Text 8"/>
          <p:cNvSpPr txBox="1"/>
          <p:nvPr/>
        </p:nvSpPr>
        <p:spPr>
          <a:xfrm>
            <a:off x="749808" y="2240280"/>
            <a:ext cx="1097280" cy="548640"/>
          </a:xfrm>
          <a:prstGeom prst="rect">
            <a:avLst/>
          </a:prstGeom>
          <a:noFill/>
          <a:ln/>
        </p:spPr>
        <p:txBody>
          <a:bodyPr wrap="square" lIns="0" tIns="0" rIns="0" bIns="0" rtlCol="0" anchor="ctr"/>
          <a:lstStyle/>
          <a:p>
            <a:pPr indent="0" marL="0">
              <a:buNone/>
            </a:pPr>
            <a:r>
              <a:rPr lang="en-US" sz="3000" b="1" dirty="0">
                <a:solidFill>
                  <a:srgbClr val="FF641E"/>
                </a:solidFill>
                <a:latin typeface="Arial" pitchFamily="34" charset="0"/>
                <a:ea typeface="Arial" pitchFamily="34" charset="-122"/>
                <a:cs typeface="Arial" pitchFamily="34" charset="-120"/>
              </a:rPr>
              <a:t>01</a:t>
            </a:r>
            <a:endParaRPr lang="en-US" sz="3000" dirty="0"/>
          </a:p>
        </p:txBody>
      </p:sp>
      <p:sp>
        <p:nvSpPr>
          <p:cNvPr id="12" name="Text 9"/>
          <p:cNvSpPr txBox="1"/>
          <p:nvPr/>
        </p:nvSpPr>
        <p:spPr>
          <a:xfrm>
            <a:off x="749808" y="2880360"/>
            <a:ext cx="1611721" cy="283845"/>
          </a:xfrm>
          <a:prstGeom prst="rect">
            <a:avLst/>
          </a:prstGeom>
          <a:noFill/>
          <a:ln/>
        </p:spPr>
        <p:txBody>
          <a:bodyPr wrap="square" lIns="0" tIns="0" rIns="0" bIns="0" rtlCol="0" anchor="t"/>
          <a:lstStyle/>
          <a:p>
            <a:pPr indent="0" marL="0">
              <a:buNone/>
            </a:pPr>
            <a:r>
              <a:rPr lang="en-US" sz="1500" b="1" dirty="0">
                <a:solidFill>
                  <a:srgbClr val="FBF4EC"/>
                </a:solidFill>
                <a:latin typeface="Arial" pitchFamily="34" charset="0"/>
                <a:ea typeface="Arial" pitchFamily="34" charset="-122"/>
                <a:cs typeface="Arial" pitchFamily="34" charset="-120"/>
              </a:rPr>
              <a:t>You ask</a:t>
            </a:r>
            <a:endParaRPr lang="en-US" sz="1500" dirty="0"/>
          </a:p>
        </p:txBody>
      </p:sp>
      <p:sp>
        <p:nvSpPr>
          <p:cNvPr id="13" name="Text 10"/>
          <p:cNvSpPr txBox="1"/>
          <p:nvPr/>
        </p:nvSpPr>
        <p:spPr>
          <a:xfrm>
            <a:off x="749808" y="3255645"/>
            <a:ext cx="1611721" cy="2093595"/>
          </a:xfrm>
          <a:prstGeom prst="rect">
            <a:avLst/>
          </a:prstGeom>
          <a:noFill/>
          <a:ln/>
        </p:spPr>
        <p:txBody>
          <a:bodyPr wrap="square" lIns="0" tIns="0" rIns="0" bIns="0" rtlCol="0" anchor="t"/>
          <a:lstStyle/>
          <a:p>
            <a:pPr indent="0" marL="0">
              <a:buNone/>
            </a:pPr>
            <a:r>
              <a:rPr lang="en-US" sz="1450" dirty="0">
                <a:solidFill>
                  <a:srgbClr val="A89C91"/>
                </a:solidFill>
                <a:latin typeface="Arial" pitchFamily="34" charset="0"/>
                <a:ea typeface="Arial" pitchFamily="34" charset="-122"/>
                <a:cs typeface="Arial" pitchFamily="34" charset="-120"/>
              </a:rPr>
              <a:t>A focused clinical question, with the population and the outcome you care about.</a:t>
            </a:r>
            <a:endParaRPr lang="en-US" sz="1450" dirty="0"/>
          </a:p>
        </p:txBody>
      </p:sp>
      <p:sp>
        <p:nvSpPr>
          <p:cNvPr id="14" name="Text 11"/>
          <p:cNvSpPr txBox="1"/>
          <p:nvPr/>
        </p:nvSpPr>
        <p:spPr>
          <a:xfrm>
            <a:off x="2544409" y="2286000"/>
            <a:ext cx="292608" cy="457200"/>
          </a:xfrm>
          <a:prstGeom prst="rect">
            <a:avLst/>
          </a:prstGeom>
          <a:noFill/>
          <a:ln/>
        </p:spPr>
        <p:txBody>
          <a:bodyPr wrap="square" lIns="0" tIns="0" rIns="0" bIns="0" rtlCol="0" anchor="ctr"/>
          <a:lstStyle/>
          <a:p>
            <a:pPr algn="ctr" indent="0" marL="0">
              <a:buNone/>
            </a:pPr>
            <a:r>
              <a:rPr lang="en-US" sz="2200" b="1" dirty="0">
                <a:solidFill>
                  <a:srgbClr val="FF641E"/>
                </a:solidFill>
                <a:latin typeface="Arial" pitchFamily="34" charset="0"/>
                <a:ea typeface="Arial" pitchFamily="34" charset="-122"/>
                <a:cs typeface="Arial" pitchFamily="34" charset="-120"/>
              </a:rPr>
              <a:t>›</a:t>
            </a:r>
            <a:endParaRPr lang="en-US" sz="2200" dirty="0"/>
          </a:p>
        </p:txBody>
      </p:sp>
      <p:sp>
        <p:nvSpPr>
          <p:cNvPr id="15" name="Shape 12"/>
          <p:cNvSpPr/>
          <p:nvPr/>
        </p:nvSpPr>
        <p:spPr>
          <a:xfrm>
            <a:off x="2818729" y="2057400"/>
            <a:ext cx="2014057" cy="3429000"/>
          </a:xfrm>
          <a:prstGeom prst="roundRect">
            <a:avLst>
              <a:gd name="adj" fmla="val 3632"/>
            </a:avLst>
          </a:prstGeom>
          <a:solidFill>
            <a:srgbClr val="141010"/>
          </a:solidFill>
          <a:ln w="12700">
            <a:solidFill>
              <a:srgbClr val="2E2522"/>
            </a:solidFill>
            <a:prstDash val="solid"/>
          </a:ln>
        </p:spPr>
      </p:sp>
      <p:sp>
        <p:nvSpPr>
          <p:cNvPr id="16" name="Text 13"/>
          <p:cNvSpPr txBox="1"/>
          <p:nvPr/>
        </p:nvSpPr>
        <p:spPr>
          <a:xfrm>
            <a:off x="3019897" y="2240280"/>
            <a:ext cx="1097280" cy="548640"/>
          </a:xfrm>
          <a:prstGeom prst="rect">
            <a:avLst/>
          </a:prstGeom>
          <a:noFill/>
          <a:ln/>
        </p:spPr>
        <p:txBody>
          <a:bodyPr wrap="square" lIns="0" tIns="0" rIns="0" bIns="0" rtlCol="0" anchor="ctr"/>
          <a:lstStyle/>
          <a:p>
            <a:pPr indent="0" marL="0">
              <a:buNone/>
            </a:pPr>
            <a:r>
              <a:rPr lang="en-US" sz="3000" b="1" dirty="0">
                <a:solidFill>
                  <a:srgbClr val="FF641E"/>
                </a:solidFill>
                <a:latin typeface="Arial" pitchFamily="34" charset="0"/>
                <a:ea typeface="Arial" pitchFamily="34" charset="-122"/>
                <a:cs typeface="Arial" pitchFamily="34" charset="-120"/>
              </a:rPr>
              <a:t>02</a:t>
            </a:r>
            <a:endParaRPr lang="en-US" sz="3000" dirty="0"/>
          </a:p>
        </p:txBody>
      </p:sp>
      <p:sp>
        <p:nvSpPr>
          <p:cNvPr id="17" name="Text 14"/>
          <p:cNvSpPr txBox="1"/>
          <p:nvPr/>
        </p:nvSpPr>
        <p:spPr>
          <a:xfrm>
            <a:off x="3019897" y="2880360"/>
            <a:ext cx="1611721" cy="521970"/>
          </a:xfrm>
          <a:prstGeom prst="rect">
            <a:avLst/>
          </a:prstGeom>
          <a:noFill/>
          <a:ln/>
        </p:spPr>
        <p:txBody>
          <a:bodyPr wrap="square" lIns="0" tIns="0" rIns="0" bIns="0" rtlCol="0" anchor="t"/>
          <a:lstStyle/>
          <a:p>
            <a:pPr indent="0" marL="0">
              <a:buNone/>
            </a:pPr>
            <a:r>
              <a:rPr lang="en-US" sz="1500" b="1" dirty="0">
                <a:solidFill>
                  <a:srgbClr val="FBF4EC"/>
                </a:solidFill>
                <a:latin typeface="Arial" pitchFamily="34" charset="0"/>
                <a:ea typeface="Arial" pitchFamily="34" charset="-122"/>
                <a:cs typeface="Arial" pitchFamily="34" charset="-120"/>
              </a:rPr>
              <a:t>The assistant plans</a:t>
            </a:r>
            <a:endParaRPr lang="en-US" sz="1500" dirty="0"/>
          </a:p>
        </p:txBody>
      </p:sp>
      <p:sp>
        <p:nvSpPr>
          <p:cNvPr id="18" name="Text 15"/>
          <p:cNvSpPr txBox="1"/>
          <p:nvPr/>
        </p:nvSpPr>
        <p:spPr>
          <a:xfrm>
            <a:off x="3019897" y="3493770"/>
            <a:ext cx="1611721" cy="1855470"/>
          </a:xfrm>
          <a:prstGeom prst="rect">
            <a:avLst/>
          </a:prstGeom>
          <a:noFill/>
          <a:ln/>
        </p:spPr>
        <p:txBody>
          <a:bodyPr wrap="square" lIns="0" tIns="0" rIns="0" bIns="0" rtlCol="0" anchor="t"/>
          <a:lstStyle/>
          <a:p>
            <a:pPr indent="0" marL="0">
              <a:buNone/>
            </a:pPr>
            <a:r>
              <a:rPr lang="en-US" sz="1450" dirty="0">
                <a:solidFill>
                  <a:srgbClr val="A89C91"/>
                </a:solidFill>
                <a:latin typeface="Arial" pitchFamily="34" charset="0"/>
                <a:ea typeface="Arial" pitchFamily="34" charset="-122"/>
                <a:cs typeface="Arial" pitchFamily="34" charset="-120"/>
              </a:rPr>
              <a:t>It turns your question into search terms and calls the connector.</a:t>
            </a:r>
            <a:endParaRPr lang="en-US" sz="1450" dirty="0"/>
          </a:p>
        </p:txBody>
      </p:sp>
      <p:sp>
        <p:nvSpPr>
          <p:cNvPr id="19" name="Text 16"/>
          <p:cNvSpPr txBox="1"/>
          <p:nvPr/>
        </p:nvSpPr>
        <p:spPr>
          <a:xfrm>
            <a:off x="4814499" y="2286000"/>
            <a:ext cx="292608" cy="457200"/>
          </a:xfrm>
          <a:prstGeom prst="rect">
            <a:avLst/>
          </a:prstGeom>
          <a:noFill/>
          <a:ln/>
        </p:spPr>
        <p:txBody>
          <a:bodyPr wrap="square" lIns="0" tIns="0" rIns="0" bIns="0" rtlCol="0" anchor="ctr"/>
          <a:lstStyle/>
          <a:p>
            <a:pPr algn="ctr" indent="0" marL="0">
              <a:buNone/>
            </a:pPr>
            <a:r>
              <a:rPr lang="en-US" sz="2200" b="1" dirty="0">
                <a:solidFill>
                  <a:srgbClr val="FF641E"/>
                </a:solidFill>
                <a:latin typeface="Arial" pitchFamily="34" charset="0"/>
                <a:ea typeface="Arial" pitchFamily="34" charset="-122"/>
                <a:cs typeface="Arial" pitchFamily="34" charset="-120"/>
              </a:rPr>
              <a:t>›</a:t>
            </a:r>
            <a:endParaRPr lang="en-US" sz="2200" dirty="0"/>
          </a:p>
        </p:txBody>
      </p:sp>
      <p:sp>
        <p:nvSpPr>
          <p:cNvPr id="20" name="Shape 17"/>
          <p:cNvSpPr/>
          <p:nvPr/>
        </p:nvSpPr>
        <p:spPr>
          <a:xfrm>
            <a:off x="5088819" y="2057400"/>
            <a:ext cx="2014057" cy="3429000"/>
          </a:xfrm>
          <a:prstGeom prst="roundRect">
            <a:avLst>
              <a:gd name="adj" fmla="val 3632"/>
            </a:avLst>
          </a:prstGeom>
          <a:solidFill>
            <a:srgbClr val="141010"/>
          </a:solidFill>
          <a:ln w="12700">
            <a:solidFill>
              <a:srgbClr val="2E2522"/>
            </a:solidFill>
            <a:prstDash val="solid"/>
          </a:ln>
        </p:spPr>
      </p:sp>
      <p:sp>
        <p:nvSpPr>
          <p:cNvPr id="21" name="Text 18"/>
          <p:cNvSpPr txBox="1"/>
          <p:nvPr/>
        </p:nvSpPr>
        <p:spPr>
          <a:xfrm>
            <a:off x="5289987" y="2240280"/>
            <a:ext cx="1097280" cy="548640"/>
          </a:xfrm>
          <a:prstGeom prst="rect">
            <a:avLst/>
          </a:prstGeom>
          <a:noFill/>
          <a:ln/>
        </p:spPr>
        <p:txBody>
          <a:bodyPr wrap="square" lIns="0" tIns="0" rIns="0" bIns="0" rtlCol="0" anchor="ctr"/>
          <a:lstStyle/>
          <a:p>
            <a:pPr indent="0" marL="0">
              <a:buNone/>
            </a:pPr>
            <a:r>
              <a:rPr lang="en-US" sz="3000" b="1" dirty="0">
                <a:solidFill>
                  <a:srgbClr val="FF641E"/>
                </a:solidFill>
                <a:latin typeface="Arial" pitchFamily="34" charset="0"/>
                <a:ea typeface="Arial" pitchFamily="34" charset="-122"/>
                <a:cs typeface="Arial" pitchFamily="34" charset="-120"/>
              </a:rPr>
              <a:t>03</a:t>
            </a:r>
            <a:endParaRPr lang="en-US" sz="3000" dirty="0"/>
          </a:p>
        </p:txBody>
      </p:sp>
      <p:sp>
        <p:nvSpPr>
          <p:cNvPr id="22" name="Text 19"/>
          <p:cNvSpPr txBox="1"/>
          <p:nvPr/>
        </p:nvSpPr>
        <p:spPr>
          <a:xfrm>
            <a:off x="5289987" y="2880360"/>
            <a:ext cx="1611721" cy="521970"/>
          </a:xfrm>
          <a:prstGeom prst="rect">
            <a:avLst/>
          </a:prstGeom>
          <a:noFill/>
          <a:ln/>
        </p:spPr>
        <p:txBody>
          <a:bodyPr wrap="square" lIns="0" tIns="0" rIns="0" bIns="0" rtlCol="0" anchor="t"/>
          <a:lstStyle/>
          <a:p>
            <a:pPr indent="0" marL="0">
              <a:buNone/>
            </a:pPr>
            <a:r>
              <a:rPr lang="en-US" sz="1500" b="1" dirty="0">
                <a:solidFill>
                  <a:srgbClr val="FBF4EC"/>
                </a:solidFill>
                <a:latin typeface="Arial" pitchFamily="34" charset="0"/>
                <a:ea typeface="Arial" pitchFamily="34" charset="-122"/>
                <a:cs typeface="Arial" pitchFamily="34" charset="-120"/>
              </a:rPr>
              <a:t>PubMed / Consensus search</a:t>
            </a:r>
            <a:endParaRPr lang="en-US" sz="1500" dirty="0"/>
          </a:p>
        </p:txBody>
      </p:sp>
      <p:sp>
        <p:nvSpPr>
          <p:cNvPr id="23" name="Text 20"/>
          <p:cNvSpPr txBox="1"/>
          <p:nvPr/>
        </p:nvSpPr>
        <p:spPr>
          <a:xfrm>
            <a:off x="5289987" y="3493770"/>
            <a:ext cx="1611721" cy="1855470"/>
          </a:xfrm>
          <a:prstGeom prst="rect">
            <a:avLst/>
          </a:prstGeom>
          <a:noFill/>
          <a:ln/>
        </p:spPr>
        <p:txBody>
          <a:bodyPr wrap="square" lIns="0" tIns="0" rIns="0" bIns="0" rtlCol="0" anchor="t"/>
          <a:lstStyle/>
          <a:p>
            <a:pPr indent="0" marL="0">
              <a:buNone/>
            </a:pPr>
            <a:r>
              <a:rPr lang="en-US" sz="1450" dirty="0">
                <a:solidFill>
                  <a:srgbClr val="A89C91"/>
                </a:solidFill>
                <a:latin typeface="Arial" pitchFamily="34" charset="0"/>
                <a:ea typeface="Arial" pitchFamily="34" charset="-122"/>
                <a:cs typeface="Arial" pitchFamily="34" charset="-120"/>
              </a:rPr>
              <a:t>Real records come back: titles, abstracts, PMIDs, DOIs, study types.</a:t>
            </a:r>
            <a:endParaRPr lang="en-US" sz="1450" dirty="0"/>
          </a:p>
        </p:txBody>
      </p:sp>
      <p:sp>
        <p:nvSpPr>
          <p:cNvPr id="24" name="Text 21"/>
          <p:cNvSpPr txBox="1"/>
          <p:nvPr/>
        </p:nvSpPr>
        <p:spPr>
          <a:xfrm>
            <a:off x="7084588" y="2286000"/>
            <a:ext cx="292608" cy="457200"/>
          </a:xfrm>
          <a:prstGeom prst="rect">
            <a:avLst/>
          </a:prstGeom>
          <a:noFill/>
          <a:ln/>
        </p:spPr>
        <p:txBody>
          <a:bodyPr wrap="square" lIns="0" tIns="0" rIns="0" bIns="0" rtlCol="0" anchor="ctr"/>
          <a:lstStyle/>
          <a:p>
            <a:pPr algn="ctr" indent="0" marL="0">
              <a:buNone/>
            </a:pPr>
            <a:r>
              <a:rPr lang="en-US" sz="2200" b="1" dirty="0">
                <a:solidFill>
                  <a:srgbClr val="FF641E"/>
                </a:solidFill>
                <a:latin typeface="Arial" pitchFamily="34" charset="0"/>
                <a:ea typeface="Arial" pitchFamily="34" charset="-122"/>
                <a:cs typeface="Arial" pitchFamily="34" charset="-120"/>
              </a:rPr>
              <a:t>›</a:t>
            </a:r>
            <a:endParaRPr lang="en-US" sz="2200" dirty="0"/>
          </a:p>
        </p:txBody>
      </p:sp>
      <p:sp>
        <p:nvSpPr>
          <p:cNvPr id="25" name="Shape 22"/>
          <p:cNvSpPr/>
          <p:nvPr/>
        </p:nvSpPr>
        <p:spPr>
          <a:xfrm>
            <a:off x="7358908" y="2057400"/>
            <a:ext cx="2014057" cy="3429000"/>
          </a:xfrm>
          <a:prstGeom prst="roundRect">
            <a:avLst>
              <a:gd name="adj" fmla="val 3632"/>
            </a:avLst>
          </a:prstGeom>
          <a:solidFill>
            <a:srgbClr val="141010"/>
          </a:solidFill>
          <a:ln w="12700">
            <a:solidFill>
              <a:srgbClr val="2E2522"/>
            </a:solidFill>
            <a:prstDash val="solid"/>
          </a:ln>
        </p:spPr>
      </p:sp>
      <p:sp>
        <p:nvSpPr>
          <p:cNvPr id="26" name="Text 23"/>
          <p:cNvSpPr txBox="1"/>
          <p:nvPr/>
        </p:nvSpPr>
        <p:spPr>
          <a:xfrm>
            <a:off x="7560076" y="2240280"/>
            <a:ext cx="1097280" cy="548640"/>
          </a:xfrm>
          <a:prstGeom prst="rect">
            <a:avLst/>
          </a:prstGeom>
          <a:noFill/>
          <a:ln/>
        </p:spPr>
        <p:txBody>
          <a:bodyPr wrap="square" lIns="0" tIns="0" rIns="0" bIns="0" rtlCol="0" anchor="ctr"/>
          <a:lstStyle/>
          <a:p>
            <a:pPr indent="0" marL="0">
              <a:buNone/>
            </a:pPr>
            <a:r>
              <a:rPr lang="en-US" sz="3000" b="1" dirty="0">
                <a:solidFill>
                  <a:srgbClr val="FF641E"/>
                </a:solidFill>
                <a:latin typeface="Arial" pitchFamily="34" charset="0"/>
                <a:ea typeface="Arial" pitchFamily="34" charset="-122"/>
                <a:cs typeface="Arial" pitchFamily="34" charset="-120"/>
              </a:rPr>
              <a:t>04</a:t>
            </a:r>
            <a:endParaRPr lang="en-US" sz="3000" dirty="0"/>
          </a:p>
        </p:txBody>
      </p:sp>
      <p:sp>
        <p:nvSpPr>
          <p:cNvPr id="27" name="Text 24"/>
          <p:cNvSpPr txBox="1"/>
          <p:nvPr/>
        </p:nvSpPr>
        <p:spPr>
          <a:xfrm>
            <a:off x="7560076" y="2880360"/>
            <a:ext cx="1611721" cy="521970"/>
          </a:xfrm>
          <a:prstGeom prst="rect">
            <a:avLst/>
          </a:prstGeom>
          <a:noFill/>
          <a:ln/>
        </p:spPr>
        <p:txBody>
          <a:bodyPr wrap="square" lIns="0" tIns="0" rIns="0" bIns="0" rtlCol="0" anchor="t"/>
          <a:lstStyle/>
          <a:p>
            <a:pPr indent="0" marL="0">
              <a:buNone/>
            </a:pPr>
            <a:r>
              <a:rPr lang="en-US" sz="1500" b="1" dirty="0">
                <a:solidFill>
                  <a:srgbClr val="FBF4EC"/>
                </a:solidFill>
                <a:latin typeface="Arial" pitchFamily="34" charset="0"/>
                <a:ea typeface="Arial" pitchFamily="34" charset="-122"/>
                <a:cs typeface="Arial" pitchFamily="34" charset="-120"/>
              </a:rPr>
              <a:t>It answers from them</a:t>
            </a:r>
            <a:endParaRPr lang="en-US" sz="1500" dirty="0"/>
          </a:p>
        </p:txBody>
      </p:sp>
      <p:sp>
        <p:nvSpPr>
          <p:cNvPr id="28" name="Text 25"/>
          <p:cNvSpPr txBox="1"/>
          <p:nvPr/>
        </p:nvSpPr>
        <p:spPr>
          <a:xfrm>
            <a:off x="7560076" y="3493770"/>
            <a:ext cx="1611721" cy="1855470"/>
          </a:xfrm>
          <a:prstGeom prst="rect">
            <a:avLst/>
          </a:prstGeom>
          <a:noFill/>
          <a:ln/>
        </p:spPr>
        <p:txBody>
          <a:bodyPr wrap="square" lIns="0" tIns="0" rIns="0" bIns="0" rtlCol="0" anchor="t"/>
          <a:lstStyle/>
          <a:p>
            <a:pPr indent="0" marL="0">
              <a:buNone/>
            </a:pPr>
            <a:r>
              <a:rPr lang="en-US" sz="1450" dirty="0">
                <a:solidFill>
                  <a:srgbClr val="A89C91"/>
                </a:solidFill>
                <a:latin typeface="Arial" pitchFamily="34" charset="0"/>
                <a:ea typeface="Arial" pitchFamily="34" charset="-122"/>
                <a:cs typeface="Arial" pitchFamily="34" charset="-120"/>
              </a:rPr>
              <a:t>A summary that cites the retrieved papers, which you can open and check.</a:t>
            </a:r>
            <a:endParaRPr lang="en-US" sz="1450" dirty="0"/>
          </a:p>
        </p:txBody>
      </p:sp>
      <p:sp>
        <p:nvSpPr>
          <p:cNvPr id="29" name="Text 26"/>
          <p:cNvSpPr txBox="1"/>
          <p:nvPr/>
        </p:nvSpPr>
        <p:spPr>
          <a:xfrm>
            <a:off x="9354678" y="2286000"/>
            <a:ext cx="292608" cy="457200"/>
          </a:xfrm>
          <a:prstGeom prst="rect">
            <a:avLst/>
          </a:prstGeom>
          <a:noFill/>
          <a:ln/>
        </p:spPr>
        <p:txBody>
          <a:bodyPr wrap="square" lIns="0" tIns="0" rIns="0" bIns="0" rtlCol="0" anchor="ctr"/>
          <a:lstStyle/>
          <a:p>
            <a:pPr algn="ctr" indent="0" marL="0">
              <a:buNone/>
            </a:pPr>
            <a:r>
              <a:rPr lang="en-US" sz="2200" b="1" dirty="0">
                <a:solidFill>
                  <a:srgbClr val="FF641E"/>
                </a:solidFill>
                <a:latin typeface="Arial" pitchFamily="34" charset="0"/>
                <a:ea typeface="Arial" pitchFamily="34" charset="-122"/>
                <a:cs typeface="Arial" pitchFamily="34" charset="-120"/>
              </a:rPr>
              <a:t>›</a:t>
            </a:r>
            <a:endParaRPr lang="en-US" sz="2200" dirty="0"/>
          </a:p>
        </p:txBody>
      </p:sp>
      <p:sp>
        <p:nvSpPr>
          <p:cNvPr id="30" name="Shape 27"/>
          <p:cNvSpPr/>
          <p:nvPr/>
        </p:nvSpPr>
        <p:spPr>
          <a:xfrm>
            <a:off x="9628998" y="2057400"/>
            <a:ext cx="2014057" cy="3429000"/>
          </a:xfrm>
          <a:prstGeom prst="roundRect">
            <a:avLst>
              <a:gd name="adj" fmla="val 3632"/>
            </a:avLst>
          </a:prstGeom>
          <a:solidFill>
            <a:srgbClr val="141010"/>
          </a:solidFill>
          <a:ln w="12700">
            <a:solidFill>
              <a:srgbClr val="2E2522"/>
            </a:solidFill>
            <a:prstDash val="solid"/>
          </a:ln>
        </p:spPr>
      </p:sp>
      <p:sp>
        <p:nvSpPr>
          <p:cNvPr id="31" name="Text 28"/>
          <p:cNvSpPr txBox="1"/>
          <p:nvPr/>
        </p:nvSpPr>
        <p:spPr>
          <a:xfrm>
            <a:off x="9830166" y="2240280"/>
            <a:ext cx="1097280" cy="548640"/>
          </a:xfrm>
          <a:prstGeom prst="rect">
            <a:avLst/>
          </a:prstGeom>
          <a:noFill/>
          <a:ln/>
        </p:spPr>
        <p:txBody>
          <a:bodyPr wrap="square" lIns="0" tIns="0" rIns="0" bIns="0" rtlCol="0" anchor="ctr"/>
          <a:lstStyle/>
          <a:p>
            <a:pPr indent="0" marL="0">
              <a:buNone/>
            </a:pPr>
            <a:r>
              <a:rPr lang="en-US" sz="3000" b="1" dirty="0">
                <a:solidFill>
                  <a:srgbClr val="FF641E"/>
                </a:solidFill>
                <a:latin typeface="Arial" pitchFamily="34" charset="0"/>
                <a:ea typeface="Arial" pitchFamily="34" charset="-122"/>
                <a:cs typeface="Arial" pitchFamily="34" charset="-120"/>
              </a:rPr>
              <a:t>05</a:t>
            </a:r>
            <a:endParaRPr lang="en-US" sz="3000" dirty="0"/>
          </a:p>
        </p:txBody>
      </p:sp>
      <p:sp>
        <p:nvSpPr>
          <p:cNvPr id="32" name="Text 29"/>
          <p:cNvSpPr txBox="1"/>
          <p:nvPr/>
        </p:nvSpPr>
        <p:spPr>
          <a:xfrm>
            <a:off x="9830166" y="2880360"/>
            <a:ext cx="1611721" cy="283845"/>
          </a:xfrm>
          <a:prstGeom prst="rect">
            <a:avLst/>
          </a:prstGeom>
          <a:noFill/>
          <a:ln/>
        </p:spPr>
        <p:txBody>
          <a:bodyPr wrap="square" lIns="0" tIns="0" rIns="0" bIns="0" rtlCol="0" anchor="t"/>
          <a:lstStyle/>
          <a:p>
            <a:pPr indent="0" marL="0">
              <a:buNone/>
            </a:pPr>
            <a:r>
              <a:rPr lang="en-US" sz="1500" b="1" dirty="0">
                <a:solidFill>
                  <a:srgbClr val="FBF4EC"/>
                </a:solidFill>
                <a:latin typeface="Arial" pitchFamily="34" charset="0"/>
                <a:ea typeface="Arial" pitchFamily="34" charset="-122"/>
                <a:cs typeface="Arial" pitchFamily="34" charset="-120"/>
              </a:rPr>
              <a:t>You verify</a:t>
            </a:r>
            <a:endParaRPr lang="en-US" sz="1500" dirty="0"/>
          </a:p>
        </p:txBody>
      </p:sp>
      <p:sp>
        <p:nvSpPr>
          <p:cNvPr id="33" name="Text 30"/>
          <p:cNvSpPr txBox="1"/>
          <p:nvPr/>
        </p:nvSpPr>
        <p:spPr>
          <a:xfrm>
            <a:off x="9830166" y="3255645"/>
            <a:ext cx="1611721" cy="2093595"/>
          </a:xfrm>
          <a:prstGeom prst="rect">
            <a:avLst/>
          </a:prstGeom>
          <a:noFill/>
          <a:ln/>
        </p:spPr>
        <p:txBody>
          <a:bodyPr wrap="square" lIns="0" tIns="0" rIns="0" bIns="0" rtlCol="0" anchor="t"/>
          <a:lstStyle/>
          <a:p>
            <a:pPr indent="0" marL="0">
              <a:buNone/>
            </a:pPr>
            <a:r>
              <a:rPr lang="en-US" sz="1450" dirty="0">
                <a:solidFill>
                  <a:srgbClr val="A89C91"/>
                </a:solidFill>
                <a:latin typeface="Arial" pitchFamily="34" charset="0"/>
                <a:ea typeface="Arial" pitchFamily="34" charset="-122"/>
                <a:cs typeface="Arial" pitchFamily="34" charset="-120"/>
              </a:rPr>
              <a:t>Open the key papers. Check that each claim matches what the paper says.</a:t>
            </a:r>
            <a:endParaRPr lang="en-US" sz="1450" dirty="0"/>
          </a:p>
        </p:txBody>
      </p:sp>
      <p:sp>
        <p:nvSpPr>
          <p:cNvPr id="34" name="Shape 31"/>
          <p:cNvSpPr/>
          <p:nvPr/>
        </p:nvSpPr>
        <p:spPr>
          <a:xfrm>
            <a:off x="548640" y="5623560"/>
            <a:ext cx="11094415" cy="530352"/>
          </a:xfrm>
          <a:prstGeom prst="roundRect">
            <a:avLst>
              <a:gd name="adj" fmla="val 13793"/>
            </a:avLst>
          </a:prstGeom>
          <a:solidFill>
            <a:srgbClr val="3A1E12"/>
          </a:solidFill>
          <a:ln w="12700">
            <a:solidFill>
              <a:srgbClr val="3A1E12"/>
            </a:solidFill>
            <a:prstDash val="solid"/>
          </a:ln>
        </p:spPr>
      </p:sp>
      <p:sp>
        <p:nvSpPr>
          <p:cNvPr id="35" name="Text 32"/>
          <p:cNvSpPr txBox="1"/>
          <p:nvPr/>
        </p:nvSpPr>
        <p:spPr>
          <a:xfrm>
            <a:off x="777240" y="5623560"/>
            <a:ext cx="10637215" cy="530352"/>
          </a:xfrm>
          <a:prstGeom prst="rect">
            <a:avLst/>
          </a:prstGeom>
          <a:noFill/>
          <a:ln/>
        </p:spPr>
        <p:txBody>
          <a:bodyPr wrap="square" lIns="0" tIns="0" rIns="0" bIns="0" rtlCol="0" anchor="ctr"/>
          <a:lstStyle/>
          <a:p>
            <a:pPr indent="0" marL="0">
              <a:buNone/>
            </a:pPr>
            <a:r>
              <a:rPr lang="en-US" sz="1300" dirty="0">
                <a:solidFill>
                  <a:srgbClr val="FBF4EC"/>
                </a:solidFill>
                <a:latin typeface="Arial" pitchFamily="34" charset="0"/>
                <a:ea typeface="Arial" pitchFamily="34" charset="-122"/>
                <a:cs typeface="Arial" pitchFamily="34" charset="-120"/>
              </a:rPr>
              <a:t>Without a connector, the model answers from memory. </a:t>
            </a:r>
            <a:pPr indent="0" marL="0">
              <a:buNone/>
            </a:pPr>
            <a:r>
              <a:rPr lang="en-US" sz="1300" dirty="0">
                <a:solidFill>
                  <a:srgbClr val="FF641E"/>
                </a:solidFill>
                <a:latin typeface="Arial" pitchFamily="34" charset="0"/>
                <a:ea typeface="Arial" pitchFamily="34" charset="-122"/>
                <a:cs typeface="Arial" pitchFamily="34" charset="-120"/>
              </a:rPr>
              <a:t>That's where invented references come from.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08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SWITCH THEM ON</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Set up once, use </a:t>
            </a:r>
            <a:pPr indent="0" marL="0">
              <a:buNone/>
            </a:pPr>
            <a:r>
              <a:rPr lang="en-US" sz="3000" b="1" dirty="0">
                <a:solidFill>
                  <a:srgbClr val="FF641E"/>
                </a:solidFill>
                <a:latin typeface="Arial" pitchFamily="34" charset="0"/>
                <a:ea typeface="Arial" pitchFamily="34" charset="-122"/>
                <a:cs typeface="Arial" pitchFamily="34" charset="-120"/>
              </a:rPr>
              <a:t>every day</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1737360"/>
                <a:gridCol w="1737360"/>
                <a:gridCol w="3840480"/>
                <a:gridCol w="3776472"/>
              </a:tblGrid>
              <a:tr h="0">
                <a:tc>
                  <a:txBody>
                    <a:bodyPr/>
                    <a:lstStyle/>
                    <a:p>
                      <a:pPr indent="0" marL="0">
                        <a:buNone/>
                      </a:pPr>
                      <a:r>
                        <a:rPr lang="en-US" sz="1000" b="1" spc="200" kern="0" dirty="0">
                          <a:solidFill>
                            <a:srgbClr val="FF641E"/>
                          </a:solidFill>
                          <a:latin typeface="Arial" pitchFamily="34" charset="0"/>
                          <a:ea typeface="Arial" pitchFamily="34" charset="-122"/>
                          <a:cs typeface="Arial" pitchFamily="34" charset="-120"/>
                        </a:rPr>
                        <a:t>ASSISTANT</a:t>
                      </a:r>
                      <a:endParaRPr lang="en-US" sz="100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000" b="1" spc="200" kern="0" dirty="0">
                          <a:solidFill>
                            <a:srgbClr val="FF641E"/>
                          </a:solidFill>
                          <a:latin typeface="Arial" pitchFamily="34" charset="0"/>
                          <a:ea typeface="Arial" pitchFamily="34" charset="-122"/>
                          <a:cs typeface="Arial" pitchFamily="34" charset="-120"/>
                        </a:rPr>
                        <a:t>CONNECTOR</a:t>
                      </a:r>
                      <a:endParaRPr lang="en-US" sz="100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000" b="1" spc="200" kern="0" dirty="0">
                          <a:solidFill>
                            <a:srgbClr val="FF641E"/>
                          </a:solidFill>
                          <a:latin typeface="Arial" pitchFamily="34" charset="0"/>
                          <a:ea typeface="Arial" pitchFamily="34" charset="-122"/>
                          <a:cs typeface="Arial" pitchFamily="34" charset="-120"/>
                        </a:rPr>
                        <a:t>HOW TO ENABLE</a:t>
                      </a:r>
                      <a:endParaRPr lang="en-US" sz="100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000" b="1" spc="200" kern="0" dirty="0">
                          <a:solidFill>
                            <a:srgbClr val="FF641E"/>
                          </a:solidFill>
                          <a:latin typeface="Arial" pitchFamily="34" charset="0"/>
                          <a:ea typeface="Arial" pitchFamily="34" charset="-122"/>
                          <a:cs typeface="Arial" pitchFamily="34" charset="-120"/>
                        </a:rPr>
                        <a:t>BEST FOR</a:t>
                      </a:r>
                      <a:endParaRPr lang="en-US" sz="100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r>
              <a:tr h="0">
                <a:tc>
                  <a:txBody>
                    <a:bodyPr/>
                    <a:lstStyle/>
                    <a:p>
                      <a:pPr indent="0" marL="0">
                        <a:buNone/>
                      </a:pPr>
                      <a:r>
                        <a:rPr lang="en-US" sz="1350" b="1" dirty="0">
                          <a:solidFill>
                            <a:srgbClr val="FBF4EC"/>
                          </a:solidFill>
                          <a:latin typeface="Arial" pitchFamily="34" charset="0"/>
                          <a:ea typeface="Arial" pitchFamily="34" charset="-122"/>
                          <a:cs typeface="Arial" pitchFamily="34" charset="-120"/>
                        </a:rPr>
                        <a:t>Claude</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c>
                  <a:txBody>
                    <a:bodyPr/>
                    <a:lstStyle/>
                    <a:p>
                      <a:pPr indent="0" marL="0">
                        <a:buNone/>
                      </a:pPr>
                      <a:r>
                        <a:rPr lang="en-US" sz="1350" b="1" dirty="0">
                          <a:solidFill>
                            <a:srgbClr val="FF641E"/>
                          </a:solidFill>
                          <a:latin typeface="Arial" pitchFamily="34" charset="0"/>
                          <a:ea typeface="Arial" pitchFamily="34" charset="-122"/>
                          <a:cs typeface="Arial" pitchFamily="34" charset="-120"/>
                        </a:rPr>
                        <a:t>PubMed</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Settings → Connectors → PubMed → Connect</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PMID-level searches, recent trials, full text where open access</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r>
              <a:tr h="0">
                <a:tc>
                  <a:txBody>
                    <a:bodyPr/>
                    <a:lstStyle/>
                    <a:p>
                      <a:pPr indent="0" marL="0">
                        <a:buNone/>
                      </a:pPr>
                      <a:r>
                        <a:rPr lang="en-US" sz="1350" b="1" dirty="0">
                          <a:solidFill>
                            <a:srgbClr val="FBF4EC"/>
                          </a:solidFill>
                          <a:latin typeface="Arial" pitchFamily="34" charset="0"/>
                          <a:ea typeface="Arial" pitchFamily="34" charset="-122"/>
                          <a:cs typeface="Arial" pitchFamily="34" charset="-120"/>
                        </a:rPr>
                        <a:t>Claude</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350" b="1" dirty="0">
                          <a:solidFill>
                            <a:srgbClr val="FF641E"/>
                          </a:solidFill>
                          <a:latin typeface="Arial" pitchFamily="34" charset="0"/>
                          <a:ea typeface="Arial" pitchFamily="34" charset="-122"/>
                          <a:cs typeface="Arial" pitchFamily="34" charset="-120"/>
                        </a:rPr>
                        <a:t>Consensus</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Settings → Connectors → Consensus → Connect</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What does the evidence say? Yes/no questions across studies</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r>
              <a:tr h="0">
                <a:tc>
                  <a:txBody>
                    <a:bodyPr/>
                    <a:lstStyle/>
                    <a:p>
                      <a:pPr indent="0" marL="0">
                        <a:buNone/>
                      </a:pPr>
                      <a:r>
                        <a:rPr lang="en-US" sz="1350" b="1" dirty="0">
                          <a:solidFill>
                            <a:srgbClr val="FBF4EC"/>
                          </a:solidFill>
                          <a:latin typeface="Arial" pitchFamily="34" charset="0"/>
                          <a:ea typeface="Arial" pitchFamily="34" charset="-122"/>
                          <a:cs typeface="Arial" pitchFamily="34" charset="-120"/>
                        </a:rPr>
                        <a:t>ChatGPT</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c>
                  <a:txBody>
                    <a:bodyPr/>
                    <a:lstStyle/>
                    <a:p>
                      <a:pPr indent="0" marL="0">
                        <a:buNone/>
                      </a:pPr>
                      <a:r>
                        <a:rPr lang="en-US" sz="1350" b="1" dirty="0">
                          <a:solidFill>
                            <a:srgbClr val="FF641E"/>
                          </a:solidFill>
                          <a:latin typeface="Arial" pitchFamily="34" charset="0"/>
                          <a:ea typeface="Arial" pitchFamily="34" charset="-122"/>
                          <a:cs typeface="Arial" pitchFamily="34" charset="-120"/>
                        </a:rPr>
                        <a:t>Consensus app</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Apps (connectors) → search Consensus → Connect</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Evidence summaries and study lists inside ChatGPT</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r>
              <a:tr h="0">
                <a:tc>
                  <a:txBody>
                    <a:bodyPr/>
                    <a:lstStyle/>
                    <a:p>
                      <a:pPr indent="0" marL="0">
                        <a:buNone/>
                      </a:pPr>
                      <a:r>
                        <a:rPr lang="en-US" sz="1350" b="1" dirty="0">
                          <a:solidFill>
                            <a:srgbClr val="FBF4EC"/>
                          </a:solidFill>
                          <a:latin typeface="Arial" pitchFamily="34" charset="0"/>
                          <a:ea typeface="Arial" pitchFamily="34" charset="-122"/>
                          <a:cs typeface="Arial" pitchFamily="34" charset="-120"/>
                        </a:rPr>
                        <a:t>ChatGPT / Claude</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350" b="1" dirty="0">
                          <a:solidFill>
                            <a:srgbClr val="FF641E"/>
                          </a:solidFill>
                          <a:latin typeface="Arial" pitchFamily="34" charset="0"/>
                          <a:ea typeface="Arial" pitchFamily="34" charset="-122"/>
                          <a:cs typeface="Arial" pitchFamily="34" charset="-120"/>
                        </a:rPr>
                        <a:t>Deep Research</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Choose Deep Research / Research in the chat box</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Multi-source reports in 5–10 minutes; verify every citation</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r>
            </a:tbl>
          </a:graphicData>
        </a:graphic>
      </p:graphicFrame>
      <p:sp>
        <p:nvSpPr>
          <p:cNvPr id="11" name="Shape 7"/>
          <p:cNvSpPr/>
          <p:nvPr/>
        </p:nvSpPr>
        <p:spPr>
          <a:xfrm>
            <a:off x="548640" y="5669280"/>
            <a:ext cx="11094415" cy="530352"/>
          </a:xfrm>
          <a:prstGeom prst="roundRect">
            <a:avLst>
              <a:gd name="adj" fmla="val 13793"/>
            </a:avLst>
          </a:prstGeom>
          <a:solidFill>
            <a:srgbClr val="3A1E12"/>
          </a:solidFill>
          <a:ln w="12700">
            <a:solidFill>
              <a:srgbClr val="3A1E12"/>
            </a:solidFill>
            <a:prstDash val="solid"/>
          </a:ln>
        </p:spPr>
      </p:sp>
      <p:sp>
        <p:nvSpPr>
          <p:cNvPr id="12" name="Text 8"/>
          <p:cNvSpPr txBox="1"/>
          <p:nvPr/>
        </p:nvSpPr>
        <p:spPr>
          <a:xfrm>
            <a:off x="777240" y="5669280"/>
            <a:ext cx="10637215" cy="530352"/>
          </a:xfrm>
          <a:prstGeom prst="rect">
            <a:avLst/>
          </a:prstGeom>
          <a:noFill/>
          <a:ln/>
        </p:spPr>
        <p:txBody>
          <a:bodyPr wrap="square" lIns="0" tIns="0" rIns="0" bIns="0" rtlCol="0" anchor="ctr"/>
          <a:lstStyle/>
          <a:p>
            <a:pPr indent="0" marL="0">
              <a:buNone/>
            </a:pPr>
            <a:r>
              <a:rPr lang="en-US" sz="1300" dirty="0">
                <a:solidFill>
                  <a:srgbClr val="FBF4EC"/>
                </a:solidFill>
                <a:latin typeface="Arial" pitchFamily="34" charset="0"/>
                <a:ea typeface="Arial" pitchFamily="34" charset="-122"/>
                <a:cs typeface="Arial" pitchFamily="34" charset="-120"/>
              </a:rPr>
              <a:t>Menu names move between app versions. </a:t>
            </a:r>
            <a:pPr indent="0" marL="0">
              <a:buNone/>
            </a:pPr>
            <a:r>
              <a:rPr lang="en-US" sz="1300" dirty="0">
                <a:solidFill>
                  <a:srgbClr val="FF641E"/>
                </a:solidFill>
                <a:latin typeface="Arial" pitchFamily="34" charset="0"/>
                <a:ea typeface="Arial" pitchFamily="34" charset="-122"/>
                <a:cs typeface="Arial" pitchFamily="34" charset="-120"/>
              </a:rPr>
              <a:t>Look for 'Connectors' or 'Apps' in Settings.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09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RAPID DEMO</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A clinical question, </a:t>
            </a:r>
            <a:pPr indent="0" marL="0">
              <a:buNone/>
            </a:pPr>
            <a:r>
              <a:rPr lang="en-US" sz="3000" b="1" dirty="0">
                <a:solidFill>
                  <a:srgbClr val="FF641E"/>
                </a:solidFill>
                <a:latin typeface="Arial" pitchFamily="34" charset="0"/>
                <a:ea typeface="Arial" pitchFamily="34" charset="-122"/>
                <a:cs typeface="Arial" pitchFamily="34" charset="-120"/>
              </a:rPr>
              <a:t>answered from PubMed</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10" name="Shape 7"/>
          <p:cNvSpPr/>
          <p:nvPr/>
        </p:nvSpPr>
        <p:spPr>
          <a:xfrm>
            <a:off x="548640" y="2011680"/>
            <a:ext cx="7406640" cy="4160520"/>
          </a:xfrm>
          <a:prstGeom prst="roundRect">
            <a:avLst>
              <a:gd name="adj" fmla="val 1758"/>
            </a:avLst>
          </a:prstGeom>
          <a:solidFill>
            <a:srgbClr val="141010"/>
          </a:solidFill>
          <a:ln w="12700">
            <a:solidFill>
              <a:srgbClr val="FF641E"/>
            </a:solidFill>
            <a:prstDash val="solid"/>
          </a:ln>
        </p:spPr>
      </p:sp>
      <p:sp>
        <p:nvSpPr>
          <p:cNvPr id="11" name="Shape 8"/>
          <p:cNvSpPr/>
          <p:nvPr/>
        </p:nvSpPr>
        <p:spPr>
          <a:xfrm>
            <a:off x="777240" y="2194560"/>
            <a:ext cx="4080053" cy="292608"/>
          </a:xfrm>
          <a:prstGeom prst="roundRect">
            <a:avLst>
              <a:gd name="adj" fmla="val 50000"/>
            </a:avLst>
          </a:prstGeom>
          <a:solidFill>
            <a:srgbClr val="FF641E"/>
          </a:solidFill>
          <a:ln w="12700">
            <a:solidFill>
              <a:srgbClr val="FF641E"/>
            </a:solidFill>
            <a:prstDash val="solid"/>
          </a:ln>
        </p:spPr>
      </p:sp>
      <p:sp>
        <p:nvSpPr>
          <p:cNvPr id="12" name="Text 9"/>
          <p:cNvSpPr txBox="1"/>
          <p:nvPr/>
        </p:nvSpPr>
        <p:spPr>
          <a:xfrm>
            <a:off x="777240" y="2194560"/>
            <a:ext cx="4080053" cy="292608"/>
          </a:xfrm>
          <a:prstGeom prst="rect">
            <a:avLst/>
          </a:prstGeom>
          <a:noFill/>
          <a:ln/>
        </p:spPr>
        <p:txBody>
          <a:bodyPr wrap="square" lIns="0" tIns="0" rIns="0" bIns="0" rtlCol="0" anchor="ctr"/>
          <a:lstStyle/>
          <a:p>
            <a:pPr algn="ctr" indent="0" marL="0">
              <a:buNone/>
            </a:pPr>
            <a:r>
              <a:rPr lang="en-US" sz="900" b="1" spc="200" kern="0" dirty="0">
                <a:solidFill>
                  <a:srgbClr val="0A0808"/>
                </a:solidFill>
                <a:latin typeface="Arial" pitchFamily="34" charset="0"/>
                <a:ea typeface="Arial" pitchFamily="34" charset="-122"/>
                <a:cs typeface="Arial" pitchFamily="34" charset="-120"/>
              </a:rPr>
              <a:t>PROMPT · CLAUDE + PUBMED CONNECTOR</a:t>
            </a:r>
            <a:endParaRPr lang="en-US" sz="900" dirty="0"/>
          </a:p>
        </p:txBody>
      </p:sp>
      <p:sp>
        <p:nvSpPr>
          <p:cNvPr id="13" name="Text 10"/>
          <p:cNvSpPr txBox="1"/>
          <p:nvPr/>
        </p:nvSpPr>
        <p:spPr>
          <a:xfrm>
            <a:off x="822960" y="2633472"/>
            <a:ext cx="6858000" cy="3383280"/>
          </a:xfrm>
          <a:prstGeom prst="rect">
            <a:avLst/>
          </a:prstGeom>
          <a:noFill/>
          <a:ln/>
        </p:spPr>
        <p:txBody>
          <a:bodyPr wrap="square" lIns="0" tIns="0" rIns="0" bIns="0" rtlCol="0" anchor="t"/>
          <a:lstStyle/>
          <a:p>
            <a:pPr indent="0" marL="0">
              <a:buNone/>
            </a:pPr>
            <a:r>
              <a:rPr lang="en-US" sz="1400" dirty="0">
                <a:solidFill>
                  <a:srgbClr val="FBF4EC"/>
                </a:solidFill>
                <a:latin typeface="Courier New" pitchFamily="34" charset="0"/>
                <a:ea typeface="Courier New" pitchFamily="34" charset="-122"/>
                <a:cs typeface="Courier New" pitchFamily="34" charset="-120"/>
              </a:rPr>
              <a:t>Search PubMed for randomised trials and meta-analyses from the last 5 years on </a:t>
            </a:r>
            <a:pPr indent="0" marL="0">
              <a:buNone/>
            </a:pPr>
            <a:r>
              <a:rPr lang="en-US" sz="1400" b="1" dirty="0">
                <a:solidFill>
                  <a:srgbClr val="FF641E"/>
                </a:solidFill>
                <a:latin typeface="Courier New" pitchFamily="34" charset="0"/>
                <a:ea typeface="Courier New" pitchFamily="34" charset="-122"/>
                <a:cs typeface="Courier New" pitchFamily="34" charset="-120"/>
              </a:rPr>
              <a:t>[high-flow nasal oxygen vs non-invasive ventilation in acute hypoxaemic respiratory failure]</a:t>
            </a:r>
            <a:pPr indent="0" marL="0">
              <a:buNone/>
            </a:pPr>
            <a:r>
              <a:rPr lang="en-US" sz="1400" dirty="0">
                <a:solidFill>
                  <a:srgbClr val="FBF4EC"/>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FBF4EC"/>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FBF4EC"/>
                </a:solidFill>
                <a:latin typeface="Courier New" pitchFamily="34" charset="0"/>
                <a:ea typeface="Courier New" pitchFamily="34" charset="-122"/>
                <a:cs typeface="Courier New" pitchFamily="34" charset="-120"/>
              </a:rPr>
              <a:t>For each study give: design, population, n, primary outcome, main result with effect size and 95% CI, and the PMID.</a:t>
            </a:r>
            <a:endParaRPr lang="en-US" sz="1400" dirty="0"/>
          </a:p>
          <a:p>
            <a:pPr indent="0" marL="0">
              <a:buNone/>
            </a:pPr>
            <a:r>
              <a:rPr lang="en-US" sz="1400" dirty="0">
                <a:solidFill>
                  <a:srgbClr val="FBF4EC"/>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FBF4EC"/>
                </a:solidFill>
                <a:latin typeface="Courier New" pitchFamily="34" charset="0"/>
                <a:ea typeface="Courier New" pitchFamily="34" charset="-122"/>
                <a:cs typeface="Courier New" pitchFamily="34" charset="-120"/>
              </a:rPr>
              <a:t>Then summarise what the evidence shows in 5 bullets, and say where the studies disagree.</a:t>
            </a:r>
            <a:endParaRPr lang="en-US" sz="1400" dirty="0"/>
          </a:p>
          <a:p>
            <a:pPr indent="0" marL="0">
              <a:buNone/>
            </a:pPr>
            <a:r>
              <a:rPr lang="en-US" sz="1400" dirty="0">
                <a:solidFill>
                  <a:srgbClr val="FBF4EC"/>
                </a:solidFill>
                <a:latin typeface="Courier New" pitchFamily="34" charset="0"/>
                <a:ea typeface="Courier New" pitchFamily="34" charset="-122"/>
                <a:cs typeface="Courier New" pitchFamily="34" charset="-120"/>
              </a:rPr>
              <a:t> </a:t>
            </a:r>
            <a:endParaRPr lang="en-US" sz="1400" dirty="0"/>
          </a:p>
          <a:p>
            <a:pPr indent="0" marL="0">
              <a:buNone/>
            </a:pPr>
            <a:r>
              <a:rPr lang="en-US" sz="1400" b="1" dirty="0">
                <a:solidFill>
                  <a:srgbClr val="FF641E"/>
                </a:solidFill>
                <a:latin typeface="Courier New" pitchFamily="34" charset="0"/>
                <a:ea typeface="Courier New" pitchFamily="34" charset="-122"/>
                <a:cs typeface="Courier New" pitchFamily="34" charset="-120"/>
              </a:rPr>
              <a:t>RULES:</a:t>
            </a:r>
            <a:pPr indent="0" marL="0">
              <a:buNone/>
            </a:pPr>
            <a:r>
              <a:rPr lang="en-US" sz="1400" dirty="0">
                <a:solidFill>
                  <a:srgbClr val="FBF4EC"/>
                </a:solidFill>
                <a:latin typeface="Courier New" pitchFamily="34" charset="0"/>
                <a:ea typeface="Courier New" pitchFamily="34" charset="-122"/>
                <a:cs typeface="Courier New" pitchFamily="34" charset="-120"/>
              </a:rPr>
              <a:t> Cite only papers you retrieved in this search. If a detail is not in the abstract, write </a:t>
            </a:r>
            <a:pPr indent="0" marL="0">
              <a:buNone/>
            </a:pPr>
            <a:r>
              <a:rPr lang="en-US" sz="1400" b="1" dirty="0">
                <a:solidFill>
                  <a:srgbClr val="FF641E"/>
                </a:solidFill>
                <a:latin typeface="Courier New" pitchFamily="34" charset="0"/>
                <a:ea typeface="Courier New" pitchFamily="34" charset="-122"/>
                <a:cs typeface="Courier New" pitchFamily="34" charset="-120"/>
              </a:rPr>
              <a:t>[NOT REPORTED]</a:t>
            </a:r>
            <a:pPr indent="0" marL="0">
              <a:buNone/>
            </a:pPr>
            <a:r>
              <a:rPr lang="en-US" sz="1400" dirty="0">
                <a:solidFill>
                  <a:srgbClr val="FBF4EC"/>
                </a:solidFill>
                <a:latin typeface="Courier New" pitchFamily="34" charset="0"/>
                <a:ea typeface="Courier New" pitchFamily="34" charset="-122"/>
                <a:cs typeface="Courier New" pitchFamily="34" charset="-120"/>
              </a:rPr>
              <a:t>. Do not recommend treatment for an individual patient.</a:t>
            </a:r>
            <a:endParaRPr lang="en-US" sz="1400" dirty="0"/>
          </a:p>
        </p:txBody>
      </p:sp>
      <p:sp>
        <p:nvSpPr>
          <p:cNvPr id="14" name="Text 11"/>
          <p:cNvSpPr txBox="1"/>
          <p:nvPr/>
        </p:nvSpPr>
        <p:spPr>
          <a:xfrm>
            <a:off x="8229600" y="2011680"/>
            <a:ext cx="3413455" cy="274320"/>
          </a:xfrm>
          <a:prstGeom prst="rect">
            <a:avLst/>
          </a:prstGeom>
          <a:noFill/>
          <a:ln/>
        </p:spPr>
        <p:txBody>
          <a:bodyPr wrap="square" lIns="0" tIns="0" rIns="0" bIns="0" rtlCol="0" anchor="ctr"/>
          <a:lstStyle/>
          <a:p>
            <a:pPr indent="0" marL="0">
              <a:buNone/>
            </a:pPr>
            <a:r>
              <a:rPr lang="en-US" sz="1000" b="1" spc="300" kern="0" dirty="0">
                <a:solidFill>
                  <a:srgbClr val="FF641E"/>
                </a:solidFill>
                <a:latin typeface="Arial" pitchFamily="34" charset="0"/>
                <a:ea typeface="Arial" pitchFamily="34" charset="-122"/>
                <a:cs typeface="Arial" pitchFamily="34" charset="-120"/>
              </a:rPr>
              <a:t>WHY IT WORKS</a:t>
            </a:r>
            <a:endParaRPr lang="en-US" sz="1000" dirty="0"/>
          </a:p>
        </p:txBody>
      </p:sp>
      <p:sp>
        <p:nvSpPr>
          <p:cNvPr id="15" name="Text 12"/>
          <p:cNvSpPr txBox="1"/>
          <p:nvPr/>
        </p:nvSpPr>
        <p:spPr>
          <a:xfrm>
            <a:off x="8229600" y="2377440"/>
            <a:ext cx="3413455" cy="3794760"/>
          </a:xfrm>
          <a:prstGeom prst="rect">
            <a:avLst/>
          </a:prstGeom>
          <a:noFill/>
          <a:ln/>
        </p:spPr>
        <p:txBody>
          <a:bodyPr wrap="square" lIns="0" tIns="0" rIns="0" bIns="0" rtlCol="0" anchor="t"/>
          <a:lstStyle/>
          <a:p>
            <a:pPr indent="0" marL="0">
              <a:buNone/>
            </a:pPr>
            <a:r>
              <a:rPr lang="en-US" sz="1400" b="1" dirty="0">
                <a:solidFill>
                  <a:srgbClr val="FBF4EC"/>
                </a:solidFill>
                <a:latin typeface="Arial" pitchFamily="34" charset="0"/>
                <a:ea typeface="Arial" pitchFamily="34" charset="-122"/>
                <a:cs typeface="Arial" pitchFamily="34" charset="-120"/>
              </a:rPr>
              <a:t>Scoped search</a:t>
            </a:r>
            <a:endParaRPr lang="en-US" sz="1400" dirty="0"/>
          </a:p>
          <a:p>
            <a:pPr indent="0" marL="0">
              <a:spcAft>
                <a:spcPts val="1000"/>
              </a:spcAft>
              <a:buNone/>
            </a:pPr>
            <a:r>
              <a:rPr lang="en-US" sz="1250" dirty="0">
                <a:solidFill>
                  <a:srgbClr val="A89C91"/>
                </a:solidFill>
                <a:latin typeface="Arial" pitchFamily="34" charset="0"/>
                <a:ea typeface="Arial" pitchFamily="34" charset="-122"/>
                <a:cs typeface="Arial" pitchFamily="34" charset="-120"/>
              </a:rPr>
              <a:t>Design filter and a 5-year window keep it current.</a:t>
            </a:r>
            <a:endParaRPr lang="en-US" sz="1400" dirty="0"/>
          </a:p>
          <a:p>
            <a:pPr indent="0" marL="0">
              <a:buNone/>
            </a:pPr>
            <a:r>
              <a:rPr lang="en-US" sz="1400" b="1" dirty="0">
                <a:solidFill>
                  <a:srgbClr val="FBF4EC"/>
                </a:solidFill>
                <a:latin typeface="Arial" pitchFamily="34" charset="0"/>
                <a:ea typeface="Arial" pitchFamily="34" charset="-122"/>
                <a:cs typeface="Arial" pitchFamily="34" charset="-120"/>
              </a:rPr>
              <a:t>Fixed extraction</a:t>
            </a:r>
            <a:endParaRPr lang="en-US" sz="1400" dirty="0"/>
          </a:p>
          <a:p>
            <a:pPr indent="0" marL="0">
              <a:spcAft>
                <a:spcPts val="1000"/>
              </a:spcAft>
              <a:buNone/>
            </a:pPr>
            <a:r>
              <a:rPr lang="en-US" sz="1250" dirty="0">
                <a:solidFill>
                  <a:srgbClr val="A89C91"/>
                </a:solidFill>
                <a:latin typeface="Arial" pitchFamily="34" charset="0"/>
                <a:ea typeface="Arial" pitchFamily="34" charset="-122"/>
                <a:cs typeface="Arial" pitchFamily="34" charset="-120"/>
              </a:rPr>
              <a:t>The same fields for every paper make them comparable.</a:t>
            </a:r>
            <a:endParaRPr lang="en-US" sz="1400" dirty="0"/>
          </a:p>
          <a:p>
            <a:pPr indent="0" marL="0">
              <a:buNone/>
            </a:pPr>
            <a:r>
              <a:rPr lang="en-US" sz="1400" b="1" dirty="0">
                <a:solidFill>
                  <a:srgbClr val="FBF4EC"/>
                </a:solidFill>
                <a:latin typeface="Arial" pitchFamily="34" charset="0"/>
                <a:ea typeface="Arial" pitchFamily="34" charset="-122"/>
                <a:cs typeface="Arial" pitchFamily="34" charset="-120"/>
              </a:rPr>
              <a:t>Honest gaps</a:t>
            </a:r>
            <a:endParaRPr lang="en-US" sz="1400" dirty="0"/>
          </a:p>
          <a:p>
            <a:pPr indent="0" marL="0">
              <a:spcAft>
                <a:spcPts val="1000"/>
              </a:spcAft>
              <a:buNone/>
            </a:pPr>
            <a:r>
              <a:rPr lang="en-US" sz="1250" dirty="0">
                <a:solidFill>
                  <a:srgbClr val="A89C91"/>
                </a:solidFill>
                <a:latin typeface="Arial" pitchFamily="34" charset="0"/>
                <a:ea typeface="Arial" pitchFamily="34" charset="-122"/>
                <a:cs typeface="Arial" pitchFamily="34" charset="-120"/>
              </a:rPr>
              <a:t>[NOT REPORTED] instead of an invented number.</a:t>
            </a:r>
            <a:endParaRPr lang="en-US" sz="1400" dirty="0"/>
          </a:p>
          <a:p>
            <a:pPr indent="0" marL="0">
              <a:buNone/>
            </a:pPr>
            <a:r>
              <a:rPr lang="en-US" sz="1400" b="1" dirty="0">
                <a:solidFill>
                  <a:srgbClr val="FBF4EC"/>
                </a:solidFill>
                <a:latin typeface="Arial" pitchFamily="34" charset="0"/>
                <a:ea typeface="Arial" pitchFamily="34" charset="-122"/>
                <a:cs typeface="Arial" pitchFamily="34" charset="-120"/>
              </a:rPr>
              <a:t>Your judgement stays</a:t>
            </a:r>
            <a:endParaRPr lang="en-US" sz="1400" dirty="0"/>
          </a:p>
          <a:p>
            <a:pPr indent="0" marL="0">
              <a:spcAft>
                <a:spcPts val="1000"/>
              </a:spcAft>
              <a:buNone/>
            </a:pPr>
            <a:r>
              <a:rPr lang="en-US" sz="1250" dirty="0">
                <a:solidFill>
                  <a:srgbClr val="A89C91"/>
                </a:solidFill>
                <a:latin typeface="Arial" pitchFamily="34" charset="0"/>
                <a:ea typeface="Arial" pitchFamily="34" charset="-122"/>
                <a:cs typeface="Arial" pitchFamily="34" charset="-120"/>
              </a:rPr>
              <a:t>It summarises evidence; you apply it.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10 / 19</a:t>
            </a:r>
            <a:endParaRPr lang="en-US" sz="1000" dirty="0"/>
          </a:p>
        </p:txBody>
      </p:sp>
      <p:sp>
        <p:nvSpPr>
          <p:cNvPr id="6" name="Text 3"/>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7" name="Text 4"/>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8" name="Text 5"/>
          <p:cNvSpPr txBox="1"/>
          <p:nvPr/>
        </p:nvSpPr>
        <p:spPr>
          <a:xfrm>
            <a:off x="502920" y="1097280"/>
            <a:ext cx="4572000" cy="2011680"/>
          </a:xfrm>
          <a:prstGeom prst="rect">
            <a:avLst/>
          </a:prstGeom>
          <a:noFill/>
          <a:ln/>
        </p:spPr>
        <p:txBody>
          <a:bodyPr wrap="square" lIns="0" tIns="0" rIns="0" bIns="0" rtlCol="0" anchor="t"/>
          <a:lstStyle/>
          <a:p>
            <a:pPr indent="0" marL="0">
              <a:buNone/>
            </a:pPr>
            <a:r>
              <a:rPr lang="en-US" sz="15000" b="1" dirty="0">
                <a:solidFill>
                  <a:srgbClr val="FF641E"/>
                </a:solidFill>
                <a:latin typeface="Arial" pitchFamily="34" charset="0"/>
                <a:ea typeface="Arial" pitchFamily="34" charset="-122"/>
                <a:cs typeface="Arial" pitchFamily="34" charset="-120"/>
              </a:rPr>
              <a:t>02</a:t>
            </a:r>
            <a:endParaRPr lang="en-US" sz="15000" dirty="0"/>
          </a:p>
        </p:txBody>
      </p:sp>
      <p:sp>
        <p:nvSpPr>
          <p:cNvPr id="9" name="Text 6"/>
          <p:cNvSpPr txBox="1"/>
          <p:nvPr/>
        </p:nvSpPr>
        <p:spPr>
          <a:xfrm>
            <a:off x="548640" y="3337560"/>
            <a:ext cx="10058400" cy="320040"/>
          </a:xfrm>
          <a:prstGeom prst="rect">
            <a:avLst/>
          </a:prstGeom>
          <a:noFill/>
          <a:ln/>
        </p:spPr>
        <p:txBody>
          <a:bodyPr wrap="square" lIns="0" tIns="0" rIns="0" bIns="0" rtlCol="0" anchor="ctr"/>
          <a:lstStyle/>
          <a:p>
            <a:pPr indent="0" marL="0">
              <a:buNone/>
            </a:pPr>
            <a:r>
              <a:rPr lang="en-US" sz="1200" b="1" spc="300" kern="0" dirty="0">
                <a:solidFill>
                  <a:srgbClr val="FF641E"/>
                </a:solidFill>
                <a:latin typeface="Arial" pitchFamily="34" charset="0"/>
                <a:ea typeface="Arial" pitchFamily="34" charset="-122"/>
                <a:cs typeface="Arial" pitchFamily="34" charset="-120"/>
              </a:rPr>
              <a:t>AT THE BEDSIDE</a:t>
            </a:r>
            <a:endParaRPr lang="en-US" sz="1200" dirty="0"/>
          </a:p>
        </p:txBody>
      </p:sp>
      <p:sp>
        <p:nvSpPr>
          <p:cNvPr id="10" name="Text 7"/>
          <p:cNvSpPr txBox="1"/>
          <p:nvPr/>
        </p:nvSpPr>
        <p:spPr>
          <a:xfrm>
            <a:off x="548640" y="3657600"/>
            <a:ext cx="10972800" cy="914400"/>
          </a:xfrm>
          <a:prstGeom prst="rect">
            <a:avLst/>
          </a:prstGeom>
          <a:noFill/>
          <a:ln/>
        </p:spPr>
        <p:txBody>
          <a:bodyPr wrap="square" lIns="0" tIns="0" rIns="0" bIns="0" rtlCol="0" anchor="t"/>
          <a:lstStyle/>
          <a:p>
            <a:pPr indent="0" marL="0">
              <a:buNone/>
            </a:pPr>
            <a:r>
              <a:rPr lang="en-US" sz="4400" b="1" dirty="0">
                <a:solidFill>
                  <a:srgbClr val="FBF4EC"/>
                </a:solidFill>
                <a:latin typeface="Arial" pitchFamily="34" charset="0"/>
                <a:ea typeface="Arial" pitchFamily="34" charset="-122"/>
                <a:cs typeface="Arial" pitchFamily="34" charset="-120"/>
              </a:rPr>
              <a:t>Workflows worth </a:t>
            </a:r>
            <a:pPr indent="0" marL="0">
              <a:buNone/>
            </a:pPr>
            <a:r>
              <a:rPr lang="en-US" sz="4400" b="1" dirty="0">
                <a:solidFill>
                  <a:srgbClr val="FF641E"/>
                </a:solidFill>
                <a:latin typeface="Arial" pitchFamily="34" charset="0"/>
                <a:ea typeface="Arial" pitchFamily="34" charset="-122"/>
                <a:cs typeface="Arial" pitchFamily="34" charset="-120"/>
              </a:rPr>
              <a:t>adopting this week</a:t>
            </a:r>
            <a:endParaRPr lang="en-US" sz="4400" dirty="0"/>
          </a:p>
        </p:txBody>
      </p:sp>
      <p:sp>
        <p:nvSpPr>
          <p:cNvPr id="11" name="Text 8"/>
          <p:cNvSpPr txBox="1"/>
          <p:nvPr/>
        </p:nvSpPr>
        <p:spPr>
          <a:xfrm>
            <a:off x="548640" y="4663440"/>
            <a:ext cx="9144000" cy="1005840"/>
          </a:xfrm>
          <a:prstGeom prst="rect">
            <a:avLst/>
          </a:prstGeom>
          <a:noFill/>
          <a:ln/>
        </p:spPr>
        <p:txBody>
          <a:bodyPr wrap="square" lIns="0" tIns="0" rIns="0" bIns="0" rtlCol="0" anchor="t"/>
          <a:lstStyle/>
          <a:p>
            <a:pPr indent="0" marL="0">
              <a:buNone/>
            </a:pPr>
            <a:r>
              <a:rPr lang="en-US" sz="1800" i="1" dirty="0">
                <a:solidFill>
                  <a:srgbClr val="A89C91"/>
                </a:solidFill>
                <a:latin typeface="Cambria" pitchFamily="34" charset="0"/>
                <a:ea typeface="Cambria" pitchFamily="34" charset="-122"/>
                <a:cs typeface="Cambria" pitchFamily="34" charset="-120"/>
              </a:rPr>
              <a:t>The tasks where AI already saves time: thinking wider, writing faster, explaining better.</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11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DIFFERENTIAL DIAGNOSIS</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A Claude </a:t>
            </a:r>
            <a:pPr indent="0" marL="0">
              <a:buNone/>
            </a:pPr>
            <a:r>
              <a:rPr lang="en-US" sz="3000" b="1" dirty="0">
                <a:solidFill>
                  <a:srgbClr val="FF641E"/>
                </a:solidFill>
                <a:latin typeface="Arial" pitchFamily="34" charset="0"/>
                <a:ea typeface="Arial" pitchFamily="34" charset="-122"/>
                <a:cs typeface="Arial" pitchFamily="34" charset="-120"/>
              </a:rPr>
              <a:t>Skill</a:t>
            </a:r>
            <a:pPr indent="0" marL="0">
              <a:buNone/>
            </a:pPr>
            <a:r>
              <a:rPr lang="en-US" sz="3000" b="1" dirty="0">
                <a:solidFill>
                  <a:srgbClr val="FBF4EC"/>
                </a:solidFill>
                <a:latin typeface="Arial" pitchFamily="34" charset="0"/>
                <a:ea typeface="Arial" pitchFamily="34" charset="-122"/>
                <a:cs typeface="Arial" pitchFamily="34" charset="-120"/>
              </a:rPr>
              <a:t> for the differential</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10" name="Shape 7"/>
          <p:cNvSpPr/>
          <p:nvPr/>
        </p:nvSpPr>
        <p:spPr>
          <a:xfrm>
            <a:off x="548640" y="2011680"/>
            <a:ext cx="7406640" cy="3474720"/>
          </a:xfrm>
          <a:prstGeom prst="roundRect">
            <a:avLst>
              <a:gd name="adj" fmla="val 2105"/>
            </a:avLst>
          </a:prstGeom>
          <a:solidFill>
            <a:srgbClr val="141010"/>
          </a:solidFill>
          <a:ln w="12700">
            <a:solidFill>
              <a:srgbClr val="FF641E"/>
            </a:solidFill>
            <a:prstDash val="solid"/>
          </a:ln>
        </p:spPr>
      </p:sp>
      <p:sp>
        <p:nvSpPr>
          <p:cNvPr id="11" name="Shape 8"/>
          <p:cNvSpPr/>
          <p:nvPr/>
        </p:nvSpPr>
        <p:spPr>
          <a:xfrm>
            <a:off x="777240" y="2194560"/>
            <a:ext cx="4835347" cy="292608"/>
          </a:xfrm>
          <a:prstGeom prst="roundRect">
            <a:avLst>
              <a:gd name="adj" fmla="val 50000"/>
            </a:avLst>
          </a:prstGeom>
          <a:solidFill>
            <a:srgbClr val="FF641E"/>
          </a:solidFill>
          <a:ln w="12700">
            <a:solidFill>
              <a:srgbClr val="FF641E"/>
            </a:solidFill>
            <a:prstDash val="solid"/>
          </a:ln>
        </p:spPr>
      </p:sp>
      <p:sp>
        <p:nvSpPr>
          <p:cNvPr id="12" name="Text 9"/>
          <p:cNvSpPr txBox="1"/>
          <p:nvPr/>
        </p:nvSpPr>
        <p:spPr>
          <a:xfrm>
            <a:off x="777240" y="2194560"/>
            <a:ext cx="4835347" cy="292608"/>
          </a:xfrm>
          <a:prstGeom prst="rect">
            <a:avLst/>
          </a:prstGeom>
          <a:noFill/>
          <a:ln/>
        </p:spPr>
        <p:txBody>
          <a:bodyPr wrap="square" lIns="0" tIns="0" rIns="0" bIns="0" rtlCol="0" anchor="ctr"/>
          <a:lstStyle/>
          <a:p>
            <a:pPr algn="ctr" indent="0" marL="0">
              <a:buNone/>
            </a:pPr>
            <a:r>
              <a:rPr lang="en-US" sz="900" b="1" spc="200" kern="0" dirty="0">
                <a:solidFill>
                  <a:srgbClr val="0A0808"/>
                </a:solidFill>
                <a:latin typeface="Arial" pitchFamily="34" charset="0"/>
                <a:ea typeface="Arial" pitchFamily="34" charset="-122"/>
                <a:cs typeface="Arial" pitchFamily="34" charset="-120"/>
              </a:rPr>
              <a:t>SAVED AS A CLAUDE SKILL · RUNS EVERY TIME</a:t>
            </a:r>
            <a:endParaRPr lang="en-US" sz="900" dirty="0"/>
          </a:p>
        </p:txBody>
      </p:sp>
      <p:sp>
        <p:nvSpPr>
          <p:cNvPr id="13" name="Text 10"/>
          <p:cNvSpPr txBox="1"/>
          <p:nvPr/>
        </p:nvSpPr>
        <p:spPr>
          <a:xfrm>
            <a:off x="822960" y="2633472"/>
            <a:ext cx="6858000" cy="2697480"/>
          </a:xfrm>
          <a:prstGeom prst="rect">
            <a:avLst/>
          </a:prstGeom>
          <a:noFill/>
          <a:ln/>
        </p:spPr>
        <p:txBody>
          <a:bodyPr wrap="square" lIns="0" tIns="0" rIns="0" bIns="0" rtlCol="0" anchor="t"/>
          <a:lstStyle/>
          <a:p>
            <a:pPr indent="0" marL="0">
              <a:buNone/>
            </a:pPr>
            <a:r>
              <a:rPr lang="en-US" sz="1300" b="1" dirty="0">
                <a:solidFill>
                  <a:srgbClr val="FF641E"/>
                </a:solidFill>
                <a:latin typeface="Courier New" pitchFamily="34" charset="0"/>
                <a:ea typeface="Courier New" pitchFamily="34" charset="-122"/>
                <a:cs typeface="Courier New" pitchFamily="34" charset="-120"/>
              </a:rPr>
              <a:t>ROLE:</a:t>
            </a:r>
            <a:pPr indent="0" marL="0">
              <a:buNone/>
            </a:pPr>
            <a:r>
              <a:rPr lang="en-US" sz="1300" dirty="0">
                <a:solidFill>
                  <a:srgbClr val="FBF4EC"/>
                </a:solidFill>
                <a:latin typeface="Courier New" pitchFamily="34" charset="0"/>
                <a:ea typeface="Courier New" pitchFamily="34" charset="-122"/>
                <a:cs typeface="Courier New" pitchFamily="34" charset="-120"/>
              </a:rPr>
              <a:t> Senior physician teaching diagnostic reasoning.</a:t>
            </a:r>
            <a:endParaRPr lang="en-US" sz="1300" dirty="0"/>
          </a:p>
          <a:p>
            <a:pPr indent="0" marL="0">
              <a:buNone/>
            </a:pPr>
            <a:r>
              <a:rPr lang="en-US" sz="1300" b="1" dirty="0">
                <a:solidFill>
                  <a:srgbClr val="FF641E"/>
                </a:solidFill>
                <a:latin typeface="Courier New" pitchFamily="34" charset="0"/>
                <a:ea typeface="Courier New" pitchFamily="34" charset="-122"/>
                <a:cs typeface="Courier New" pitchFamily="34" charset="-120"/>
              </a:rPr>
              <a:t>INPUT:</a:t>
            </a:r>
            <a:pPr indent="0" marL="0">
              <a:buNone/>
            </a:pPr>
            <a:r>
              <a:rPr lang="en-US" sz="1300" dirty="0">
                <a:solidFill>
                  <a:srgbClr val="FBF4EC"/>
                </a:solidFill>
                <a:latin typeface="Courier New" pitchFamily="34" charset="0"/>
                <a:ea typeface="Courier New" pitchFamily="34" charset="-122"/>
                <a:cs typeface="Courier New" pitchFamily="34" charset="-120"/>
              </a:rPr>
              <a:t> De-identified case: </a:t>
            </a:r>
            <a:pPr indent="0" marL="0">
              <a:buNone/>
            </a:pPr>
            <a:r>
              <a:rPr lang="en-US" sz="1300" b="1" dirty="0">
                <a:solidFill>
                  <a:srgbClr val="FF641E"/>
                </a:solidFill>
                <a:latin typeface="Courier New" pitchFamily="34" charset="0"/>
                <a:ea typeface="Courier New" pitchFamily="34" charset="-122"/>
                <a:cs typeface="Courier New" pitchFamily="34" charset="-120"/>
              </a:rPr>
              <a:t>[age, sex, presenting complaint, duration, key positives and negatives, vitals, labs, imaging]</a:t>
            </a:r>
            <a:pPr indent="0" marL="0">
              <a:buNone/>
            </a:pPr>
            <a:r>
              <a:rPr lang="en-US" sz="1300" dirty="0">
                <a:solidFill>
                  <a:srgbClr val="FBF4EC"/>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BF4EC"/>
                </a:solidFill>
                <a:latin typeface="Courier New" pitchFamily="34" charset="0"/>
                <a:ea typeface="Courier New" pitchFamily="34" charset="-122"/>
                <a:cs typeface="Courier New" pitchFamily="34" charset="-120"/>
              </a:rPr>
              <a:t> </a:t>
            </a:r>
            <a:endParaRPr lang="en-US" sz="1300" dirty="0"/>
          </a:p>
          <a:p>
            <a:pPr indent="0" marL="0">
              <a:buNone/>
            </a:pPr>
            <a:r>
              <a:rPr lang="en-US" sz="1300" b="1" dirty="0">
                <a:solidFill>
                  <a:srgbClr val="FF641E"/>
                </a:solidFill>
                <a:latin typeface="Courier New" pitchFamily="34" charset="0"/>
                <a:ea typeface="Courier New" pitchFamily="34" charset="-122"/>
                <a:cs typeface="Courier New" pitchFamily="34" charset="-120"/>
              </a:rPr>
              <a:t>STEPS:</a:t>
            </a:r>
            <a:endParaRPr lang="en-US" sz="1300" dirty="0"/>
          </a:p>
          <a:p>
            <a:pPr indent="0" marL="0">
              <a:buNone/>
            </a:pPr>
            <a:r>
              <a:rPr lang="en-US" sz="1300" dirty="0">
                <a:solidFill>
                  <a:srgbClr val="FBF4EC"/>
                </a:solidFill>
                <a:latin typeface="Courier New" pitchFamily="34" charset="0"/>
                <a:ea typeface="Courier New" pitchFamily="34" charset="-122"/>
                <a:cs typeface="Courier New" pitchFamily="34" charset="-120"/>
              </a:rPr>
              <a:t>1. One-line problem representation.</a:t>
            </a:r>
            <a:endParaRPr lang="en-US" sz="1300" dirty="0"/>
          </a:p>
          <a:p>
            <a:pPr indent="0" marL="0">
              <a:buNone/>
            </a:pPr>
            <a:r>
              <a:rPr lang="en-US" sz="1300" dirty="0">
                <a:solidFill>
                  <a:srgbClr val="FBF4EC"/>
                </a:solidFill>
                <a:latin typeface="Courier New" pitchFamily="34" charset="0"/>
                <a:ea typeface="Courier New" pitchFamily="34" charset="-122"/>
                <a:cs typeface="Courier New" pitchFamily="34" charset="-120"/>
              </a:rPr>
              <a:t>2. Prioritised differential: most likely, and the can't-miss diagnoses.</a:t>
            </a:r>
            <a:endParaRPr lang="en-US" sz="1300" dirty="0"/>
          </a:p>
          <a:p>
            <a:pPr indent="0" marL="0">
              <a:buNone/>
            </a:pPr>
            <a:r>
              <a:rPr lang="en-US" sz="1300" dirty="0">
                <a:solidFill>
                  <a:srgbClr val="FBF4EC"/>
                </a:solidFill>
                <a:latin typeface="Courier New" pitchFamily="34" charset="0"/>
                <a:ea typeface="Courier New" pitchFamily="34" charset="-122"/>
                <a:cs typeface="Courier New" pitchFamily="34" charset="-120"/>
              </a:rPr>
              <a:t>3. For each: findings for, findings against.</a:t>
            </a:r>
            <a:endParaRPr lang="en-US" sz="1300" dirty="0"/>
          </a:p>
          <a:p>
            <a:pPr indent="0" marL="0">
              <a:buNone/>
            </a:pPr>
            <a:r>
              <a:rPr lang="en-US" sz="1300" dirty="0">
                <a:solidFill>
                  <a:srgbClr val="FBF4EC"/>
                </a:solidFill>
                <a:latin typeface="Courier New" pitchFamily="34" charset="0"/>
                <a:ea typeface="Courier New" pitchFamily="34" charset="-122"/>
                <a:cs typeface="Courier New" pitchFamily="34" charset="-120"/>
              </a:rPr>
              <a:t>4. The next 3 tests that best separate them, and why.</a:t>
            </a:r>
            <a:endParaRPr lang="en-US" sz="1300" dirty="0"/>
          </a:p>
          <a:p>
            <a:pPr indent="0" marL="0">
              <a:buNone/>
            </a:pPr>
            <a:r>
              <a:rPr lang="en-US" sz="1300" dirty="0">
                <a:solidFill>
                  <a:srgbClr val="FBF4EC"/>
                </a:solidFill>
                <a:latin typeface="Courier New" pitchFamily="34" charset="0"/>
                <a:ea typeface="Courier New" pitchFamily="34" charset="-122"/>
                <a:cs typeface="Courier New" pitchFamily="34" charset="-120"/>
              </a:rPr>
              <a:t>5. Red flags that need action now.</a:t>
            </a:r>
            <a:endParaRPr lang="en-US" sz="1300" dirty="0"/>
          </a:p>
          <a:p>
            <a:pPr indent="0" marL="0">
              <a:buNone/>
            </a:pPr>
            <a:r>
              <a:rPr lang="en-US" sz="1300" dirty="0">
                <a:solidFill>
                  <a:srgbClr val="FBF4EC"/>
                </a:solidFill>
                <a:latin typeface="Courier New" pitchFamily="34" charset="0"/>
                <a:ea typeface="Courier New" pitchFamily="34" charset="-122"/>
                <a:cs typeface="Courier New" pitchFamily="34" charset="-120"/>
              </a:rPr>
              <a:t> </a:t>
            </a:r>
            <a:endParaRPr lang="en-US" sz="1300" dirty="0"/>
          </a:p>
          <a:p>
            <a:pPr indent="0" marL="0">
              <a:buNone/>
            </a:pPr>
            <a:r>
              <a:rPr lang="en-US" sz="1300" b="1" dirty="0">
                <a:solidFill>
                  <a:srgbClr val="FF641E"/>
                </a:solidFill>
                <a:latin typeface="Courier New" pitchFamily="34" charset="0"/>
                <a:ea typeface="Courier New" pitchFamily="34" charset="-122"/>
                <a:cs typeface="Courier New" pitchFamily="34" charset="-120"/>
              </a:rPr>
              <a:t>RULES:</a:t>
            </a:r>
            <a:pPr indent="0" marL="0">
              <a:buNone/>
            </a:pPr>
            <a:r>
              <a:rPr lang="en-US" sz="1300" dirty="0">
                <a:solidFill>
                  <a:srgbClr val="FBF4EC"/>
                </a:solidFill>
                <a:latin typeface="Courier New" pitchFamily="34" charset="0"/>
                <a:ea typeface="Courier New" pitchFamily="34" charset="-122"/>
                <a:cs typeface="Courier New" pitchFamily="34" charset="-120"/>
              </a:rPr>
              <a:t> Mark guideline thresholds </a:t>
            </a:r>
            <a:pPr indent="0" marL="0">
              <a:buNone/>
            </a:pPr>
            <a:r>
              <a:rPr lang="en-US" sz="1300" b="1" dirty="0">
                <a:solidFill>
                  <a:srgbClr val="FF641E"/>
                </a:solidFill>
                <a:latin typeface="Courier New" pitchFamily="34" charset="0"/>
                <a:ea typeface="Courier New" pitchFamily="34" charset="-122"/>
                <a:cs typeface="Courier New" pitchFamily="34" charset="-120"/>
              </a:rPr>
              <a:t>[VERIFY]</a:t>
            </a:r>
            <a:pPr indent="0" marL="0">
              <a:buNone/>
            </a:pPr>
            <a:r>
              <a:rPr lang="en-US" sz="1300" dirty="0">
                <a:solidFill>
                  <a:srgbClr val="FBF4EC"/>
                </a:solidFill>
                <a:latin typeface="Courier New" pitchFamily="34" charset="0"/>
                <a:ea typeface="Courier New" pitchFamily="34" charset="-122"/>
                <a:cs typeface="Courier New" pitchFamily="34" charset="-120"/>
              </a:rPr>
              <a:t>. Say what information would change the ranking.</a:t>
            </a:r>
            <a:endParaRPr lang="en-US" sz="1300" dirty="0"/>
          </a:p>
        </p:txBody>
      </p:sp>
      <p:sp>
        <p:nvSpPr>
          <p:cNvPr id="14" name="Text 11"/>
          <p:cNvSpPr txBox="1"/>
          <p:nvPr/>
        </p:nvSpPr>
        <p:spPr>
          <a:xfrm>
            <a:off x="8229600" y="2011680"/>
            <a:ext cx="3413455" cy="274320"/>
          </a:xfrm>
          <a:prstGeom prst="rect">
            <a:avLst/>
          </a:prstGeom>
          <a:noFill/>
          <a:ln/>
        </p:spPr>
        <p:txBody>
          <a:bodyPr wrap="square" lIns="0" tIns="0" rIns="0" bIns="0" rtlCol="0" anchor="ctr"/>
          <a:lstStyle/>
          <a:p>
            <a:pPr indent="0" marL="0">
              <a:buNone/>
            </a:pPr>
            <a:r>
              <a:rPr lang="en-US" sz="1000" b="1" spc="300" kern="0" dirty="0">
                <a:solidFill>
                  <a:srgbClr val="FF641E"/>
                </a:solidFill>
                <a:latin typeface="Arial" pitchFamily="34" charset="0"/>
                <a:ea typeface="Arial" pitchFamily="34" charset="-122"/>
                <a:cs typeface="Arial" pitchFamily="34" charset="-120"/>
              </a:rPr>
              <a:t>WHY IT WORKS</a:t>
            </a:r>
            <a:endParaRPr lang="en-US" sz="1000" dirty="0"/>
          </a:p>
        </p:txBody>
      </p:sp>
      <p:sp>
        <p:nvSpPr>
          <p:cNvPr id="15" name="Text 12"/>
          <p:cNvSpPr txBox="1"/>
          <p:nvPr/>
        </p:nvSpPr>
        <p:spPr>
          <a:xfrm>
            <a:off x="8229600" y="2377440"/>
            <a:ext cx="3413455" cy="3108960"/>
          </a:xfrm>
          <a:prstGeom prst="rect">
            <a:avLst/>
          </a:prstGeom>
          <a:noFill/>
          <a:ln/>
        </p:spPr>
        <p:txBody>
          <a:bodyPr wrap="square" lIns="0" tIns="0" rIns="0" bIns="0" rtlCol="0" anchor="t"/>
          <a:lstStyle/>
          <a:p>
            <a:pPr indent="0" marL="0">
              <a:buNone/>
            </a:pPr>
            <a:r>
              <a:rPr lang="en-US" sz="1400" b="1" dirty="0">
                <a:solidFill>
                  <a:srgbClr val="FBF4EC"/>
                </a:solidFill>
                <a:latin typeface="Arial" pitchFamily="34" charset="0"/>
                <a:ea typeface="Arial" pitchFamily="34" charset="-122"/>
                <a:cs typeface="Arial" pitchFamily="34" charset="-120"/>
              </a:rPr>
              <a:t>What a Skill is</a:t>
            </a:r>
            <a:endParaRPr lang="en-US" sz="1400" dirty="0"/>
          </a:p>
          <a:p>
            <a:pPr indent="0" marL="0">
              <a:spcAft>
                <a:spcPts val="1000"/>
              </a:spcAft>
              <a:buNone/>
            </a:pPr>
            <a:r>
              <a:rPr lang="en-US" sz="1250" dirty="0">
                <a:solidFill>
                  <a:srgbClr val="A89C91"/>
                </a:solidFill>
                <a:latin typeface="Arial" pitchFamily="34" charset="0"/>
                <a:ea typeface="Arial" pitchFamily="34" charset="-122"/>
                <a:cs typeface="Arial" pitchFamily="34" charset="-120"/>
              </a:rPr>
              <a:t>Saved instructions Claude loads automatically whenever the task fits.</a:t>
            </a:r>
            <a:endParaRPr lang="en-US" sz="1400" dirty="0"/>
          </a:p>
          <a:p>
            <a:pPr indent="0" marL="0">
              <a:buNone/>
            </a:pPr>
            <a:r>
              <a:rPr lang="en-US" sz="1400" b="1" dirty="0">
                <a:solidFill>
                  <a:srgbClr val="FBF4EC"/>
                </a:solidFill>
                <a:latin typeface="Arial" pitchFamily="34" charset="0"/>
                <a:ea typeface="Arial" pitchFamily="34" charset="-122"/>
                <a:cs typeface="Arial" pitchFamily="34" charset="-120"/>
              </a:rPr>
              <a:t>Same structure, every case</a:t>
            </a:r>
            <a:endParaRPr lang="en-US" sz="1400" dirty="0"/>
          </a:p>
          <a:p>
            <a:pPr indent="0" marL="0">
              <a:spcAft>
                <a:spcPts val="1000"/>
              </a:spcAft>
              <a:buNone/>
            </a:pPr>
            <a:r>
              <a:rPr lang="en-US" sz="1250" dirty="0">
                <a:solidFill>
                  <a:srgbClr val="A89C91"/>
                </a:solidFill>
                <a:latin typeface="Arial" pitchFamily="34" charset="0"/>
                <a:ea typeface="Arial" pitchFamily="34" charset="-122"/>
                <a:cs typeface="Arial" pitchFamily="34" charset="-120"/>
              </a:rPr>
              <a:t>No re-typing the prompt on a busy ward.</a:t>
            </a:r>
            <a:endParaRPr lang="en-US" sz="1400" dirty="0"/>
          </a:p>
          <a:p>
            <a:pPr indent="0" marL="0">
              <a:buNone/>
            </a:pPr>
            <a:r>
              <a:rPr lang="en-US" sz="1400" b="1" dirty="0">
                <a:solidFill>
                  <a:srgbClr val="FBF4EC"/>
                </a:solidFill>
                <a:latin typeface="Arial" pitchFamily="34" charset="0"/>
                <a:ea typeface="Arial" pitchFamily="34" charset="-122"/>
                <a:cs typeface="Arial" pitchFamily="34" charset="-120"/>
              </a:rPr>
              <a:t>Built-in safety</a:t>
            </a:r>
            <a:endParaRPr lang="en-US" sz="1400" dirty="0"/>
          </a:p>
          <a:p>
            <a:pPr indent="0" marL="0">
              <a:spcAft>
                <a:spcPts val="1000"/>
              </a:spcAft>
              <a:buNone/>
            </a:pPr>
            <a:r>
              <a:rPr lang="en-US" sz="1250" dirty="0">
                <a:solidFill>
                  <a:srgbClr val="A89C91"/>
                </a:solidFill>
                <a:latin typeface="Arial" pitchFamily="34" charset="0"/>
                <a:ea typeface="Arial" pitchFamily="34" charset="-122"/>
                <a:cs typeface="Arial" pitchFamily="34" charset="-120"/>
              </a:rPr>
              <a:t>Can't-miss diagnoses and red flags are always listed.</a:t>
            </a:r>
            <a:endParaRPr lang="en-US" sz="1400" dirty="0"/>
          </a:p>
          <a:p>
            <a:pPr indent="0" marL="0">
              <a:buNone/>
            </a:pPr>
            <a:r>
              <a:rPr lang="en-US" sz="1400" b="1" dirty="0">
                <a:solidFill>
                  <a:srgbClr val="FBF4EC"/>
                </a:solidFill>
                <a:latin typeface="Arial" pitchFamily="34" charset="0"/>
                <a:ea typeface="Arial" pitchFamily="34" charset="-122"/>
                <a:cs typeface="Arial" pitchFamily="34" charset="-120"/>
              </a:rPr>
              <a:t>Decision support only</a:t>
            </a:r>
            <a:endParaRPr lang="en-US" sz="1400" dirty="0"/>
          </a:p>
          <a:p>
            <a:pPr indent="0" marL="0">
              <a:spcAft>
                <a:spcPts val="1000"/>
              </a:spcAft>
              <a:buNone/>
            </a:pPr>
            <a:r>
              <a:rPr lang="en-US" sz="1250" dirty="0">
                <a:solidFill>
                  <a:srgbClr val="A89C91"/>
                </a:solidFill>
                <a:latin typeface="Arial" pitchFamily="34" charset="0"/>
                <a:ea typeface="Arial" pitchFamily="34" charset="-122"/>
                <a:cs typeface="Arial" pitchFamily="34" charset="-120"/>
              </a:rPr>
              <a:t>You examine the patient and decide.</a:t>
            </a:r>
            <a:endParaRPr lang="en-US" sz="1400" dirty="0"/>
          </a:p>
        </p:txBody>
      </p:sp>
      <p:sp>
        <p:nvSpPr>
          <p:cNvPr id="16" name="Shape 13"/>
          <p:cNvSpPr/>
          <p:nvPr/>
        </p:nvSpPr>
        <p:spPr>
          <a:xfrm>
            <a:off x="548640" y="5623560"/>
            <a:ext cx="11094415" cy="530352"/>
          </a:xfrm>
          <a:prstGeom prst="roundRect">
            <a:avLst>
              <a:gd name="adj" fmla="val 13793"/>
            </a:avLst>
          </a:prstGeom>
          <a:solidFill>
            <a:srgbClr val="3A1E12"/>
          </a:solidFill>
          <a:ln w="12700">
            <a:solidFill>
              <a:srgbClr val="3A1E12"/>
            </a:solidFill>
            <a:prstDash val="solid"/>
          </a:ln>
        </p:spPr>
      </p:sp>
      <p:sp>
        <p:nvSpPr>
          <p:cNvPr id="17" name="Text 14"/>
          <p:cNvSpPr txBox="1"/>
          <p:nvPr/>
        </p:nvSpPr>
        <p:spPr>
          <a:xfrm>
            <a:off x="777240" y="5623560"/>
            <a:ext cx="10637215" cy="530352"/>
          </a:xfrm>
          <a:prstGeom prst="rect">
            <a:avLst/>
          </a:prstGeom>
          <a:noFill/>
          <a:ln/>
        </p:spPr>
        <p:txBody>
          <a:bodyPr wrap="square" lIns="0" tIns="0" rIns="0" bIns="0" rtlCol="0" anchor="ctr"/>
          <a:lstStyle/>
          <a:p>
            <a:pPr indent="0" marL="0">
              <a:buNone/>
            </a:pPr>
            <a:r>
              <a:rPr lang="en-US" sz="1300" dirty="0">
                <a:solidFill>
                  <a:srgbClr val="FBF4EC"/>
                </a:solidFill>
                <a:latin typeface="Arial" pitchFamily="34" charset="0"/>
                <a:ea typeface="Arial" pitchFamily="34" charset="-122"/>
                <a:cs typeface="Arial" pitchFamily="34" charset="-120"/>
              </a:rPr>
              <a:t>Create one: </a:t>
            </a:r>
            <a:pPr indent="0" marL="0">
              <a:buNone/>
            </a:pPr>
            <a:r>
              <a:rPr lang="en-US" sz="1300" dirty="0">
                <a:solidFill>
                  <a:srgbClr val="FF641E"/>
                </a:solidFill>
                <a:latin typeface="Arial" pitchFamily="34" charset="0"/>
                <a:ea typeface="Arial" pitchFamily="34" charset="-122"/>
                <a:cs typeface="Arial" pitchFamily="34" charset="-120"/>
              </a:rPr>
              <a:t>Settings → Capabilities → Skills,</a:t>
            </a:r>
            <a:pPr indent="0" marL="0">
              <a:buNone/>
            </a:pPr>
            <a:r>
              <a:rPr lang="en-US" sz="1300" dirty="0">
                <a:solidFill>
                  <a:srgbClr val="FBF4EC"/>
                </a:solidFill>
                <a:latin typeface="Arial" pitchFamily="34" charset="0"/>
                <a:ea typeface="Arial" pitchFamily="34" charset="-122"/>
                <a:cs typeface="Arial" pitchFamily="34" charset="-120"/>
              </a:rPr>
              <a:t> or ask Claude to 'turn this prompt into a skill'.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12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DOCUMENTATION</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Discharge summary in </a:t>
            </a:r>
            <a:pPr indent="0" marL="0">
              <a:buNone/>
            </a:pPr>
            <a:r>
              <a:rPr lang="en-US" sz="3000" b="1" dirty="0">
                <a:solidFill>
                  <a:srgbClr val="FF641E"/>
                </a:solidFill>
                <a:latin typeface="Arial" pitchFamily="34" charset="0"/>
                <a:ea typeface="Arial" pitchFamily="34" charset="-122"/>
                <a:cs typeface="Arial" pitchFamily="34" charset="-120"/>
              </a:rPr>
              <a:t>minutes, not an hour</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10" name="Shape 7"/>
          <p:cNvSpPr/>
          <p:nvPr/>
        </p:nvSpPr>
        <p:spPr>
          <a:xfrm>
            <a:off x="548640" y="2011680"/>
            <a:ext cx="7406640" cy="4160520"/>
          </a:xfrm>
          <a:prstGeom prst="roundRect">
            <a:avLst>
              <a:gd name="adj" fmla="val 1758"/>
            </a:avLst>
          </a:prstGeom>
          <a:solidFill>
            <a:srgbClr val="141010"/>
          </a:solidFill>
          <a:ln w="12700">
            <a:solidFill>
              <a:srgbClr val="FF641E"/>
            </a:solidFill>
            <a:prstDash val="solid"/>
          </a:ln>
        </p:spPr>
      </p:sp>
      <p:sp>
        <p:nvSpPr>
          <p:cNvPr id="11" name="Shape 8"/>
          <p:cNvSpPr/>
          <p:nvPr/>
        </p:nvSpPr>
        <p:spPr>
          <a:xfrm>
            <a:off x="777240" y="2194560"/>
            <a:ext cx="3216859" cy="292608"/>
          </a:xfrm>
          <a:prstGeom prst="roundRect">
            <a:avLst>
              <a:gd name="adj" fmla="val 50000"/>
            </a:avLst>
          </a:prstGeom>
          <a:solidFill>
            <a:srgbClr val="FF641E"/>
          </a:solidFill>
          <a:ln w="12700">
            <a:solidFill>
              <a:srgbClr val="FF641E"/>
            </a:solidFill>
            <a:prstDash val="solid"/>
          </a:ln>
        </p:spPr>
      </p:sp>
      <p:sp>
        <p:nvSpPr>
          <p:cNvPr id="12" name="Text 9"/>
          <p:cNvSpPr txBox="1"/>
          <p:nvPr/>
        </p:nvSpPr>
        <p:spPr>
          <a:xfrm>
            <a:off x="777240" y="2194560"/>
            <a:ext cx="3216859" cy="292608"/>
          </a:xfrm>
          <a:prstGeom prst="rect">
            <a:avLst/>
          </a:prstGeom>
          <a:noFill/>
          <a:ln/>
        </p:spPr>
        <p:txBody>
          <a:bodyPr wrap="square" lIns="0" tIns="0" rIns="0" bIns="0" rtlCol="0" anchor="ctr"/>
          <a:lstStyle/>
          <a:p>
            <a:pPr algn="ctr" indent="0" marL="0">
              <a:buNone/>
            </a:pPr>
            <a:r>
              <a:rPr lang="en-US" sz="900" b="1" spc="200" kern="0" dirty="0">
                <a:solidFill>
                  <a:srgbClr val="0A0808"/>
                </a:solidFill>
                <a:latin typeface="Arial" pitchFamily="34" charset="0"/>
                <a:ea typeface="Arial" pitchFamily="34" charset="-122"/>
                <a:cs typeface="Arial" pitchFamily="34" charset="-120"/>
              </a:rPr>
              <a:t>PROMPT · DISCHARGE SUMMARY</a:t>
            </a:r>
            <a:endParaRPr lang="en-US" sz="900" dirty="0"/>
          </a:p>
        </p:txBody>
      </p:sp>
      <p:sp>
        <p:nvSpPr>
          <p:cNvPr id="13" name="Text 10"/>
          <p:cNvSpPr txBox="1"/>
          <p:nvPr/>
        </p:nvSpPr>
        <p:spPr>
          <a:xfrm>
            <a:off x="822960" y="2633472"/>
            <a:ext cx="6858000" cy="3383280"/>
          </a:xfrm>
          <a:prstGeom prst="rect">
            <a:avLst/>
          </a:prstGeom>
          <a:noFill/>
          <a:ln/>
        </p:spPr>
        <p:txBody>
          <a:bodyPr wrap="square" lIns="0" tIns="0" rIns="0" bIns="0" rtlCol="0" anchor="t"/>
          <a:lstStyle/>
          <a:p>
            <a:pPr indent="0" marL="0">
              <a:buNone/>
            </a:pPr>
            <a:r>
              <a:rPr lang="en-US" sz="1250" dirty="0">
                <a:solidFill>
                  <a:srgbClr val="FBF4EC"/>
                </a:solidFill>
                <a:latin typeface="Courier New" pitchFamily="34" charset="0"/>
                <a:ea typeface="Courier New" pitchFamily="34" charset="-122"/>
                <a:cs typeface="Courier New" pitchFamily="34" charset="-120"/>
              </a:rPr>
              <a:t>Act as a senior resident writing a discharge summary for a </a:t>
            </a:r>
            <a:pPr indent="0" marL="0">
              <a:buNone/>
            </a:pPr>
            <a:r>
              <a:rPr lang="en-US" sz="1250" b="1" dirty="0">
                <a:solidFill>
                  <a:srgbClr val="FF641E"/>
                </a:solidFill>
                <a:latin typeface="Courier New" pitchFamily="34" charset="0"/>
                <a:ea typeface="Courier New" pitchFamily="34" charset="-122"/>
                <a:cs typeface="Courier New" pitchFamily="34" charset="-120"/>
              </a:rPr>
              <a:t>[government teaching hospital]</a:t>
            </a:r>
            <a:pPr indent="0" marL="0">
              <a:buNone/>
            </a:pPr>
            <a:r>
              <a:rPr lang="en-US" sz="1250" dirty="0">
                <a:solidFill>
                  <a:srgbClr val="FBF4EC"/>
                </a:solidFill>
                <a:latin typeface="Courier New" pitchFamily="34" charset="0"/>
                <a:ea typeface="Courier New" pitchFamily="34" charset="-122"/>
                <a:cs typeface="Courier New" pitchFamily="34" charset="-120"/>
              </a:rPr>
              <a:t> in </a:t>
            </a:r>
            <a:pPr indent="0" marL="0">
              <a:buNone/>
            </a:pPr>
            <a:r>
              <a:rPr lang="en-US" sz="1250" b="1" dirty="0">
                <a:solidFill>
                  <a:srgbClr val="FF641E"/>
                </a:solidFill>
                <a:latin typeface="Courier New" pitchFamily="34" charset="0"/>
                <a:ea typeface="Courier New" pitchFamily="34" charset="-122"/>
                <a:cs typeface="Courier New" pitchFamily="34" charset="-120"/>
              </a:rPr>
              <a:t>[India]</a:t>
            </a:r>
            <a:pPr indent="0" marL="0">
              <a:buNone/>
            </a:pPr>
            <a:r>
              <a:rPr lang="en-US" sz="1250" dirty="0">
                <a:solidFill>
                  <a:srgbClr val="FBF4EC"/>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FBF4EC"/>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FBF4EC"/>
                </a:solidFill>
                <a:latin typeface="Courier New" pitchFamily="34" charset="0"/>
                <a:ea typeface="Courier New" pitchFamily="34" charset="-122"/>
                <a:cs typeface="Courier New" pitchFamily="34" charset="-120"/>
              </a:rPr>
              <a:t>MATERIAL (de-identified): </a:t>
            </a:r>
            <a:pPr indent="0" marL="0">
              <a:buNone/>
            </a:pPr>
            <a:r>
              <a:rPr lang="en-US" sz="1250" b="1" dirty="0">
                <a:solidFill>
                  <a:srgbClr val="FF641E"/>
                </a:solidFill>
                <a:latin typeface="Courier New" pitchFamily="34" charset="0"/>
                <a:ea typeface="Courier New" pitchFamily="34" charset="-122"/>
                <a:cs typeface="Courier New" pitchFamily="34" charset="-120"/>
              </a:rPr>
              <a:t>[paste admission notes, daily progress, key labs and imaging, procedures, discharge medications]</a:t>
            </a:r>
            <a:endParaRPr lang="en-US" sz="1250" dirty="0"/>
          </a:p>
          <a:p>
            <a:pPr indent="0" marL="0">
              <a:buNone/>
            </a:pPr>
            <a:r>
              <a:rPr lang="en-US" sz="1250" dirty="0">
                <a:solidFill>
                  <a:srgbClr val="FBF4EC"/>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FBF4EC"/>
                </a:solidFill>
                <a:latin typeface="Courier New" pitchFamily="34" charset="0"/>
                <a:ea typeface="Courier New" pitchFamily="34" charset="-122"/>
                <a:cs typeface="Courier New" pitchFamily="34" charset="-120"/>
              </a:rPr>
              <a:t>Write it under these headings: diagnosis; presenting complaint; course in hospital; key investigations (with dates as Day 1, Day 2…); procedures; condition at discharge; discharge medications (name, dose, frequency, duration); follow-up and red-flag symptoms for the patient.</a:t>
            </a:r>
            <a:endParaRPr lang="en-US" sz="1250" dirty="0"/>
          </a:p>
          <a:p>
            <a:pPr indent="0" marL="0">
              <a:buNone/>
            </a:pPr>
            <a:r>
              <a:rPr lang="en-US" sz="1250" dirty="0">
                <a:solidFill>
                  <a:srgbClr val="FBF4EC"/>
                </a:solidFill>
                <a:latin typeface="Courier New" pitchFamily="34" charset="0"/>
                <a:ea typeface="Courier New" pitchFamily="34" charset="-122"/>
                <a:cs typeface="Courier New" pitchFamily="34" charset="-120"/>
              </a:rPr>
              <a:t> </a:t>
            </a:r>
            <a:endParaRPr lang="en-US" sz="1250" dirty="0"/>
          </a:p>
          <a:p>
            <a:pPr indent="0" marL="0">
              <a:buNone/>
            </a:pPr>
            <a:r>
              <a:rPr lang="en-US" sz="1250" b="1" dirty="0">
                <a:solidFill>
                  <a:srgbClr val="FF641E"/>
                </a:solidFill>
                <a:latin typeface="Courier New" pitchFamily="34" charset="0"/>
                <a:ea typeface="Courier New" pitchFamily="34" charset="-122"/>
                <a:cs typeface="Courier New" pitchFamily="34" charset="-120"/>
              </a:rPr>
              <a:t>RULES:</a:t>
            </a:r>
            <a:pPr indent="0" marL="0">
              <a:buNone/>
            </a:pPr>
            <a:r>
              <a:rPr lang="en-US" sz="1250" dirty="0">
                <a:solidFill>
                  <a:srgbClr val="FBF4EC"/>
                </a:solidFill>
                <a:latin typeface="Courier New" pitchFamily="34" charset="0"/>
                <a:ea typeface="Courier New" pitchFamily="34" charset="-122"/>
                <a:cs typeface="Courier New" pitchFamily="34" charset="-120"/>
              </a:rPr>
              <a:t> Use only the material I pasted. Write </a:t>
            </a:r>
            <a:pPr indent="0" marL="0">
              <a:buNone/>
            </a:pPr>
            <a:r>
              <a:rPr lang="en-US" sz="1250" b="1" dirty="0">
                <a:solidFill>
                  <a:srgbClr val="FF641E"/>
                </a:solidFill>
                <a:latin typeface="Courier New" pitchFamily="34" charset="0"/>
                <a:ea typeface="Courier New" pitchFamily="34" charset="-122"/>
                <a:cs typeface="Courier New" pitchFamily="34" charset="-120"/>
              </a:rPr>
              <a:t>[MISSING]</a:t>
            </a:r>
            <a:pPr indent="0" marL="0">
              <a:buNone/>
            </a:pPr>
            <a:r>
              <a:rPr lang="en-US" sz="1250" dirty="0">
                <a:solidFill>
                  <a:srgbClr val="FBF4EC"/>
                </a:solidFill>
                <a:latin typeface="Courier New" pitchFamily="34" charset="0"/>
                <a:ea typeface="Courier New" pitchFamily="34" charset="-122"/>
                <a:cs typeface="Courier New" pitchFamily="34" charset="-120"/>
              </a:rPr>
              <a:t> where information is absent. Do not change any drug or dose; flag apparent errors instead.</a:t>
            </a:r>
            <a:endParaRPr lang="en-US" sz="1250" dirty="0"/>
          </a:p>
          <a:p>
            <a:pPr indent="0" marL="0">
              <a:buNone/>
            </a:pPr>
            <a:r>
              <a:rPr lang="en-US" sz="1250" dirty="0">
                <a:solidFill>
                  <a:srgbClr val="FBF4EC"/>
                </a:solidFill>
                <a:latin typeface="Courier New" pitchFamily="34" charset="0"/>
                <a:ea typeface="Courier New" pitchFamily="34" charset="-122"/>
                <a:cs typeface="Courier New" pitchFamily="34" charset="-120"/>
              </a:rPr>
              <a:t>Add a 5-line patient version in simple </a:t>
            </a:r>
            <a:pPr indent="0" marL="0">
              <a:buNone/>
            </a:pPr>
            <a:r>
              <a:rPr lang="en-US" sz="1250" b="1" dirty="0">
                <a:solidFill>
                  <a:srgbClr val="FF641E"/>
                </a:solidFill>
                <a:latin typeface="Courier New" pitchFamily="34" charset="0"/>
                <a:ea typeface="Courier New" pitchFamily="34" charset="-122"/>
                <a:cs typeface="Courier New" pitchFamily="34" charset="-120"/>
              </a:rPr>
              <a:t>[Hindi / Kannada / English]</a:t>
            </a:r>
            <a:pPr indent="0" marL="0">
              <a:buNone/>
            </a:pPr>
            <a:r>
              <a:rPr lang="en-US" sz="1250" dirty="0">
                <a:solidFill>
                  <a:srgbClr val="FBF4EC"/>
                </a:solidFill>
                <a:latin typeface="Courier New" pitchFamily="34" charset="0"/>
                <a:ea typeface="Courier New" pitchFamily="34" charset="-122"/>
                <a:cs typeface="Courier New" pitchFamily="34" charset="-120"/>
              </a:rPr>
              <a:t>.</a:t>
            </a:r>
            <a:endParaRPr lang="en-US" sz="1250" dirty="0"/>
          </a:p>
        </p:txBody>
      </p:sp>
      <p:sp>
        <p:nvSpPr>
          <p:cNvPr id="14" name="Text 11"/>
          <p:cNvSpPr txBox="1"/>
          <p:nvPr/>
        </p:nvSpPr>
        <p:spPr>
          <a:xfrm>
            <a:off x="8229600" y="2011680"/>
            <a:ext cx="3413455" cy="274320"/>
          </a:xfrm>
          <a:prstGeom prst="rect">
            <a:avLst/>
          </a:prstGeom>
          <a:noFill/>
          <a:ln/>
        </p:spPr>
        <p:txBody>
          <a:bodyPr wrap="square" lIns="0" tIns="0" rIns="0" bIns="0" rtlCol="0" anchor="ctr"/>
          <a:lstStyle/>
          <a:p>
            <a:pPr indent="0" marL="0">
              <a:buNone/>
            </a:pPr>
            <a:r>
              <a:rPr lang="en-US" sz="1000" b="1" spc="300" kern="0" dirty="0">
                <a:solidFill>
                  <a:srgbClr val="FF641E"/>
                </a:solidFill>
                <a:latin typeface="Arial" pitchFamily="34" charset="0"/>
                <a:ea typeface="Arial" pitchFamily="34" charset="-122"/>
                <a:cs typeface="Arial" pitchFamily="34" charset="-120"/>
              </a:rPr>
              <a:t>WHY IT WORKS</a:t>
            </a:r>
            <a:endParaRPr lang="en-US" sz="1000" dirty="0"/>
          </a:p>
        </p:txBody>
      </p:sp>
      <p:sp>
        <p:nvSpPr>
          <p:cNvPr id="15" name="Text 12"/>
          <p:cNvSpPr txBox="1"/>
          <p:nvPr/>
        </p:nvSpPr>
        <p:spPr>
          <a:xfrm>
            <a:off x="8229600" y="2377440"/>
            <a:ext cx="3413455" cy="3794760"/>
          </a:xfrm>
          <a:prstGeom prst="rect">
            <a:avLst/>
          </a:prstGeom>
          <a:noFill/>
          <a:ln/>
        </p:spPr>
        <p:txBody>
          <a:bodyPr wrap="square" lIns="0" tIns="0" rIns="0" bIns="0" rtlCol="0" anchor="t"/>
          <a:lstStyle/>
          <a:p>
            <a:pPr indent="0" marL="0">
              <a:buNone/>
            </a:pPr>
            <a:r>
              <a:rPr lang="en-US" sz="1400" b="1" dirty="0">
                <a:solidFill>
                  <a:srgbClr val="FBF4EC"/>
                </a:solidFill>
                <a:latin typeface="Arial" pitchFamily="34" charset="0"/>
                <a:ea typeface="Arial" pitchFamily="34" charset="-122"/>
                <a:cs typeface="Arial" pitchFamily="34" charset="-120"/>
              </a:rPr>
              <a:t>No identifiers</a:t>
            </a:r>
            <a:endParaRPr lang="en-US" sz="1400" dirty="0"/>
          </a:p>
          <a:p>
            <a:pPr indent="0" marL="0">
              <a:spcAft>
                <a:spcPts val="1000"/>
              </a:spcAft>
              <a:buNone/>
            </a:pPr>
            <a:r>
              <a:rPr lang="en-US" sz="1250" dirty="0">
                <a:solidFill>
                  <a:srgbClr val="A89C91"/>
                </a:solidFill>
                <a:latin typeface="Arial" pitchFamily="34" charset="0"/>
                <a:ea typeface="Arial" pitchFamily="34" charset="-122"/>
                <a:cs typeface="Arial" pitchFamily="34" charset="-120"/>
              </a:rPr>
              <a:t>Day 1, Day 2 instead of dates; no name or ID number.</a:t>
            </a:r>
            <a:endParaRPr lang="en-US" sz="1400" dirty="0"/>
          </a:p>
          <a:p>
            <a:pPr indent="0" marL="0">
              <a:buNone/>
            </a:pPr>
            <a:r>
              <a:rPr lang="en-US" sz="1400" b="1" dirty="0">
                <a:solidFill>
                  <a:srgbClr val="FBF4EC"/>
                </a:solidFill>
                <a:latin typeface="Arial" pitchFamily="34" charset="0"/>
                <a:ea typeface="Arial" pitchFamily="34" charset="-122"/>
                <a:cs typeface="Arial" pitchFamily="34" charset="-120"/>
              </a:rPr>
              <a:t>Grounded</a:t>
            </a:r>
            <a:endParaRPr lang="en-US" sz="1400" dirty="0"/>
          </a:p>
          <a:p>
            <a:pPr indent="0" marL="0">
              <a:spcAft>
                <a:spcPts val="1000"/>
              </a:spcAft>
              <a:buNone/>
            </a:pPr>
            <a:r>
              <a:rPr lang="en-US" sz="1250" dirty="0">
                <a:solidFill>
                  <a:srgbClr val="A89C91"/>
                </a:solidFill>
                <a:latin typeface="Arial" pitchFamily="34" charset="0"/>
                <a:ea typeface="Arial" pitchFamily="34" charset="-122"/>
                <a:cs typeface="Arial" pitchFamily="34" charset="-120"/>
              </a:rPr>
              <a:t>'Use only the material' stops invented events.</a:t>
            </a:r>
            <a:endParaRPr lang="en-US" sz="1400" dirty="0"/>
          </a:p>
          <a:p>
            <a:pPr indent="0" marL="0">
              <a:buNone/>
            </a:pPr>
            <a:r>
              <a:rPr lang="en-US" sz="1400" b="1" dirty="0">
                <a:solidFill>
                  <a:srgbClr val="FBF4EC"/>
                </a:solidFill>
                <a:latin typeface="Arial" pitchFamily="34" charset="0"/>
                <a:ea typeface="Arial" pitchFamily="34" charset="-122"/>
                <a:cs typeface="Arial" pitchFamily="34" charset="-120"/>
              </a:rPr>
              <a:t>[MISSING] flags</a:t>
            </a:r>
            <a:endParaRPr lang="en-US" sz="1400" dirty="0"/>
          </a:p>
          <a:p>
            <a:pPr indent="0" marL="0">
              <a:spcAft>
                <a:spcPts val="1000"/>
              </a:spcAft>
              <a:buNone/>
            </a:pPr>
            <a:r>
              <a:rPr lang="en-US" sz="1250" dirty="0">
                <a:solidFill>
                  <a:srgbClr val="A89C91"/>
                </a:solidFill>
                <a:latin typeface="Arial" pitchFamily="34" charset="0"/>
                <a:ea typeface="Arial" pitchFamily="34" charset="-122"/>
                <a:cs typeface="Arial" pitchFamily="34" charset="-120"/>
              </a:rPr>
              <a:t>Gaps become visible, not papered over.</a:t>
            </a:r>
            <a:endParaRPr lang="en-US" sz="1400" dirty="0"/>
          </a:p>
          <a:p>
            <a:pPr indent="0" marL="0">
              <a:buNone/>
            </a:pPr>
            <a:r>
              <a:rPr lang="en-US" sz="1400" b="1" dirty="0">
                <a:solidFill>
                  <a:srgbClr val="FBF4EC"/>
                </a:solidFill>
                <a:latin typeface="Arial" pitchFamily="34" charset="0"/>
                <a:ea typeface="Arial" pitchFamily="34" charset="-122"/>
                <a:cs typeface="Arial" pitchFamily="34" charset="-120"/>
              </a:rPr>
              <a:t>Two audiences</a:t>
            </a:r>
            <a:endParaRPr lang="en-US" sz="1400" dirty="0"/>
          </a:p>
          <a:p>
            <a:pPr indent="0" marL="0">
              <a:spcAft>
                <a:spcPts val="1000"/>
              </a:spcAft>
              <a:buNone/>
            </a:pPr>
            <a:r>
              <a:rPr lang="en-US" sz="1250" dirty="0">
                <a:solidFill>
                  <a:srgbClr val="A89C91"/>
                </a:solidFill>
                <a:latin typeface="Arial" pitchFamily="34" charset="0"/>
                <a:ea typeface="Arial" pitchFamily="34" charset="-122"/>
                <a:cs typeface="Arial" pitchFamily="34" charset="-120"/>
              </a:rPr>
              <a:t>The chart version and the patient version together.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13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MORE DOMAINS</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Six more places AI </a:t>
            </a:r>
            <a:pPr indent="0" marL="0">
              <a:buNone/>
            </a:pPr>
            <a:r>
              <a:rPr lang="en-US" sz="3000" b="1" dirty="0">
                <a:solidFill>
                  <a:srgbClr val="FF641E"/>
                </a:solidFill>
                <a:latin typeface="Arial" pitchFamily="34" charset="0"/>
                <a:ea typeface="Arial" pitchFamily="34" charset="-122"/>
                <a:cs typeface="Arial" pitchFamily="34" charset="-120"/>
              </a:rPr>
              <a:t>earns its keep</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10" name="Shape 7"/>
          <p:cNvSpPr/>
          <p:nvPr/>
        </p:nvSpPr>
        <p:spPr>
          <a:xfrm>
            <a:off x="548640" y="2011680"/>
            <a:ext cx="3515258" cy="1943100"/>
          </a:xfrm>
          <a:prstGeom prst="roundRect">
            <a:avLst>
              <a:gd name="adj" fmla="val 3765"/>
            </a:avLst>
          </a:prstGeom>
          <a:solidFill>
            <a:srgbClr val="141010"/>
          </a:solidFill>
          <a:ln w="12700">
            <a:solidFill>
              <a:srgbClr val="2E2522"/>
            </a:solidFill>
            <a:prstDash val="solid"/>
          </a:ln>
        </p:spPr>
      </p:sp>
      <p:sp>
        <p:nvSpPr>
          <p:cNvPr id="11" name="Shape 8"/>
          <p:cNvSpPr/>
          <p:nvPr/>
        </p:nvSpPr>
        <p:spPr>
          <a:xfrm>
            <a:off x="777240" y="2212848"/>
            <a:ext cx="502920" cy="502920"/>
          </a:xfrm>
          <a:prstGeom prst="ellipse">
            <a:avLst/>
          </a:prstGeom>
          <a:solidFill>
            <a:srgbClr val="3A1E12"/>
          </a:solidFill>
          <a:ln w="12700">
            <a:solidFill>
              <a:srgbClr val="3A1E12"/>
            </a:solidFill>
            <a:prstDash val="solid"/>
          </a:ln>
        </p:spPr>
      </p:sp>
      <p:pic>
        <p:nvPicPr>
          <p:cNvPr id="12" name="Image 0" descr="preencoded.png">    </p:cNvPr>
          <p:cNvPicPr>
            <a:picLocks noChangeAspect="1"/>
          </p:cNvPicPr>
          <p:nvPr/>
        </p:nvPicPr>
        <p:blipFill>
          <a:blip r:embed="rId1"/>
          <a:stretch>
            <a:fillRect/>
          </a:stretch>
        </p:blipFill>
        <p:spPr>
          <a:xfrm>
            <a:off x="905256" y="2340864"/>
            <a:ext cx="246888" cy="246888"/>
          </a:xfrm>
          <a:prstGeom prst="rect">
            <a:avLst/>
          </a:prstGeom>
        </p:spPr>
      </p:pic>
      <p:sp>
        <p:nvSpPr>
          <p:cNvPr id="13" name="Text 9"/>
          <p:cNvSpPr txBox="1"/>
          <p:nvPr/>
        </p:nvSpPr>
        <p:spPr>
          <a:xfrm>
            <a:off x="777240" y="287121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Patient education</a:t>
            </a:r>
            <a:endParaRPr lang="en-US" sz="1700" dirty="0"/>
          </a:p>
        </p:txBody>
      </p:sp>
      <p:sp>
        <p:nvSpPr>
          <p:cNvPr id="14" name="Text 10"/>
          <p:cNvSpPr txBox="1"/>
          <p:nvPr/>
        </p:nvSpPr>
        <p:spPr>
          <a:xfrm>
            <a:off x="777240" y="3250819"/>
            <a:ext cx="3058058" cy="566801"/>
          </a:xfrm>
          <a:prstGeom prst="rect">
            <a:avLst/>
          </a:prstGeom>
          <a:noFill/>
          <a:ln/>
        </p:spPr>
        <p:txBody>
          <a:bodyPr wrap="square" lIns="0" tIns="0" rIns="0" bIns="0" rtlCol="0" anchor="t"/>
          <a:lstStyle/>
          <a:p>
            <a:pPr indent="0" marL="0">
              <a:spcAft>
                <a:spcPts val="400"/>
              </a:spcAft>
              <a:buNone/>
            </a:pPr>
            <a:r>
              <a:rPr lang="en-US" sz="1300" dirty="0">
                <a:solidFill>
                  <a:srgbClr val="A89C91"/>
                </a:solidFill>
                <a:latin typeface="Arial" pitchFamily="34" charset="0"/>
                <a:ea typeface="Arial" pitchFamily="34" charset="-122"/>
                <a:cs typeface="Arial" pitchFamily="34" charset="-120"/>
              </a:rPr>
              <a:t>Explain inhaler technique or a new diagnosis in the patient's language, at a 6th-grade level.</a:t>
            </a:r>
            <a:endParaRPr lang="en-US" sz="1300" dirty="0"/>
          </a:p>
        </p:txBody>
      </p:sp>
      <p:sp>
        <p:nvSpPr>
          <p:cNvPr id="15" name="Shape 11"/>
          <p:cNvSpPr/>
          <p:nvPr/>
        </p:nvSpPr>
        <p:spPr>
          <a:xfrm>
            <a:off x="4338218" y="2011680"/>
            <a:ext cx="3515258" cy="1943100"/>
          </a:xfrm>
          <a:prstGeom prst="roundRect">
            <a:avLst>
              <a:gd name="adj" fmla="val 3765"/>
            </a:avLst>
          </a:prstGeom>
          <a:solidFill>
            <a:srgbClr val="141010"/>
          </a:solidFill>
          <a:ln w="12700">
            <a:solidFill>
              <a:srgbClr val="2E2522"/>
            </a:solidFill>
            <a:prstDash val="solid"/>
          </a:ln>
        </p:spPr>
      </p:sp>
      <p:sp>
        <p:nvSpPr>
          <p:cNvPr id="16" name="Shape 12"/>
          <p:cNvSpPr/>
          <p:nvPr/>
        </p:nvSpPr>
        <p:spPr>
          <a:xfrm>
            <a:off x="4566818" y="2212848"/>
            <a:ext cx="502920" cy="502920"/>
          </a:xfrm>
          <a:prstGeom prst="ellipse">
            <a:avLst/>
          </a:prstGeom>
          <a:solidFill>
            <a:srgbClr val="3A1E12"/>
          </a:solidFill>
          <a:ln w="12700">
            <a:solidFill>
              <a:srgbClr val="3A1E12"/>
            </a:solidFill>
            <a:prstDash val="solid"/>
          </a:ln>
        </p:spPr>
      </p:sp>
      <p:pic>
        <p:nvPicPr>
          <p:cNvPr id="17" name="Image 1" descr="preencoded.png">    </p:cNvPr>
          <p:cNvPicPr>
            <a:picLocks noChangeAspect="1"/>
          </p:cNvPicPr>
          <p:nvPr/>
        </p:nvPicPr>
        <p:blipFill>
          <a:blip r:embed="rId2"/>
          <a:stretch>
            <a:fillRect/>
          </a:stretch>
        </p:blipFill>
        <p:spPr>
          <a:xfrm>
            <a:off x="4694834" y="2340864"/>
            <a:ext cx="246888" cy="246888"/>
          </a:xfrm>
          <a:prstGeom prst="rect">
            <a:avLst/>
          </a:prstGeom>
        </p:spPr>
      </p:pic>
      <p:sp>
        <p:nvSpPr>
          <p:cNvPr id="18" name="Text 13"/>
          <p:cNvSpPr txBox="1"/>
          <p:nvPr/>
        </p:nvSpPr>
        <p:spPr>
          <a:xfrm>
            <a:off x="4566818" y="287121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Referral and letters</a:t>
            </a:r>
            <a:endParaRPr lang="en-US" sz="1700" dirty="0"/>
          </a:p>
        </p:txBody>
      </p:sp>
      <p:sp>
        <p:nvSpPr>
          <p:cNvPr id="19" name="Text 14"/>
          <p:cNvSpPr txBox="1"/>
          <p:nvPr/>
        </p:nvSpPr>
        <p:spPr>
          <a:xfrm>
            <a:off x="4566818" y="3250819"/>
            <a:ext cx="3058058" cy="566801"/>
          </a:xfrm>
          <a:prstGeom prst="rect">
            <a:avLst/>
          </a:prstGeom>
          <a:noFill/>
          <a:ln/>
        </p:spPr>
        <p:txBody>
          <a:bodyPr wrap="square" lIns="0" tIns="0" rIns="0" bIns="0" rtlCol="0" anchor="t"/>
          <a:lstStyle/>
          <a:p>
            <a:pPr indent="0" marL="0">
              <a:spcAft>
                <a:spcPts val="400"/>
              </a:spcAft>
              <a:buNone/>
            </a:pPr>
            <a:r>
              <a:rPr lang="en-US" sz="1300" dirty="0">
                <a:solidFill>
                  <a:srgbClr val="A89C91"/>
                </a:solidFill>
                <a:latin typeface="Arial" pitchFamily="34" charset="0"/>
                <a:ea typeface="Arial" pitchFamily="34" charset="-122"/>
                <a:cs typeface="Arial" pitchFamily="34" charset="-120"/>
              </a:rPr>
              <a:t>Referral letters, fitness certificates, insurance and pre-authorisation drafts from your notes.</a:t>
            </a:r>
            <a:endParaRPr lang="en-US" sz="1300" dirty="0"/>
          </a:p>
        </p:txBody>
      </p:sp>
      <p:sp>
        <p:nvSpPr>
          <p:cNvPr id="20" name="Shape 15"/>
          <p:cNvSpPr/>
          <p:nvPr/>
        </p:nvSpPr>
        <p:spPr>
          <a:xfrm>
            <a:off x="8127797" y="2011680"/>
            <a:ext cx="3515258" cy="1943100"/>
          </a:xfrm>
          <a:prstGeom prst="roundRect">
            <a:avLst>
              <a:gd name="adj" fmla="val 3765"/>
            </a:avLst>
          </a:prstGeom>
          <a:solidFill>
            <a:srgbClr val="141010"/>
          </a:solidFill>
          <a:ln w="12700">
            <a:solidFill>
              <a:srgbClr val="2E2522"/>
            </a:solidFill>
            <a:prstDash val="solid"/>
          </a:ln>
        </p:spPr>
      </p:sp>
      <p:sp>
        <p:nvSpPr>
          <p:cNvPr id="21" name="Shape 16"/>
          <p:cNvSpPr/>
          <p:nvPr/>
        </p:nvSpPr>
        <p:spPr>
          <a:xfrm>
            <a:off x="8356397" y="2212848"/>
            <a:ext cx="502920" cy="502920"/>
          </a:xfrm>
          <a:prstGeom prst="ellipse">
            <a:avLst/>
          </a:prstGeom>
          <a:solidFill>
            <a:srgbClr val="3A1E12"/>
          </a:solidFill>
          <a:ln w="12700">
            <a:solidFill>
              <a:srgbClr val="3A1E12"/>
            </a:solidFill>
            <a:prstDash val="solid"/>
          </a:ln>
        </p:spPr>
      </p:sp>
      <p:pic>
        <p:nvPicPr>
          <p:cNvPr id="22" name="Image 2" descr="preencoded.png">    </p:cNvPr>
          <p:cNvPicPr>
            <a:picLocks noChangeAspect="1"/>
          </p:cNvPicPr>
          <p:nvPr/>
        </p:nvPicPr>
        <p:blipFill>
          <a:blip r:embed="rId3"/>
          <a:stretch>
            <a:fillRect/>
          </a:stretch>
        </p:blipFill>
        <p:spPr>
          <a:xfrm>
            <a:off x="8484413" y="2340864"/>
            <a:ext cx="246888" cy="246888"/>
          </a:xfrm>
          <a:prstGeom prst="rect">
            <a:avLst/>
          </a:prstGeom>
        </p:spPr>
      </p:pic>
      <p:sp>
        <p:nvSpPr>
          <p:cNvPr id="23" name="Text 17"/>
          <p:cNvSpPr txBox="1"/>
          <p:nvPr/>
        </p:nvSpPr>
        <p:spPr>
          <a:xfrm>
            <a:off x="8356397" y="287121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Medicines</a:t>
            </a:r>
            <a:endParaRPr lang="en-US" sz="1700" dirty="0"/>
          </a:p>
        </p:txBody>
      </p:sp>
      <p:sp>
        <p:nvSpPr>
          <p:cNvPr id="24" name="Text 18"/>
          <p:cNvSpPr txBox="1"/>
          <p:nvPr/>
        </p:nvSpPr>
        <p:spPr>
          <a:xfrm>
            <a:off x="8356397" y="3250819"/>
            <a:ext cx="3058058" cy="566801"/>
          </a:xfrm>
          <a:prstGeom prst="rect">
            <a:avLst/>
          </a:prstGeom>
          <a:noFill/>
          <a:ln/>
        </p:spPr>
        <p:txBody>
          <a:bodyPr wrap="square" lIns="0" tIns="0" rIns="0" bIns="0" rtlCol="0" anchor="t"/>
          <a:lstStyle/>
          <a:p>
            <a:pPr indent="0" marL="0">
              <a:spcAft>
                <a:spcPts val="400"/>
              </a:spcAft>
              <a:buNone/>
            </a:pPr>
            <a:r>
              <a:rPr lang="en-US" sz="1300" dirty="0">
                <a:solidFill>
                  <a:srgbClr val="A89C91"/>
                </a:solidFill>
                <a:latin typeface="Arial" pitchFamily="34" charset="0"/>
                <a:ea typeface="Arial" pitchFamily="34" charset="-122"/>
                <a:cs typeface="Arial" pitchFamily="34" charset="-120"/>
              </a:rPr>
              <a:t>Interaction and renal-dose checks via UpToDate Expert AI or OpenEvidence; always confirm in a formulary.</a:t>
            </a:r>
            <a:endParaRPr lang="en-US" sz="1300" dirty="0"/>
          </a:p>
        </p:txBody>
      </p:sp>
      <p:sp>
        <p:nvSpPr>
          <p:cNvPr id="25" name="Shape 19"/>
          <p:cNvSpPr/>
          <p:nvPr/>
        </p:nvSpPr>
        <p:spPr>
          <a:xfrm>
            <a:off x="548640" y="4229100"/>
            <a:ext cx="3515258" cy="1943100"/>
          </a:xfrm>
          <a:prstGeom prst="roundRect">
            <a:avLst>
              <a:gd name="adj" fmla="val 3765"/>
            </a:avLst>
          </a:prstGeom>
          <a:solidFill>
            <a:srgbClr val="141010"/>
          </a:solidFill>
          <a:ln w="12700">
            <a:solidFill>
              <a:srgbClr val="2E2522"/>
            </a:solidFill>
            <a:prstDash val="solid"/>
          </a:ln>
        </p:spPr>
      </p:sp>
      <p:sp>
        <p:nvSpPr>
          <p:cNvPr id="26" name="Shape 20"/>
          <p:cNvSpPr/>
          <p:nvPr/>
        </p:nvSpPr>
        <p:spPr>
          <a:xfrm>
            <a:off x="777240" y="4430268"/>
            <a:ext cx="502920" cy="502920"/>
          </a:xfrm>
          <a:prstGeom prst="ellipse">
            <a:avLst/>
          </a:prstGeom>
          <a:solidFill>
            <a:srgbClr val="3A1E12"/>
          </a:solidFill>
          <a:ln w="12700">
            <a:solidFill>
              <a:srgbClr val="3A1E12"/>
            </a:solidFill>
            <a:prstDash val="solid"/>
          </a:ln>
        </p:spPr>
      </p:sp>
      <p:pic>
        <p:nvPicPr>
          <p:cNvPr id="27" name="Image 3" descr="preencoded.png">    </p:cNvPr>
          <p:cNvPicPr>
            <a:picLocks noChangeAspect="1"/>
          </p:cNvPicPr>
          <p:nvPr/>
        </p:nvPicPr>
        <p:blipFill>
          <a:blip r:embed="rId4"/>
          <a:stretch>
            <a:fillRect/>
          </a:stretch>
        </p:blipFill>
        <p:spPr>
          <a:xfrm>
            <a:off x="905256" y="4558284"/>
            <a:ext cx="246888" cy="246888"/>
          </a:xfrm>
          <a:prstGeom prst="rect">
            <a:avLst/>
          </a:prstGeom>
        </p:spPr>
      </p:pic>
      <p:sp>
        <p:nvSpPr>
          <p:cNvPr id="28" name="Text 21"/>
          <p:cNvSpPr txBox="1"/>
          <p:nvPr/>
        </p:nvSpPr>
        <p:spPr>
          <a:xfrm>
            <a:off x="777240" y="508863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Reports and results</a:t>
            </a:r>
            <a:endParaRPr lang="en-US" sz="1700" dirty="0"/>
          </a:p>
        </p:txBody>
      </p:sp>
      <p:sp>
        <p:nvSpPr>
          <p:cNvPr id="29" name="Text 22"/>
          <p:cNvSpPr txBox="1"/>
          <p:nvPr/>
        </p:nvSpPr>
        <p:spPr>
          <a:xfrm>
            <a:off x="777240" y="5468239"/>
            <a:ext cx="3058058" cy="566801"/>
          </a:xfrm>
          <a:prstGeom prst="rect">
            <a:avLst/>
          </a:prstGeom>
          <a:noFill/>
          <a:ln/>
        </p:spPr>
        <p:txBody>
          <a:bodyPr wrap="square" lIns="0" tIns="0" rIns="0" bIns="0" rtlCol="0" anchor="t"/>
          <a:lstStyle/>
          <a:p>
            <a:pPr indent="0" marL="0">
              <a:spcAft>
                <a:spcPts val="400"/>
              </a:spcAft>
              <a:buNone/>
            </a:pPr>
            <a:r>
              <a:rPr lang="en-US" sz="1300" dirty="0">
                <a:solidFill>
                  <a:srgbClr val="A89C91"/>
                </a:solidFill>
                <a:latin typeface="Arial" pitchFamily="34" charset="0"/>
                <a:ea typeface="Arial" pitchFamily="34" charset="-122"/>
                <a:cs typeface="Arial" pitchFamily="34" charset="-120"/>
              </a:rPr>
              <a:t>Summarise a long PFT, CT or lab trend into what changed and what matters.</a:t>
            </a:r>
            <a:endParaRPr lang="en-US" sz="1300" dirty="0"/>
          </a:p>
        </p:txBody>
      </p:sp>
      <p:sp>
        <p:nvSpPr>
          <p:cNvPr id="30" name="Shape 23"/>
          <p:cNvSpPr/>
          <p:nvPr/>
        </p:nvSpPr>
        <p:spPr>
          <a:xfrm>
            <a:off x="4338218" y="4229100"/>
            <a:ext cx="3515258" cy="1943100"/>
          </a:xfrm>
          <a:prstGeom prst="roundRect">
            <a:avLst>
              <a:gd name="adj" fmla="val 3765"/>
            </a:avLst>
          </a:prstGeom>
          <a:solidFill>
            <a:srgbClr val="141010"/>
          </a:solidFill>
          <a:ln w="12700">
            <a:solidFill>
              <a:srgbClr val="2E2522"/>
            </a:solidFill>
            <a:prstDash val="solid"/>
          </a:ln>
        </p:spPr>
      </p:sp>
      <p:sp>
        <p:nvSpPr>
          <p:cNvPr id="31" name="Shape 24"/>
          <p:cNvSpPr/>
          <p:nvPr/>
        </p:nvSpPr>
        <p:spPr>
          <a:xfrm>
            <a:off x="4566818" y="4430268"/>
            <a:ext cx="502920" cy="502920"/>
          </a:xfrm>
          <a:prstGeom prst="ellipse">
            <a:avLst/>
          </a:prstGeom>
          <a:solidFill>
            <a:srgbClr val="3A1E12"/>
          </a:solidFill>
          <a:ln w="12700">
            <a:solidFill>
              <a:srgbClr val="3A1E12"/>
            </a:solidFill>
            <a:prstDash val="solid"/>
          </a:ln>
        </p:spPr>
      </p:sp>
      <p:pic>
        <p:nvPicPr>
          <p:cNvPr id="32" name="Image 4" descr="preencoded.png">    </p:cNvPr>
          <p:cNvPicPr>
            <a:picLocks noChangeAspect="1"/>
          </p:cNvPicPr>
          <p:nvPr/>
        </p:nvPicPr>
        <p:blipFill>
          <a:blip r:embed="rId5"/>
          <a:stretch>
            <a:fillRect/>
          </a:stretch>
        </p:blipFill>
        <p:spPr>
          <a:xfrm>
            <a:off x="4694834" y="4558284"/>
            <a:ext cx="246888" cy="246888"/>
          </a:xfrm>
          <a:prstGeom prst="rect">
            <a:avLst/>
          </a:prstGeom>
        </p:spPr>
      </p:pic>
      <p:sp>
        <p:nvSpPr>
          <p:cNvPr id="33" name="Text 25"/>
          <p:cNvSpPr txBox="1"/>
          <p:nvPr/>
        </p:nvSpPr>
        <p:spPr>
          <a:xfrm>
            <a:off x="4566818" y="508863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Handover</a:t>
            </a:r>
            <a:endParaRPr lang="en-US" sz="1700" dirty="0"/>
          </a:p>
        </p:txBody>
      </p:sp>
      <p:sp>
        <p:nvSpPr>
          <p:cNvPr id="34" name="Text 26"/>
          <p:cNvSpPr txBox="1"/>
          <p:nvPr/>
        </p:nvSpPr>
        <p:spPr>
          <a:xfrm>
            <a:off x="4566818" y="5468239"/>
            <a:ext cx="3058058" cy="566801"/>
          </a:xfrm>
          <a:prstGeom prst="rect">
            <a:avLst/>
          </a:prstGeom>
          <a:noFill/>
          <a:ln/>
        </p:spPr>
        <p:txBody>
          <a:bodyPr wrap="square" lIns="0" tIns="0" rIns="0" bIns="0" rtlCol="0" anchor="t"/>
          <a:lstStyle/>
          <a:p>
            <a:pPr indent="0" marL="0">
              <a:spcAft>
                <a:spcPts val="400"/>
              </a:spcAft>
              <a:buNone/>
            </a:pPr>
            <a:r>
              <a:rPr lang="en-US" sz="1300" dirty="0">
                <a:solidFill>
                  <a:srgbClr val="A89C91"/>
                </a:solidFill>
                <a:latin typeface="Arial" pitchFamily="34" charset="0"/>
                <a:ea typeface="Arial" pitchFamily="34" charset="-122"/>
                <a:cs typeface="Arial" pitchFamily="34" charset="-120"/>
              </a:rPr>
              <a:t>Turn a ward list into structured SBAR handover, with pending tasks flagged.</a:t>
            </a:r>
            <a:endParaRPr lang="en-US" sz="1300" dirty="0"/>
          </a:p>
        </p:txBody>
      </p:sp>
      <p:sp>
        <p:nvSpPr>
          <p:cNvPr id="35" name="Shape 27"/>
          <p:cNvSpPr/>
          <p:nvPr/>
        </p:nvSpPr>
        <p:spPr>
          <a:xfrm>
            <a:off x="8127797" y="4229100"/>
            <a:ext cx="3515258" cy="1943100"/>
          </a:xfrm>
          <a:prstGeom prst="roundRect">
            <a:avLst>
              <a:gd name="adj" fmla="val 3765"/>
            </a:avLst>
          </a:prstGeom>
          <a:solidFill>
            <a:srgbClr val="141010"/>
          </a:solidFill>
          <a:ln w="12700">
            <a:solidFill>
              <a:srgbClr val="2E2522"/>
            </a:solidFill>
            <a:prstDash val="solid"/>
          </a:ln>
        </p:spPr>
      </p:sp>
      <p:sp>
        <p:nvSpPr>
          <p:cNvPr id="36" name="Shape 28"/>
          <p:cNvSpPr/>
          <p:nvPr/>
        </p:nvSpPr>
        <p:spPr>
          <a:xfrm>
            <a:off x="8356397" y="4430268"/>
            <a:ext cx="502920" cy="502920"/>
          </a:xfrm>
          <a:prstGeom prst="ellipse">
            <a:avLst/>
          </a:prstGeom>
          <a:solidFill>
            <a:srgbClr val="3A1E12"/>
          </a:solidFill>
          <a:ln w="12700">
            <a:solidFill>
              <a:srgbClr val="3A1E12"/>
            </a:solidFill>
            <a:prstDash val="solid"/>
          </a:ln>
        </p:spPr>
      </p:sp>
      <p:pic>
        <p:nvPicPr>
          <p:cNvPr id="37" name="Image 5" descr="preencoded.png">    </p:cNvPr>
          <p:cNvPicPr>
            <a:picLocks noChangeAspect="1"/>
          </p:cNvPicPr>
          <p:nvPr/>
        </p:nvPicPr>
        <p:blipFill>
          <a:blip r:embed="rId6"/>
          <a:stretch>
            <a:fillRect/>
          </a:stretch>
        </p:blipFill>
        <p:spPr>
          <a:xfrm>
            <a:off x="8484413" y="4558284"/>
            <a:ext cx="246888" cy="246888"/>
          </a:xfrm>
          <a:prstGeom prst="rect">
            <a:avLst/>
          </a:prstGeom>
        </p:spPr>
      </p:pic>
      <p:sp>
        <p:nvSpPr>
          <p:cNvPr id="38" name="Text 29"/>
          <p:cNvSpPr txBox="1"/>
          <p:nvPr/>
        </p:nvSpPr>
        <p:spPr>
          <a:xfrm>
            <a:off x="8356397" y="508863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Teaching rounds</a:t>
            </a:r>
            <a:endParaRPr lang="en-US" sz="1700" dirty="0"/>
          </a:p>
        </p:txBody>
      </p:sp>
      <p:sp>
        <p:nvSpPr>
          <p:cNvPr id="39" name="Text 30"/>
          <p:cNvSpPr txBox="1"/>
          <p:nvPr/>
        </p:nvSpPr>
        <p:spPr>
          <a:xfrm>
            <a:off x="8356397" y="5468239"/>
            <a:ext cx="3058058" cy="566801"/>
          </a:xfrm>
          <a:prstGeom prst="rect">
            <a:avLst/>
          </a:prstGeom>
          <a:noFill/>
          <a:ln/>
        </p:spPr>
        <p:txBody>
          <a:bodyPr wrap="square" lIns="0" tIns="0" rIns="0" bIns="0" rtlCol="0" anchor="t"/>
          <a:lstStyle/>
          <a:p>
            <a:pPr indent="0" marL="0">
              <a:spcAft>
                <a:spcPts val="400"/>
              </a:spcAft>
              <a:buNone/>
            </a:pPr>
            <a:r>
              <a:rPr lang="en-US" sz="1300" dirty="0">
                <a:solidFill>
                  <a:srgbClr val="A89C91"/>
                </a:solidFill>
                <a:latin typeface="Arial" pitchFamily="34" charset="0"/>
                <a:ea typeface="Arial" pitchFamily="34" charset="-122"/>
                <a:cs typeface="Arial" pitchFamily="34" charset="-120"/>
              </a:rPr>
              <a:t>Case-based MCQs and viva questions from today's patients, de-identified.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14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DECISION GUIDE</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Which tool do I </a:t>
            </a:r>
            <a:pPr indent="0" marL="0">
              <a:buNone/>
            </a:pPr>
            <a:r>
              <a:rPr lang="en-US" sz="3000" b="1" dirty="0">
                <a:solidFill>
                  <a:srgbClr val="FF641E"/>
                </a:solidFill>
                <a:latin typeface="Arial" pitchFamily="34" charset="0"/>
                <a:ea typeface="Arial" pitchFamily="34" charset="-122"/>
                <a:cs typeface="Arial" pitchFamily="34" charset="-120"/>
              </a:rPr>
              <a:t>actually open?</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3566160"/>
                <a:gridCol w="3566160"/>
                <a:gridCol w="3959352"/>
              </a:tblGrid>
              <a:tr h="0">
                <a:tc>
                  <a:txBody>
                    <a:bodyPr/>
                    <a:lstStyle/>
                    <a:p>
                      <a:pPr indent="0" marL="0">
                        <a:buNone/>
                      </a:pPr>
                      <a:r>
                        <a:rPr lang="en-US" sz="1000" b="1" spc="200" kern="0" dirty="0">
                          <a:solidFill>
                            <a:srgbClr val="FF641E"/>
                          </a:solidFill>
                          <a:latin typeface="Arial" pitchFamily="34" charset="0"/>
                          <a:ea typeface="Arial" pitchFamily="34" charset="-122"/>
                          <a:cs typeface="Arial" pitchFamily="34" charset="-120"/>
                        </a:rPr>
                        <a:t>TASK</a:t>
                      </a:r>
                      <a:endParaRPr lang="en-US" sz="100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000" b="1" spc="200" kern="0" dirty="0">
                          <a:solidFill>
                            <a:srgbClr val="FF641E"/>
                          </a:solidFill>
                          <a:latin typeface="Arial" pitchFamily="34" charset="0"/>
                          <a:ea typeface="Arial" pitchFamily="34" charset="-122"/>
                          <a:cs typeface="Arial" pitchFamily="34" charset="-120"/>
                        </a:rPr>
                        <a:t>FIRST CHOICE</a:t>
                      </a:r>
                      <a:endParaRPr lang="en-US" sz="100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000" b="1" spc="200" kern="0" dirty="0">
                          <a:solidFill>
                            <a:srgbClr val="FF641E"/>
                          </a:solidFill>
                          <a:latin typeface="Arial" pitchFamily="34" charset="0"/>
                          <a:ea typeface="Arial" pitchFamily="34" charset="-122"/>
                          <a:cs typeface="Arial" pitchFamily="34" charset="-120"/>
                        </a:rPr>
                        <a:t>WHY</a:t>
                      </a:r>
                      <a:endParaRPr lang="en-US" sz="100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r>
              <a:tr h="0">
                <a:tc>
                  <a:txBody>
                    <a:bodyPr/>
                    <a:lstStyle/>
                    <a:p>
                      <a:pPr indent="0" marL="0">
                        <a:buNone/>
                      </a:pPr>
                      <a:r>
                        <a:rPr lang="en-US" sz="1350" b="1" dirty="0">
                          <a:solidFill>
                            <a:srgbClr val="FBF4EC"/>
                          </a:solidFill>
                          <a:latin typeface="Arial" pitchFamily="34" charset="0"/>
                          <a:ea typeface="Arial" pitchFamily="34" charset="-122"/>
                          <a:cs typeface="Arial" pitchFamily="34" charset="-120"/>
                        </a:rPr>
                        <a:t>A clinical question at the bedside</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c>
                  <a:txBody>
                    <a:bodyPr/>
                    <a:lstStyle/>
                    <a:p>
                      <a:pPr indent="0" marL="0">
                        <a:buNone/>
                      </a:pPr>
                      <a:r>
                        <a:rPr lang="en-US" sz="1350" b="1" dirty="0">
                          <a:solidFill>
                            <a:srgbClr val="FF641E"/>
                          </a:solidFill>
                          <a:latin typeface="Arial" pitchFamily="34" charset="0"/>
                          <a:ea typeface="Arial" pitchFamily="34" charset="-122"/>
                          <a:cs typeface="Arial" pitchFamily="34" charset="-120"/>
                        </a:rPr>
                        <a:t>OpenEvidence · Vera · UpToDate Expert AI</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Curated sources, cited answers, built for clinicians</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r>
              <a:tr h="0">
                <a:tc>
                  <a:txBody>
                    <a:bodyPr/>
                    <a:lstStyle/>
                    <a:p>
                      <a:pPr indent="0" marL="0">
                        <a:buNone/>
                      </a:pPr>
                      <a:r>
                        <a:rPr lang="en-US" sz="1350" b="1" dirty="0">
                          <a:solidFill>
                            <a:srgbClr val="FBF4EC"/>
                          </a:solidFill>
                          <a:latin typeface="Arial" pitchFamily="34" charset="0"/>
                          <a:ea typeface="Arial" pitchFamily="34" charset="-122"/>
                          <a:cs typeface="Arial" pitchFamily="34" charset="-120"/>
                        </a:rPr>
                        <a:t>What does the latest evidence say?</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350" b="1" dirty="0">
                          <a:solidFill>
                            <a:srgbClr val="FF641E"/>
                          </a:solidFill>
                          <a:latin typeface="Arial" pitchFamily="34" charset="0"/>
                          <a:ea typeface="Arial" pitchFamily="34" charset="-122"/>
                          <a:cs typeface="Arial" pitchFamily="34" charset="-120"/>
                        </a:rPr>
                        <a:t>Claude / ChatGPT + PubMed or Consensus</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Live search with PMIDs you can open</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r>
              <a:tr h="0">
                <a:tc>
                  <a:txBody>
                    <a:bodyPr/>
                    <a:lstStyle/>
                    <a:p>
                      <a:pPr indent="0" marL="0">
                        <a:buNone/>
                      </a:pPr>
                      <a:r>
                        <a:rPr lang="en-US" sz="1350" b="1" dirty="0">
                          <a:solidFill>
                            <a:srgbClr val="FBF4EC"/>
                          </a:solidFill>
                          <a:latin typeface="Arial" pitchFamily="34" charset="0"/>
                          <a:ea typeface="Arial" pitchFamily="34" charset="-122"/>
                          <a:cs typeface="Arial" pitchFamily="34" charset="-120"/>
                        </a:rPr>
                        <a:t>Thinking wider on a differential</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c>
                  <a:txBody>
                    <a:bodyPr/>
                    <a:lstStyle/>
                    <a:p>
                      <a:pPr indent="0" marL="0">
                        <a:buNone/>
                      </a:pPr>
                      <a:r>
                        <a:rPr lang="en-US" sz="1350" b="1" dirty="0">
                          <a:solidFill>
                            <a:srgbClr val="FF641E"/>
                          </a:solidFill>
                          <a:latin typeface="Arial" pitchFamily="34" charset="0"/>
                          <a:ea typeface="Arial" pitchFamily="34" charset="-122"/>
                          <a:cs typeface="Arial" pitchFamily="34" charset="-120"/>
                        </a:rPr>
                        <a:t>Claude Skill · Glass Health</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Structured, can't-miss diagnoses always listed</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r>
              <a:tr h="0">
                <a:tc>
                  <a:txBody>
                    <a:bodyPr/>
                    <a:lstStyle/>
                    <a:p>
                      <a:pPr indent="0" marL="0">
                        <a:buNone/>
                      </a:pPr>
                      <a:r>
                        <a:rPr lang="en-US" sz="1350" b="1" dirty="0">
                          <a:solidFill>
                            <a:srgbClr val="FBF4EC"/>
                          </a:solidFill>
                          <a:latin typeface="Arial" pitchFamily="34" charset="0"/>
                          <a:ea typeface="Arial" pitchFamily="34" charset="-122"/>
                          <a:cs typeface="Arial" pitchFamily="34" charset="-120"/>
                        </a:rPr>
                        <a:t>Discharge summary or letter</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350" b="1" dirty="0">
                          <a:solidFill>
                            <a:srgbClr val="FF641E"/>
                          </a:solidFill>
                          <a:latin typeface="Arial" pitchFamily="34" charset="0"/>
                          <a:ea typeface="Arial" pitchFamily="34" charset="-122"/>
                          <a:cs typeface="Arial" pitchFamily="34" charset="-120"/>
                        </a:rPr>
                        <a:t>Claude · ChatGPT</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Strong writers; you paste de-identified notes</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r>
              <a:tr h="0">
                <a:tc>
                  <a:txBody>
                    <a:bodyPr/>
                    <a:lstStyle/>
                    <a:p>
                      <a:pPr indent="0" marL="0">
                        <a:buNone/>
                      </a:pPr>
                      <a:r>
                        <a:rPr lang="en-US" sz="1350" b="1" dirty="0">
                          <a:solidFill>
                            <a:srgbClr val="FBF4EC"/>
                          </a:solidFill>
                          <a:latin typeface="Arial" pitchFamily="34" charset="0"/>
                          <a:ea typeface="Arial" pitchFamily="34" charset="-122"/>
                          <a:cs typeface="Arial" pitchFamily="34" charset="-120"/>
                        </a:rPr>
                        <a:t>Patient explanation in Hindi or a regional language</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c>
                  <a:txBody>
                    <a:bodyPr/>
                    <a:lstStyle/>
                    <a:p>
                      <a:pPr indent="0" marL="0">
                        <a:buNone/>
                      </a:pPr>
                      <a:r>
                        <a:rPr lang="en-US" sz="1350" b="1" dirty="0">
                          <a:solidFill>
                            <a:srgbClr val="FF641E"/>
                          </a:solidFill>
                          <a:latin typeface="Arial" pitchFamily="34" charset="0"/>
                          <a:ea typeface="Arial" pitchFamily="34" charset="-122"/>
                          <a:cs typeface="Arial" pitchFamily="34" charset="-120"/>
                        </a:rPr>
                        <a:t>ChatGPT · Claude · Gemini</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Good multilingual drafts; check the medical terms</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141010"/>
                    </a:solidFill>
                  </a:tcPr>
                </a:tc>
              </a:tr>
              <a:tr h="0">
                <a:tc>
                  <a:txBody>
                    <a:bodyPr/>
                    <a:lstStyle/>
                    <a:p>
                      <a:pPr indent="0" marL="0">
                        <a:buNone/>
                      </a:pPr>
                      <a:r>
                        <a:rPr lang="en-US" sz="1350" b="1" dirty="0">
                          <a:solidFill>
                            <a:srgbClr val="FBF4EC"/>
                          </a:solidFill>
                          <a:latin typeface="Arial" pitchFamily="34" charset="0"/>
                          <a:ea typeface="Arial" pitchFamily="34" charset="-122"/>
                          <a:cs typeface="Arial" pitchFamily="34" charset="-120"/>
                        </a:rPr>
                        <a:t>Drug interaction or dose</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350" b="1" dirty="0">
                          <a:solidFill>
                            <a:srgbClr val="FF641E"/>
                          </a:solidFill>
                          <a:latin typeface="Arial" pitchFamily="34" charset="0"/>
                          <a:ea typeface="Arial" pitchFamily="34" charset="-122"/>
                          <a:cs typeface="Arial" pitchFamily="34" charset="-120"/>
                        </a:rPr>
                        <a:t>UpToDate Expert AI (Lexidrug) · formulary</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c>
                  <a:txBody>
                    <a:bodyPr/>
                    <a:lstStyle/>
                    <a:p>
                      <a:pPr indent="0" marL="0">
                        <a:buNone/>
                      </a:pPr>
                      <a:r>
                        <a:rPr lang="en-US" sz="1350" dirty="0">
                          <a:solidFill>
                            <a:srgbClr val="A89C91"/>
                          </a:solidFill>
                          <a:latin typeface="Arial" pitchFamily="34" charset="0"/>
                          <a:ea typeface="Arial" pitchFamily="34" charset="-122"/>
                          <a:cs typeface="Arial" pitchFamily="34" charset="-120"/>
                        </a:rPr>
                        <a:t>Drug-database backed; never a general chatbot alone</a:t>
                      </a:r>
                      <a:endParaRPr lang="en-US" sz="1350" dirty="0">
                        <a:latin typeface="Arial" charset="0"/>
                        <a:ea typeface="Arial" charset="0"/>
                        <a:cs typeface="Arial" charset="0"/>
                      </a:endParaRPr>
                    </a:p>
                  </a:txBody>
                  <a:tcPr marL="127000" marR="127000" marT="101600" marB="101600" anchor="ctr">
                    <a:lnL w="9525" cap="flat" cmpd="sng" algn="ctr">
                      <a:solidFill>
                        <a:srgbClr val="2E2522"/>
                      </a:solidFill>
                      <a:prstDash val="solid"/>
                      <a:round/>
                      <a:headEnd type="none" w="med" len="med"/>
                      <a:tailEnd type="none" w="med" len="med"/>
                    </a:lnL>
                    <a:lnR w="9525" cap="flat" cmpd="sng" algn="ctr">
                      <a:solidFill>
                        <a:srgbClr val="2E2522"/>
                      </a:solidFill>
                      <a:prstDash val="solid"/>
                      <a:round/>
                      <a:headEnd type="none" w="med" len="med"/>
                      <a:tailEnd type="none" w="med" len="med"/>
                    </a:lnR>
                    <a:lnT w="9525" cap="flat" cmpd="sng" algn="ctr">
                      <a:solidFill>
                        <a:srgbClr val="2E2522"/>
                      </a:solidFill>
                      <a:prstDash val="solid"/>
                      <a:round/>
                      <a:headEnd type="none" w="med" len="med"/>
                      <a:tailEnd type="none" w="med" len="med"/>
                    </a:lnT>
                    <a:lnB w="9525" cap="flat" cmpd="sng" algn="ctr">
                      <a:solidFill>
                        <a:srgbClr val="2E2522"/>
                      </a:solidFill>
                      <a:prstDash val="solid"/>
                      <a:round/>
                      <a:headEnd type="none" w="med" len="med"/>
                      <a:tailEnd type="none" w="med" len="med"/>
                    </a:lnB>
                    <a:solidFill>
                      <a:srgbClr val="0A0808"/>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15 / 19</a:t>
            </a:r>
            <a:endParaRPr lang="en-US" sz="1000" dirty="0"/>
          </a:p>
        </p:txBody>
      </p:sp>
      <p:sp>
        <p:nvSpPr>
          <p:cNvPr id="6" name="Text 3"/>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7" name="Text 4"/>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8" name="Text 5"/>
          <p:cNvSpPr txBox="1"/>
          <p:nvPr/>
        </p:nvSpPr>
        <p:spPr>
          <a:xfrm>
            <a:off x="502920" y="1097280"/>
            <a:ext cx="4572000" cy="2011680"/>
          </a:xfrm>
          <a:prstGeom prst="rect">
            <a:avLst/>
          </a:prstGeom>
          <a:noFill/>
          <a:ln/>
        </p:spPr>
        <p:txBody>
          <a:bodyPr wrap="square" lIns="0" tIns="0" rIns="0" bIns="0" rtlCol="0" anchor="t"/>
          <a:lstStyle/>
          <a:p>
            <a:pPr indent="0" marL="0">
              <a:buNone/>
            </a:pPr>
            <a:r>
              <a:rPr lang="en-US" sz="15000" b="1" dirty="0">
                <a:solidFill>
                  <a:srgbClr val="FF641E"/>
                </a:solidFill>
                <a:latin typeface="Arial" pitchFamily="34" charset="0"/>
                <a:ea typeface="Arial" pitchFamily="34" charset="-122"/>
                <a:cs typeface="Arial" pitchFamily="34" charset="-120"/>
              </a:rPr>
              <a:t>03</a:t>
            </a:r>
            <a:endParaRPr lang="en-US" sz="15000" dirty="0"/>
          </a:p>
        </p:txBody>
      </p:sp>
      <p:sp>
        <p:nvSpPr>
          <p:cNvPr id="9" name="Text 6"/>
          <p:cNvSpPr txBox="1"/>
          <p:nvPr/>
        </p:nvSpPr>
        <p:spPr>
          <a:xfrm>
            <a:off x="548640" y="3337560"/>
            <a:ext cx="10058400" cy="320040"/>
          </a:xfrm>
          <a:prstGeom prst="rect">
            <a:avLst/>
          </a:prstGeom>
          <a:noFill/>
          <a:ln/>
        </p:spPr>
        <p:txBody>
          <a:bodyPr wrap="square" lIns="0" tIns="0" rIns="0" bIns="0" rtlCol="0" anchor="ctr"/>
          <a:lstStyle/>
          <a:p>
            <a:pPr indent="0" marL="0">
              <a:buNone/>
            </a:pPr>
            <a:r>
              <a:rPr lang="en-US" sz="1200" b="1" spc="300" kern="0" dirty="0">
                <a:solidFill>
                  <a:srgbClr val="FF641E"/>
                </a:solidFill>
                <a:latin typeface="Arial" pitchFamily="34" charset="0"/>
                <a:ea typeface="Arial" pitchFamily="34" charset="-122"/>
                <a:cs typeface="Arial" pitchFamily="34" charset="-120"/>
              </a:rPr>
              <a:t>GUARDRAILS</a:t>
            </a:r>
            <a:endParaRPr lang="en-US" sz="1200" dirty="0"/>
          </a:p>
        </p:txBody>
      </p:sp>
      <p:sp>
        <p:nvSpPr>
          <p:cNvPr id="10" name="Text 7"/>
          <p:cNvSpPr txBox="1"/>
          <p:nvPr/>
        </p:nvSpPr>
        <p:spPr>
          <a:xfrm>
            <a:off x="548640" y="3657600"/>
            <a:ext cx="10972800" cy="914400"/>
          </a:xfrm>
          <a:prstGeom prst="rect">
            <a:avLst/>
          </a:prstGeom>
          <a:noFill/>
          <a:ln/>
        </p:spPr>
        <p:txBody>
          <a:bodyPr wrap="square" lIns="0" tIns="0" rIns="0" bIns="0" rtlCol="0" anchor="t"/>
          <a:lstStyle/>
          <a:p>
            <a:pPr indent="0" marL="0">
              <a:buNone/>
            </a:pPr>
            <a:r>
              <a:rPr lang="en-US" sz="4400" b="1" dirty="0">
                <a:solidFill>
                  <a:srgbClr val="FBF4EC"/>
                </a:solidFill>
                <a:latin typeface="Arial" pitchFamily="34" charset="0"/>
                <a:ea typeface="Arial" pitchFamily="34" charset="-122"/>
                <a:cs typeface="Arial" pitchFamily="34" charset="-120"/>
              </a:rPr>
              <a:t>Use it </a:t>
            </a:r>
            <a:pPr indent="0" marL="0">
              <a:buNone/>
            </a:pPr>
            <a:r>
              <a:rPr lang="en-US" sz="4400" b="1" dirty="0">
                <a:solidFill>
                  <a:srgbClr val="FF641E"/>
                </a:solidFill>
                <a:latin typeface="Arial" pitchFamily="34" charset="0"/>
                <a:ea typeface="Arial" pitchFamily="34" charset="-122"/>
                <a:cs typeface="Arial" pitchFamily="34" charset="-120"/>
              </a:rPr>
              <a:t>without getting hurt</a:t>
            </a:r>
            <a:endParaRPr lang="en-US" sz="4400" dirty="0"/>
          </a:p>
        </p:txBody>
      </p:sp>
      <p:sp>
        <p:nvSpPr>
          <p:cNvPr id="11" name="Text 8"/>
          <p:cNvSpPr txBox="1"/>
          <p:nvPr/>
        </p:nvSpPr>
        <p:spPr>
          <a:xfrm>
            <a:off x="548640" y="4663440"/>
            <a:ext cx="9144000" cy="1005840"/>
          </a:xfrm>
          <a:prstGeom prst="rect">
            <a:avLst/>
          </a:prstGeom>
          <a:noFill/>
          <a:ln/>
        </p:spPr>
        <p:txBody>
          <a:bodyPr wrap="square" lIns="0" tIns="0" rIns="0" bIns="0" rtlCol="0" anchor="t"/>
          <a:lstStyle/>
          <a:p>
            <a:pPr indent="0" marL="0">
              <a:buNone/>
            </a:pPr>
            <a:r>
              <a:rPr lang="en-US" sz="1800" i="1" dirty="0">
                <a:solidFill>
                  <a:srgbClr val="A89C91"/>
                </a:solidFill>
                <a:latin typeface="Cambria" pitchFamily="34" charset="0"/>
                <a:ea typeface="Cambria" pitchFamily="34" charset="-122"/>
                <a:cs typeface="Cambria" pitchFamily="34" charset="-120"/>
              </a:rPr>
              <a:t>Three failure modes and one checklist.</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16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KNOW THE FAILURE MODES</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Where clinical AI </a:t>
            </a:r>
            <a:pPr indent="0" marL="0">
              <a:buNone/>
            </a:pPr>
            <a:r>
              <a:rPr lang="en-US" sz="3000" b="1" dirty="0">
                <a:solidFill>
                  <a:srgbClr val="FF641E"/>
                </a:solidFill>
                <a:latin typeface="Arial" pitchFamily="34" charset="0"/>
                <a:ea typeface="Arial" pitchFamily="34" charset="-122"/>
                <a:cs typeface="Arial" pitchFamily="34" charset="-120"/>
              </a:rPr>
              <a:t>goes wrong</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10" name="Shape 7"/>
          <p:cNvSpPr/>
          <p:nvPr/>
        </p:nvSpPr>
        <p:spPr>
          <a:xfrm>
            <a:off x="548640" y="2011680"/>
            <a:ext cx="3515258" cy="3520440"/>
          </a:xfrm>
          <a:prstGeom prst="roundRect">
            <a:avLst>
              <a:gd name="adj" fmla="val 2081"/>
            </a:avLst>
          </a:prstGeom>
          <a:solidFill>
            <a:srgbClr val="141010"/>
          </a:solidFill>
          <a:ln w="12700">
            <a:solidFill>
              <a:srgbClr val="2E2522"/>
            </a:solidFill>
            <a:prstDash val="solid"/>
          </a:ln>
        </p:spPr>
      </p:sp>
      <p:sp>
        <p:nvSpPr>
          <p:cNvPr id="11" name="Shape 8"/>
          <p:cNvSpPr/>
          <p:nvPr/>
        </p:nvSpPr>
        <p:spPr>
          <a:xfrm>
            <a:off x="777240" y="2212848"/>
            <a:ext cx="502920" cy="502920"/>
          </a:xfrm>
          <a:prstGeom prst="ellipse">
            <a:avLst/>
          </a:prstGeom>
          <a:solidFill>
            <a:srgbClr val="3A1E12"/>
          </a:solidFill>
          <a:ln w="12700">
            <a:solidFill>
              <a:srgbClr val="3A1E12"/>
            </a:solidFill>
            <a:prstDash val="solid"/>
          </a:ln>
        </p:spPr>
      </p:sp>
      <p:pic>
        <p:nvPicPr>
          <p:cNvPr id="12" name="Image 0" descr="preencoded.png">    </p:cNvPr>
          <p:cNvPicPr>
            <a:picLocks noChangeAspect="1"/>
          </p:cNvPicPr>
          <p:nvPr/>
        </p:nvPicPr>
        <p:blipFill>
          <a:blip r:embed="rId1"/>
          <a:stretch>
            <a:fillRect/>
          </a:stretch>
        </p:blipFill>
        <p:spPr>
          <a:xfrm>
            <a:off x="905256" y="2340864"/>
            <a:ext cx="246888" cy="246888"/>
          </a:xfrm>
          <a:prstGeom prst="rect">
            <a:avLst/>
          </a:prstGeom>
        </p:spPr>
      </p:pic>
      <p:sp>
        <p:nvSpPr>
          <p:cNvPr id="13" name="Text 9"/>
          <p:cNvSpPr txBox="1"/>
          <p:nvPr/>
        </p:nvSpPr>
        <p:spPr>
          <a:xfrm>
            <a:off x="777240" y="287121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Confident fabrication</a:t>
            </a:r>
            <a:endParaRPr lang="en-US" sz="1700" dirty="0"/>
          </a:p>
        </p:txBody>
      </p:sp>
      <p:sp>
        <p:nvSpPr>
          <p:cNvPr id="14" name="Text 10"/>
          <p:cNvSpPr txBox="1"/>
          <p:nvPr/>
        </p:nvSpPr>
        <p:spPr>
          <a:xfrm>
            <a:off x="777240" y="3250819"/>
            <a:ext cx="3058058" cy="2144141"/>
          </a:xfrm>
          <a:prstGeom prst="rect">
            <a:avLst/>
          </a:prstGeom>
          <a:noFill/>
          <a:ln/>
        </p:spPr>
        <p:txBody>
          <a:bodyPr wrap="square" lIns="0" tIns="0" rIns="0" bIns="0" rtlCol="0" anchor="t"/>
          <a:lstStyle/>
          <a:p>
            <a:pPr indent="0" marL="0">
              <a:spcAft>
                <a:spcPts val="400"/>
              </a:spcAft>
              <a:buNone/>
            </a:pPr>
            <a:r>
              <a:rPr lang="en-US" sz="1400" dirty="0">
                <a:solidFill>
                  <a:srgbClr val="A89C91"/>
                </a:solidFill>
                <a:latin typeface="Arial" pitchFamily="34" charset="0"/>
                <a:ea typeface="Arial" pitchFamily="34" charset="-122"/>
                <a:cs typeface="Arial" pitchFamily="34" charset="-120"/>
              </a:rPr>
              <a:t>Plausible doses, trials and references that don't exist. Most likely when there's no connector or source.</a:t>
            </a:r>
            <a:endParaRPr lang="en-US" sz="1400" dirty="0"/>
          </a:p>
        </p:txBody>
      </p:sp>
      <p:sp>
        <p:nvSpPr>
          <p:cNvPr id="15" name="Shape 11"/>
          <p:cNvSpPr/>
          <p:nvPr/>
        </p:nvSpPr>
        <p:spPr>
          <a:xfrm>
            <a:off x="4338218" y="2011680"/>
            <a:ext cx="3515258" cy="3520440"/>
          </a:xfrm>
          <a:prstGeom prst="roundRect">
            <a:avLst>
              <a:gd name="adj" fmla="val 2081"/>
            </a:avLst>
          </a:prstGeom>
          <a:solidFill>
            <a:srgbClr val="141010"/>
          </a:solidFill>
          <a:ln w="12700">
            <a:solidFill>
              <a:srgbClr val="2E2522"/>
            </a:solidFill>
            <a:prstDash val="solid"/>
          </a:ln>
        </p:spPr>
      </p:sp>
      <p:sp>
        <p:nvSpPr>
          <p:cNvPr id="16" name="Shape 12"/>
          <p:cNvSpPr/>
          <p:nvPr/>
        </p:nvSpPr>
        <p:spPr>
          <a:xfrm>
            <a:off x="4566818" y="2212848"/>
            <a:ext cx="502920" cy="502920"/>
          </a:xfrm>
          <a:prstGeom prst="ellipse">
            <a:avLst/>
          </a:prstGeom>
          <a:solidFill>
            <a:srgbClr val="3A1E12"/>
          </a:solidFill>
          <a:ln w="12700">
            <a:solidFill>
              <a:srgbClr val="3A1E12"/>
            </a:solidFill>
            <a:prstDash val="solid"/>
          </a:ln>
        </p:spPr>
      </p:sp>
      <p:pic>
        <p:nvPicPr>
          <p:cNvPr id="17" name="Image 1" descr="preencoded.png">    </p:cNvPr>
          <p:cNvPicPr>
            <a:picLocks noChangeAspect="1"/>
          </p:cNvPicPr>
          <p:nvPr/>
        </p:nvPicPr>
        <p:blipFill>
          <a:blip r:embed="rId2"/>
          <a:stretch>
            <a:fillRect/>
          </a:stretch>
        </p:blipFill>
        <p:spPr>
          <a:xfrm>
            <a:off x="4694834" y="2340864"/>
            <a:ext cx="246888" cy="246888"/>
          </a:xfrm>
          <a:prstGeom prst="rect">
            <a:avLst/>
          </a:prstGeom>
        </p:spPr>
      </p:pic>
      <p:sp>
        <p:nvSpPr>
          <p:cNvPr id="18" name="Text 13"/>
          <p:cNvSpPr txBox="1"/>
          <p:nvPr/>
        </p:nvSpPr>
        <p:spPr>
          <a:xfrm>
            <a:off x="4566818" y="2871216"/>
            <a:ext cx="3058058" cy="585470"/>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Out of date or out of place</a:t>
            </a:r>
            <a:endParaRPr lang="en-US" sz="1700" dirty="0"/>
          </a:p>
        </p:txBody>
      </p:sp>
      <p:sp>
        <p:nvSpPr>
          <p:cNvPr id="19" name="Text 14"/>
          <p:cNvSpPr txBox="1"/>
          <p:nvPr/>
        </p:nvSpPr>
        <p:spPr>
          <a:xfrm>
            <a:off x="4566818" y="3520694"/>
            <a:ext cx="3058058" cy="1874266"/>
          </a:xfrm>
          <a:prstGeom prst="rect">
            <a:avLst/>
          </a:prstGeom>
          <a:noFill/>
          <a:ln/>
        </p:spPr>
        <p:txBody>
          <a:bodyPr wrap="square" lIns="0" tIns="0" rIns="0" bIns="0" rtlCol="0" anchor="t"/>
          <a:lstStyle/>
          <a:p>
            <a:pPr indent="0" marL="0">
              <a:spcAft>
                <a:spcPts val="400"/>
              </a:spcAft>
              <a:buNone/>
            </a:pPr>
            <a:r>
              <a:rPr lang="en-US" sz="1400" dirty="0">
                <a:solidFill>
                  <a:srgbClr val="A89C91"/>
                </a:solidFill>
                <a:latin typeface="Arial" pitchFamily="34" charset="0"/>
                <a:ea typeface="Arial" pitchFamily="34" charset="-122"/>
                <a:cs typeface="Arial" pitchFamily="34" charset="-120"/>
              </a:rPr>
              <a:t>Old guidelines, US-centric drugs and doses, no ICMR or NTEP context unless you give it.</a:t>
            </a:r>
            <a:endParaRPr lang="en-US" sz="1400" dirty="0"/>
          </a:p>
        </p:txBody>
      </p:sp>
      <p:sp>
        <p:nvSpPr>
          <p:cNvPr id="20" name="Shape 15"/>
          <p:cNvSpPr/>
          <p:nvPr/>
        </p:nvSpPr>
        <p:spPr>
          <a:xfrm>
            <a:off x="8127797" y="2011680"/>
            <a:ext cx="3515258" cy="3520440"/>
          </a:xfrm>
          <a:prstGeom prst="roundRect">
            <a:avLst>
              <a:gd name="adj" fmla="val 2081"/>
            </a:avLst>
          </a:prstGeom>
          <a:solidFill>
            <a:srgbClr val="141010"/>
          </a:solidFill>
          <a:ln w="12700">
            <a:solidFill>
              <a:srgbClr val="2E2522"/>
            </a:solidFill>
            <a:prstDash val="solid"/>
          </a:ln>
        </p:spPr>
      </p:sp>
      <p:sp>
        <p:nvSpPr>
          <p:cNvPr id="21" name="Shape 16"/>
          <p:cNvSpPr/>
          <p:nvPr/>
        </p:nvSpPr>
        <p:spPr>
          <a:xfrm>
            <a:off x="8356397" y="2212848"/>
            <a:ext cx="502920" cy="502920"/>
          </a:xfrm>
          <a:prstGeom prst="ellipse">
            <a:avLst/>
          </a:prstGeom>
          <a:solidFill>
            <a:srgbClr val="3A1E12"/>
          </a:solidFill>
          <a:ln w="12700">
            <a:solidFill>
              <a:srgbClr val="3A1E12"/>
            </a:solidFill>
            <a:prstDash val="solid"/>
          </a:ln>
        </p:spPr>
      </p:sp>
      <p:pic>
        <p:nvPicPr>
          <p:cNvPr id="22" name="Image 2" descr="preencoded.png">    </p:cNvPr>
          <p:cNvPicPr>
            <a:picLocks noChangeAspect="1"/>
          </p:cNvPicPr>
          <p:nvPr/>
        </p:nvPicPr>
        <p:blipFill>
          <a:blip r:embed="rId3"/>
          <a:stretch>
            <a:fillRect/>
          </a:stretch>
        </p:blipFill>
        <p:spPr>
          <a:xfrm>
            <a:off x="8484413" y="2340864"/>
            <a:ext cx="246888" cy="246888"/>
          </a:xfrm>
          <a:prstGeom prst="rect">
            <a:avLst/>
          </a:prstGeom>
        </p:spPr>
      </p:pic>
      <p:sp>
        <p:nvSpPr>
          <p:cNvPr id="23" name="Text 17"/>
          <p:cNvSpPr txBox="1"/>
          <p:nvPr/>
        </p:nvSpPr>
        <p:spPr>
          <a:xfrm>
            <a:off x="8356397" y="287121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Automation bias</a:t>
            </a:r>
            <a:endParaRPr lang="en-US" sz="1700" dirty="0"/>
          </a:p>
        </p:txBody>
      </p:sp>
      <p:sp>
        <p:nvSpPr>
          <p:cNvPr id="24" name="Text 18"/>
          <p:cNvSpPr txBox="1"/>
          <p:nvPr/>
        </p:nvSpPr>
        <p:spPr>
          <a:xfrm>
            <a:off x="8356397" y="3250819"/>
            <a:ext cx="3058058" cy="2144141"/>
          </a:xfrm>
          <a:prstGeom prst="rect">
            <a:avLst/>
          </a:prstGeom>
          <a:noFill/>
          <a:ln/>
        </p:spPr>
        <p:txBody>
          <a:bodyPr wrap="square" lIns="0" tIns="0" rIns="0" bIns="0" rtlCol="0" anchor="t"/>
          <a:lstStyle/>
          <a:p>
            <a:pPr indent="0" marL="0">
              <a:spcAft>
                <a:spcPts val="400"/>
              </a:spcAft>
              <a:buNone/>
            </a:pPr>
            <a:r>
              <a:rPr lang="en-US" sz="1400" dirty="0">
                <a:solidFill>
                  <a:srgbClr val="A89C91"/>
                </a:solidFill>
                <a:latin typeface="Arial" pitchFamily="34" charset="0"/>
                <a:ea typeface="Arial" pitchFamily="34" charset="-122"/>
                <a:cs typeface="Arial" pitchFamily="34" charset="-120"/>
              </a:rPr>
              <a:t>A fluent answer makes us stop thinking. Ask 'what else could this be?' before you accept it.</a:t>
            </a:r>
            <a:endParaRPr lang="en-US" sz="1400" dirty="0"/>
          </a:p>
        </p:txBody>
      </p:sp>
      <p:sp>
        <p:nvSpPr>
          <p:cNvPr id="25" name="Shape 19"/>
          <p:cNvSpPr/>
          <p:nvPr/>
        </p:nvSpPr>
        <p:spPr>
          <a:xfrm>
            <a:off x="548640" y="5669280"/>
            <a:ext cx="11094415" cy="530352"/>
          </a:xfrm>
          <a:prstGeom prst="roundRect">
            <a:avLst>
              <a:gd name="adj" fmla="val 13793"/>
            </a:avLst>
          </a:prstGeom>
          <a:solidFill>
            <a:srgbClr val="3A1E12"/>
          </a:solidFill>
          <a:ln w="12700">
            <a:solidFill>
              <a:srgbClr val="3A1E12"/>
            </a:solidFill>
            <a:prstDash val="solid"/>
          </a:ln>
        </p:spPr>
      </p:sp>
      <p:sp>
        <p:nvSpPr>
          <p:cNvPr id="26" name="Text 20"/>
          <p:cNvSpPr txBox="1"/>
          <p:nvPr/>
        </p:nvSpPr>
        <p:spPr>
          <a:xfrm>
            <a:off x="777240" y="5669280"/>
            <a:ext cx="10637215" cy="530352"/>
          </a:xfrm>
          <a:prstGeom prst="rect">
            <a:avLst/>
          </a:prstGeom>
          <a:noFill/>
          <a:ln/>
        </p:spPr>
        <p:txBody>
          <a:bodyPr wrap="square" lIns="0" tIns="0" rIns="0" bIns="0" rtlCol="0" anchor="ctr"/>
          <a:lstStyle/>
          <a:p>
            <a:pPr indent="0" marL="0">
              <a:buNone/>
            </a:pPr>
            <a:r>
              <a:rPr lang="en-US" sz="1300" dirty="0">
                <a:solidFill>
                  <a:srgbClr val="FBF4EC"/>
                </a:solidFill>
                <a:latin typeface="Arial" pitchFamily="34" charset="0"/>
                <a:ea typeface="Arial" pitchFamily="34" charset="-122"/>
                <a:cs typeface="Arial" pitchFamily="34" charset="-120"/>
              </a:rPr>
              <a:t>Counter-move for all three: </a:t>
            </a:r>
            <a:pPr indent="0" marL="0">
              <a:buNone/>
            </a:pPr>
            <a:r>
              <a:rPr lang="en-US" sz="1300" dirty="0">
                <a:solidFill>
                  <a:srgbClr val="FF641E"/>
                </a:solidFill>
                <a:latin typeface="Arial" pitchFamily="34" charset="0"/>
                <a:ea typeface="Arial" pitchFamily="34" charset="-122"/>
                <a:cs typeface="Arial" pitchFamily="34" charset="-120"/>
              </a:rPr>
              <a:t>ask for sources, state your setting, and keep the final decision yours.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17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NON-NEGOTIABLE</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Patient data </a:t>
            </a:r>
            <a:pPr indent="0" marL="0">
              <a:buNone/>
            </a:pPr>
            <a:r>
              <a:rPr lang="en-US" sz="3000" b="1" dirty="0">
                <a:solidFill>
                  <a:srgbClr val="FF641E"/>
                </a:solidFill>
                <a:latin typeface="Arial" pitchFamily="34" charset="0"/>
                <a:ea typeface="Arial" pitchFamily="34" charset="-122"/>
                <a:cs typeface="Arial" pitchFamily="34" charset="-120"/>
              </a:rPr>
              <a:t>never goes into a public chatbot</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10" name="Shape 7"/>
          <p:cNvSpPr/>
          <p:nvPr/>
        </p:nvSpPr>
        <p:spPr>
          <a:xfrm>
            <a:off x="548640" y="2011680"/>
            <a:ext cx="5410048" cy="4160520"/>
          </a:xfrm>
          <a:prstGeom prst="roundRect">
            <a:avLst>
              <a:gd name="adj" fmla="val 1758"/>
            </a:avLst>
          </a:prstGeom>
          <a:solidFill>
            <a:srgbClr val="141010"/>
          </a:solidFill>
          <a:ln w="12700">
            <a:solidFill>
              <a:srgbClr val="2E2522"/>
            </a:solidFill>
            <a:prstDash val="solid"/>
          </a:ln>
        </p:spPr>
      </p:sp>
      <p:sp>
        <p:nvSpPr>
          <p:cNvPr id="11" name="Shape 8"/>
          <p:cNvSpPr/>
          <p:nvPr/>
        </p:nvSpPr>
        <p:spPr>
          <a:xfrm>
            <a:off x="777240" y="2212848"/>
            <a:ext cx="502920" cy="502920"/>
          </a:xfrm>
          <a:prstGeom prst="ellipse">
            <a:avLst/>
          </a:prstGeom>
          <a:solidFill>
            <a:srgbClr val="3A1E12"/>
          </a:solidFill>
          <a:ln w="12700">
            <a:solidFill>
              <a:srgbClr val="3A1E12"/>
            </a:solidFill>
            <a:prstDash val="solid"/>
          </a:ln>
        </p:spPr>
      </p:sp>
      <p:pic>
        <p:nvPicPr>
          <p:cNvPr id="12" name="Image 0" descr="preencoded.png">    </p:cNvPr>
          <p:cNvPicPr>
            <a:picLocks noChangeAspect="1"/>
          </p:cNvPicPr>
          <p:nvPr/>
        </p:nvPicPr>
        <p:blipFill>
          <a:blip r:embed="rId1"/>
          <a:stretch>
            <a:fillRect/>
          </a:stretch>
        </p:blipFill>
        <p:spPr>
          <a:xfrm>
            <a:off x="905256" y="2340864"/>
            <a:ext cx="246888" cy="246888"/>
          </a:xfrm>
          <a:prstGeom prst="rect">
            <a:avLst/>
          </a:prstGeom>
        </p:spPr>
      </p:pic>
      <p:sp>
        <p:nvSpPr>
          <p:cNvPr id="13" name="Text 9"/>
          <p:cNvSpPr txBox="1"/>
          <p:nvPr/>
        </p:nvSpPr>
        <p:spPr>
          <a:xfrm>
            <a:off x="777240" y="2871216"/>
            <a:ext cx="4952848"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THE RULE</a:t>
            </a:r>
            <a:endParaRPr lang="en-US" sz="900" dirty="0"/>
          </a:p>
        </p:txBody>
      </p:sp>
      <p:sp>
        <p:nvSpPr>
          <p:cNvPr id="14" name="Text 10"/>
          <p:cNvSpPr txBox="1"/>
          <p:nvPr/>
        </p:nvSpPr>
        <p:spPr>
          <a:xfrm>
            <a:off x="777240" y="3127248"/>
            <a:ext cx="495284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De-identify before you paste</a:t>
            </a:r>
            <a:endParaRPr lang="en-US" sz="1700" dirty="0"/>
          </a:p>
        </p:txBody>
      </p:sp>
      <p:sp>
        <p:nvSpPr>
          <p:cNvPr id="15" name="Text 11"/>
          <p:cNvSpPr txBox="1"/>
          <p:nvPr/>
        </p:nvSpPr>
        <p:spPr>
          <a:xfrm>
            <a:off x="777240" y="3506851"/>
            <a:ext cx="4952848" cy="2528189"/>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No names, UHID or IP numbers, phone numbers, addresses or exact dates</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Crop identifiers from scans and photos</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India's DPDP Act 2023 makes health data your legal responsibility</a:t>
            </a:r>
            <a:endParaRPr lang="en-US" sz="1400" dirty="0"/>
          </a:p>
        </p:txBody>
      </p:sp>
      <p:sp>
        <p:nvSpPr>
          <p:cNvPr id="16" name="Shape 12"/>
          <p:cNvSpPr/>
          <p:nvPr/>
        </p:nvSpPr>
        <p:spPr>
          <a:xfrm>
            <a:off x="6233008" y="2011680"/>
            <a:ext cx="5410048" cy="4160520"/>
          </a:xfrm>
          <a:prstGeom prst="roundRect">
            <a:avLst>
              <a:gd name="adj" fmla="val 1758"/>
            </a:avLst>
          </a:prstGeom>
          <a:solidFill>
            <a:srgbClr val="3A1E12"/>
          </a:solidFill>
          <a:ln w="12700">
            <a:solidFill>
              <a:srgbClr val="FF641E"/>
            </a:solidFill>
            <a:prstDash val="solid"/>
          </a:ln>
        </p:spPr>
      </p:sp>
      <p:sp>
        <p:nvSpPr>
          <p:cNvPr id="17" name="Shape 13"/>
          <p:cNvSpPr/>
          <p:nvPr/>
        </p:nvSpPr>
        <p:spPr>
          <a:xfrm>
            <a:off x="6461608" y="2212848"/>
            <a:ext cx="502920" cy="502920"/>
          </a:xfrm>
          <a:prstGeom prst="ellipse">
            <a:avLst/>
          </a:prstGeom>
          <a:solidFill>
            <a:srgbClr val="3A1E12"/>
          </a:solidFill>
          <a:ln w="12700">
            <a:solidFill>
              <a:srgbClr val="3A1E12"/>
            </a:solidFill>
            <a:prstDash val="solid"/>
          </a:ln>
        </p:spPr>
      </p:sp>
      <p:pic>
        <p:nvPicPr>
          <p:cNvPr id="18" name="Image 1" descr="preencoded.png">    </p:cNvPr>
          <p:cNvPicPr>
            <a:picLocks noChangeAspect="1"/>
          </p:cNvPicPr>
          <p:nvPr/>
        </p:nvPicPr>
        <p:blipFill>
          <a:blip r:embed="rId2"/>
          <a:stretch>
            <a:fillRect/>
          </a:stretch>
        </p:blipFill>
        <p:spPr>
          <a:xfrm>
            <a:off x="6589624" y="2340864"/>
            <a:ext cx="246888" cy="246888"/>
          </a:xfrm>
          <a:prstGeom prst="rect">
            <a:avLst/>
          </a:prstGeom>
        </p:spPr>
      </p:pic>
      <p:sp>
        <p:nvSpPr>
          <p:cNvPr id="19" name="Text 14"/>
          <p:cNvSpPr txBox="1"/>
          <p:nvPr/>
        </p:nvSpPr>
        <p:spPr>
          <a:xfrm>
            <a:off x="6461608" y="2871216"/>
            <a:ext cx="4952848" cy="228600"/>
          </a:xfrm>
          <a:prstGeom prst="rect">
            <a:avLst/>
          </a:prstGeom>
          <a:noFill/>
          <a:ln/>
        </p:spPr>
        <p:txBody>
          <a:bodyPr wrap="square" lIns="0" tIns="0" rIns="0" bIns="0" rtlCol="0" anchor="ctr"/>
          <a:lstStyle/>
          <a:p>
            <a:pPr indent="0" marL="0">
              <a:buNone/>
            </a:pPr>
            <a:r>
              <a:rPr lang="en-US" sz="900" b="1" spc="200" kern="0" dirty="0">
                <a:solidFill>
                  <a:srgbClr val="FF641E"/>
                </a:solidFill>
                <a:latin typeface="Arial" pitchFamily="34" charset="0"/>
                <a:ea typeface="Arial" pitchFamily="34" charset="-122"/>
                <a:cs typeface="Arial" pitchFamily="34" charset="-120"/>
              </a:rPr>
              <a:t>DO THIS INSTEAD</a:t>
            </a:r>
            <a:endParaRPr lang="en-US" sz="900" dirty="0"/>
          </a:p>
        </p:txBody>
      </p:sp>
      <p:sp>
        <p:nvSpPr>
          <p:cNvPr id="20" name="Text 15"/>
          <p:cNvSpPr txBox="1"/>
          <p:nvPr/>
        </p:nvSpPr>
        <p:spPr>
          <a:xfrm>
            <a:off x="6461608" y="3127248"/>
            <a:ext cx="495284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Safe habits</a:t>
            </a:r>
            <a:endParaRPr lang="en-US" sz="1700" dirty="0"/>
          </a:p>
        </p:txBody>
      </p:sp>
      <p:sp>
        <p:nvSpPr>
          <p:cNvPr id="21" name="Text 16"/>
          <p:cNvSpPr txBox="1"/>
          <p:nvPr/>
        </p:nvSpPr>
        <p:spPr>
          <a:xfrm>
            <a:off x="6461608" y="3506851"/>
            <a:ext cx="4952848" cy="2528189"/>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'62-year-old man, Day 3 of admission'</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Prefer enterprise or HIPAA-ready tools where your hospital provides them</a:t>
            </a:r>
            <a:endParaRPr lang="en-US" sz="1400" dirty="0"/>
          </a:p>
          <a:p>
            <a:pPr marL="177800" indent="-177800">
              <a:spcAft>
                <a:spcPts val="400"/>
              </a:spcAft>
              <a:buSzPct val="100000"/>
              <a:buChar char="•"/>
            </a:pPr>
            <a:r>
              <a:rPr lang="en-US" sz="1400" dirty="0">
                <a:solidFill>
                  <a:srgbClr val="A89C91"/>
                </a:solidFill>
                <a:latin typeface="Arial" pitchFamily="34" charset="0"/>
                <a:ea typeface="Arial" pitchFamily="34" charset="-122"/>
                <a:cs typeface="Arial" pitchFamily="34" charset="-120"/>
              </a:rPr>
              <a:t>Follow your institution's AI policy; ask if none exists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18 / 19</a:t>
            </a:r>
            <a:endParaRPr lang="en-US" sz="1000" dirty="0"/>
          </a:p>
        </p:txBody>
      </p:sp>
      <p:sp>
        <p:nvSpPr>
          <p:cNvPr id="6" name="Text 3"/>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00" b="1" spc="300" kern="0" dirty="0">
                <a:solidFill>
                  <a:srgbClr val="FF641E"/>
                </a:solidFill>
                <a:latin typeface="Arial" pitchFamily="34" charset="0"/>
                <a:ea typeface="Arial" pitchFamily="34" charset="-122"/>
                <a:cs typeface="Arial" pitchFamily="34" charset="-120"/>
              </a:rPr>
              <a:t>BEFORE IT REACHES A PATIENT</a:t>
            </a:r>
            <a:endParaRPr lang="en-US" sz="1100" dirty="0"/>
          </a:p>
        </p:txBody>
      </p:sp>
      <p:sp>
        <p:nvSpPr>
          <p:cNvPr id="7" name="Text 4"/>
          <p:cNvSpPr txBox="1"/>
          <p:nvPr/>
        </p:nvSpPr>
        <p:spPr>
          <a:xfrm>
            <a:off x="548640" y="1097280"/>
            <a:ext cx="11094415" cy="685800"/>
          </a:xfrm>
          <a:prstGeom prst="rect">
            <a:avLst/>
          </a:prstGeom>
          <a:noFill/>
          <a:ln/>
        </p:spPr>
        <p:txBody>
          <a:bodyPr wrap="square" lIns="0" tIns="0" rIns="0" bIns="0" rtlCol="0" anchor="t"/>
          <a:lstStyle/>
          <a:p>
            <a:pPr indent="0" marL="0">
              <a:buNone/>
            </a:pPr>
            <a:r>
              <a:rPr lang="en-US" sz="3000" b="1" dirty="0">
                <a:solidFill>
                  <a:srgbClr val="FBF4EC"/>
                </a:solidFill>
                <a:latin typeface="Arial" pitchFamily="34" charset="0"/>
                <a:ea typeface="Arial" pitchFamily="34" charset="-122"/>
                <a:cs typeface="Arial" pitchFamily="34" charset="-120"/>
              </a:rPr>
              <a:t>The clinician's </a:t>
            </a:r>
            <a:pPr indent="0" marL="0">
              <a:buNone/>
            </a:pPr>
            <a:r>
              <a:rPr lang="en-US" sz="3000" b="1" dirty="0">
                <a:solidFill>
                  <a:srgbClr val="FF641E"/>
                </a:solidFill>
                <a:latin typeface="Arial" pitchFamily="34" charset="0"/>
                <a:ea typeface="Arial" pitchFamily="34" charset="-122"/>
                <a:cs typeface="Arial" pitchFamily="34" charset="-120"/>
              </a:rPr>
              <a:t>verification checklist</a:t>
            </a:r>
            <a:endParaRPr lang="en-US" sz="3000" dirty="0"/>
          </a:p>
        </p:txBody>
      </p:sp>
      <p:sp>
        <p:nvSpPr>
          <p:cNvPr id="8" name="Text 5"/>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9" name="Text 6"/>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10" name="Shape 7"/>
          <p:cNvSpPr/>
          <p:nvPr/>
        </p:nvSpPr>
        <p:spPr>
          <a:xfrm>
            <a:off x="548640" y="2011680"/>
            <a:ext cx="3515258" cy="1943100"/>
          </a:xfrm>
          <a:prstGeom prst="roundRect">
            <a:avLst>
              <a:gd name="adj" fmla="val 3765"/>
            </a:avLst>
          </a:prstGeom>
          <a:solidFill>
            <a:srgbClr val="141010"/>
          </a:solidFill>
          <a:ln w="12700">
            <a:solidFill>
              <a:srgbClr val="2E2522"/>
            </a:solidFill>
            <a:prstDash val="solid"/>
          </a:ln>
        </p:spPr>
      </p:sp>
      <p:sp>
        <p:nvSpPr>
          <p:cNvPr id="11" name="Shape 8"/>
          <p:cNvSpPr/>
          <p:nvPr/>
        </p:nvSpPr>
        <p:spPr>
          <a:xfrm>
            <a:off x="777240" y="2212848"/>
            <a:ext cx="502920" cy="502920"/>
          </a:xfrm>
          <a:prstGeom prst="ellipse">
            <a:avLst/>
          </a:prstGeom>
          <a:solidFill>
            <a:srgbClr val="3A1E12"/>
          </a:solidFill>
          <a:ln w="12700">
            <a:solidFill>
              <a:srgbClr val="3A1E12"/>
            </a:solidFill>
            <a:prstDash val="solid"/>
          </a:ln>
        </p:spPr>
      </p:sp>
      <p:pic>
        <p:nvPicPr>
          <p:cNvPr id="12" name="Image 0" descr="preencoded.png">    </p:cNvPr>
          <p:cNvPicPr>
            <a:picLocks noChangeAspect="1"/>
          </p:cNvPicPr>
          <p:nvPr/>
        </p:nvPicPr>
        <p:blipFill>
          <a:blip r:embed="rId1"/>
          <a:stretch>
            <a:fillRect/>
          </a:stretch>
        </p:blipFill>
        <p:spPr>
          <a:xfrm>
            <a:off x="905256" y="2340864"/>
            <a:ext cx="246888" cy="246888"/>
          </a:xfrm>
          <a:prstGeom prst="rect">
            <a:avLst/>
          </a:prstGeom>
        </p:spPr>
      </p:pic>
      <p:sp>
        <p:nvSpPr>
          <p:cNvPr id="13" name="Text 9"/>
          <p:cNvSpPr txBox="1"/>
          <p:nvPr/>
        </p:nvSpPr>
        <p:spPr>
          <a:xfrm>
            <a:off x="777240" y="287121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Sources are real</a:t>
            </a:r>
            <a:endParaRPr lang="en-US" sz="1700" dirty="0"/>
          </a:p>
        </p:txBody>
      </p:sp>
      <p:sp>
        <p:nvSpPr>
          <p:cNvPr id="14" name="Text 10"/>
          <p:cNvSpPr txBox="1"/>
          <p:nvPr/>
        </p:nvSpPr>
        <p:spPr>
          <a:xfrm>
            <a:off x="777240" y="3250819"/>
            <a:ext cx="3058058" cy="566801"/>
          </a:xfrm>
          <a:prstGeom prst="rect">
            <a:avLst/>
          </a:prstGeom>
          <a:noFill/>
          <a:ln/>
        </p:spPr>
        <p:txBody>
          <a:bodyPr wrap="square" lIns="0" tIns="0" rIns="0" bIns="0" rtlCol="0" anchor="t"/>
          <a:lstStyle/>
          <a:p>
            <a:pPr indent="0" marL="0">
              <a:spcAft>
                <a:spcPts val="400"/>
              </a:spcAft>
              <a:buNone/>
            </a:pPr>
            <a:r>
              <a:rPr lang="en-US" sz="1400" dirty="0">
                <a:solidFill>
                  <a:srgbClr val="A89C91"/>
                </a:solidFill>
                <a:latin typeface="Arial" pitchFamily="34" charset="0"/>
                <a:ea typeface="Arial" pitchFamily="34" charset="-122"/>
                <a:cs typeface="Arial" pitchFamily="34" charset="-120"/>
              </a:rPr>
              <a:t>Each PMID or DOI opens, and the paper says what's claimed.</a:t>
            </a:r>
            <a:endParaRPr lang="en-US" sz="1400" dirty="0"/>
          </a:p>
        </p:txBody>
      </p:sp>
      <p:sp>
        <p:nvSpPr>
          <p:cNvPr id="15" name="Shape 11"/>
          <p:cNvSpPr/>
          <p:nvPr/>
        </p:nvSpPr>
        <p:spPr>
          <a:xfrm>
            <a:off x="4338218" y="2011680"/>
            <a:ext cx="3515258" cy="1943100"/>
          </a:xfrm>
          <a:prstGeom prst="roundRect">
            <a:avLst>
              <a:gd name="adj" fmla="val 3765"/>
            </a:avLst>
          </a:prstGeom>
          <a:solidFill>
            <a:srgbClr val="141010"/>
          </a:solidFill>
          <a:ln w="12700">
            <a:solidFill>
              <a:srgbClr val="2E2522"/>
            </a:solidFill>
            <a:prstDash val="solid"/>
          </a:ln>
        </p:spPr>
      </p:sp>
      <p:sp>
        <p:nvSpPr>
          <p:cNvPr id="16" name="Shape 12"/>
          <p:cNvSpPr/>
          <p:nvPr/>
        </p:nvSpPr>
        <p:spPr>
          <a:xfrm>
            <a:off x="4566818" y="2212848"/>
            <a:ext cx="502920" cy="502920"/>
          </a:xfrm>
          <a:prstGeom prst="ellipse">
            <a:avLst/>
          </a:prstGeom>
          <a:solidFill>
            <a:srgbClr val="3A1E12"/>
          </a:solidFill>
          <a:ln w="12700">
            <a:solidFill>
              <a:srgbClr val="3A1E12"/>
            </a:solidFill>
            <a:prstDash val="solid"/>
          </a:ln>
        </p:spPr>
      </p:sp>
      <p:pic>
        <p:nvPicPr>
          <p:cNvPr id="17" name="Image 1" descr="preencoded.png">    </p:cNvPr>
          <p:cNvPicPr>
            <a:picLocks noChangeAspect="1"/>
          </p:cNvPicPr>
          <p:nvPr/>
        </p:nvPicPr>
        <p:blipFill>
          <a:blip r:embed="rId2"/>
          <a:stretch>
            <a:fillRect/>
          </a:stretch>
        </p:blipFill>
        <p:spPr>
          <a:xfrm>
            <a:off x="4694834" y="2340864"/>
            <a:ext cx="246888" cy="246888"/>
          </a:xfrm>
          <a:prstGeom prst="rect">
            <a:avLst/>
          </a:prstGeom>
        </p:spPr>
      </p:pic>
      <p:sp>
        <p:nvSpPr>
          <p:cNvPr id="18" name="Text 13"/>
          <p:cNvSpPr txBox="1"/>
          <p:nvPr/>
        </p:nvSpPr>
        <p:spPr>
          <a:xfrm>
            <a:off x="4566818" y="287121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Doses are checked</a:t>
            </a:r>
            <a:endParaRPr lang="en-US" sz="1700" dirty="0"/>
          </a:p>
        </p:txBody>
      </p:sp>
      <p:sp>
        <p:nvSpPr>
          <p:cNvPr id="19" name="Text 14"/>
          <p:cNvSpPr txBox="1"/>
          <p:nvPr/>
        </p:nvSpPr>
        <p:spPr>
          <a:xfrm>
            <a:off x="4566818" y="3250819"/>
            <a:ext cx="3058058" cy="566801"/>
          </a:xfrm>
          <a:prstGeom prst="rect">
            <a:avLst/>
          </a:prstGeom>
          <a:noFill/>
          <a:ln/>
        </p:spPr>
        <p:txBody>
          <a:bodyPr wrap="square" lIns="0" tIns="0" rIns="0" bIns="0" rtlCol="0" anchor="t"/>
          <a:lstStyle/>
          <a:p>
            <a:pPr indent="0" marL="0">
              <a:spcAft>
                <a:spcPts val="400"/>
              </a:spcAft>
              <a:buNone/>
            </a:pPr>
            <a:r>
              <a:rPr lang="en-US" sz="1400" dirty="0">
                <a:solidFill>
                  <a:srgbClr val="A89C91"/>
                </a:solidFill>
                <a:latin typeface="Arial" pitchFamily="34" charset="0"/>
                <a:ea typeface="Arial" pitchFamily="34" charset="-122"/>
                <a:cs typeface="Arial" pitchFamily="34" charset="-120"/>
              </a:rPr>
              <a:t>Against a formulary or guideline, never the chatbot alone.</a:t>
            </a:r>
            <a:endParaRPr lang="en-US" sz="1400" dirty="0"/>
          </a:p>
        </p:txBody>
      </p:sp>
      <p:sp>
        <p:nvSpPr>
          <p:cNvPr id="20" name="Shape 15"/>
          <p:cNvSpPr/>
          <p:nvPr/>
        </p:nvSpPr>
        <p:spPr>
          <a:xfrm>
            <a:off x="8127797" y="2011680"/>
            <a:ext cx="3515258" cy="1943100"/>
          </a:xfrm>
          <a:prstGeom prst="roundRect">
            <a:avLst>
              <a:gd name="adj" fmla="val 3765"/>
            </a:avLst>
          </a:prstGeom>
          <a:solidFill>
            <a:srgbClr val="141010"/>
          </a:solidFill>
          <a:ln w="12700">
            <a:solidFill>
              <a:srgbClr val="2E2522"/>
            </a:solidFill>
            <a:prstDash val="solid"/>
          </a:ln>
        </p:spPr>
      </p:sp>
      <p:sp>
        <p:nvSpPr>
          <p:cNvPr id="21" name="Shape 16"/>
          <p:cNvSpPr/>
          <p:nvPr/>
        </p:nvSpPr>
        <p:spPr>
          <a:xfrm>
            <a:off x="8356397" y="2212848"/>
            <a:ext cx="502920" cy="502920"/>
          </a:xfrm>
          <a:prstGeom prst="ellipse">
            <a:avLst/>
          </a:prstGeom>
          <a:solidFill>
            <a:srgbClr val="3A1E12"/>
          </a:solidFill>
          <a:ln w="12700">
            <a:solidFill>
              <a:srgbClr val="3A1E12"/>
            </a:solidFill>
            <a:prstDash val="solid"/>
          </a:ln>
        </p:spPr>
      </p:sp>
      <p:pic>
        <p:nvPicPr>
          <p:cNvPr id="22" name="Image 2" descr="preencoded.png">    </p:cNvPr>
          <p:cNvPicPr>
            <a:picLocks noChangeAspect="1"/>
          </p:cNvPicPr>
          <p:nvPr/>
        </p:nvPicPr>
        <p:blipFill>
          <a:blip r:embed="rId3"/>
          <a:stretch>
            <a:fillRect/>
          </a:stretch>
        </p:blipFill>
        <p:spPr>
          <a:xfrm>
            <a:off x="8484413" y="2340864"/>
            <a:ext cx="246888" cy="246888"/>
          </a:xfrm>
          <a:prstGeom prst="rect">
            <a:avLst/>
          </a:prstGeom>
        </p:spPr>
      </p:pic>
      <p:sp>
        <p:nvSpPr>
          <p:cNvPr id="23" name="Text 17"/>
          <p:cNvSpPr txBox="1"/>
          <p:nvPr/>
        </p:nvSpPr>
        <p:spPr>
          <a:xfrm>
            <a:off x="8356397" y="287121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It's current</a:t>
            </a:r>
            <a:endParaRPr lang="en-US" sz="1700" dirty="0"/>
          </a:p>
        </p:txBody>
      </p:sp>
      <p:sp>
        <p:nvSpPr>
          <p:cNvPr id="24" name="Text 18"/>
          <p:cNvSpPr txBox="1"/>
          <p:nvPr/>
        </p:nvSpPr>
        <p:spPr>
          <a:xfrm>
            <a:off x="8356397" y="3250819"/>
            <a:ext cx="3058058" cy="566801"/>
          </a:xfrm>
          <a:prstGeom prst="rect">
            <a:avLst/>
          </a:prstGeom>
          <a:noFill/>
          <a:ln/>
        </p:spPr>
        <p:txBody>
          <a:bodyPr wrap="square" lIns="0" tIns="0" rIns="0" bIns="0" rtlCol="0" anchor="t"/>
          <a:lstStyle/>
          <a:p>
            <a:pPr indent="0" marL="0">
              <a:spcAft>
                <a:spcPts val="400"/>
              </a:spcAft>
              <a:buNone/>
            </a:pPr>
            <a:r>
              <a:rPr lang="en-US" sz="1400" dirty="0">
                <a:solidFill>
                  <a:srgbClr val="A89C91"/>
                </a:solidFill>
                <a:latin typeface="Arial" pitchFamily="34" charset="0"/>
                <a:ea typeface="Arial" pitchFamily="34" charset="-122"/>
                <a:cs typeface="Arial" pitchFamily="34" charset="-120"/>
              </a:rPr>
              <a:t>The latest guideline version, not last decade's.</a:t>
            </a:r>
            <a:endParaRPr lang="en-US" sz="1400" dirty="0"/>
          </a:p>
        </p:txBody>
      </p:sp>
      <p:sp>
        <p:nvSpPr>
          <p:cNvPr id="25" name="Shape 19"/>
          <p:cNvSpPr/>
          <p:nvPr/>
        </p:nvSpPr>
        <p:spPr>
          <a:xfrm>
            <a:off x="548640" y="4229100"/>
            <a:ext cx="3515258" cy="1943100"/>
          </a:xfrm>
          <a:prstGeom prst="roundRect">
            <a:avLst>
              <a:gd name="adj" fmla="val 3765"/>
            </a:avLst>
          </a:prstGeom>
          <a:solidFill>
            <a:srgbClr val="141010"/>
          </a:solidFill>
          <a:ln w="12700">
            <a:solidFill>
              <a:srgbClr val="2E2522"/>
            </a:solidFill>
            <a:prstDash val="solid"/>
          </a:ln>
        </p:spPr>
      </p:sp>
      <p:sp>
        <p:nvSpPr>
          <p:cNvPr id="26" name="Shape 20"/>
          <p:cNvSpPr/>
          <p:nvPr/>
        </p:nvSpPr>
        <p:spPr>
          <a:xfrm>
            <a:off x="777240" y="4430268"/>
            <a:ext cx="502920" cy="502920"/>
          </a:xfrm>
          <a:prstGeom prst="ellipse">
            <a:avLst/>
          </a:prstGeom>
          <a:solidFill>
            <a:srgbClr val="3A1E12"/>
          </a:solidFill>
          <a:ln w="12700">
            <a:solidFill>
              <a:srgbClr val="3A1E12"/>
            </a:solidFill>
            <a:prstDash val="solid"/>
          </a:ln>
        </p:spPr>
      </p:sp>
      <p:pic>
        <p:nvPicPr>
          <p:cNvPr id="27" name="Image 3" descr="preencoded.png">    </p:cNvPr>
          <p:cNvPicPr>
            <a:picLocks noChangeAspect="1"/>
          </p:cNvPicPr>
          <p:nvPr/>
        </p:nvPicPr>
        <p:blipFill>
          <a:blip r:embed="rId4"/>
          <a:stretch>
            <a:fillRect/>
          </a:stretch>
        </p:blipFill>
        <p:spPr>
          <a:xfrm>
            <a:off x="905256" y="4558284"/>
            <a:ext cx="246888" cy="246888"/>
          </a:xfrm>
          <a:prstGeom prst="rect">
            <a:avLst/>
          </a:prstGeom>
        </p:spPr>
      </p:pic>
      <p:sp>
        <p:nvSpPr>
          <p:cNvPr id="28" name="Text 21"/>
          <p:cNvSpPr txBox="1"/>
          <p:nvPr/>
        </p:nvSpPr>
        <p:spPr>
          <a:xfrm>
            <a:off x="777240" y="508863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It fits your setting</a:t>
            </a:r>
            <a:endParaRPr lang="en-US" sz="1700" dirty="0"/>
          </a:p>
        </p:txBody>
      </p:sp>
      <p:sp>
        <p:nvSpPr>
          <p:cNvPr id="29" name="Text 22"/>
          <p:cNvSpPr txBox="1"/>
          <p:nvPr/>
        </p:nvSpPr>
        <p:spPr>
          <a:xfrm>
            <a:off x="777240" y="5468239"/>
            <a:ext cx="3058058" cy="566801"/>
          </a:xfrm>
          <a:prstGeom prst="rect">
            <a:avLst/>
          </a:prstGeom>
          <a:noFill/>
          <a:ln/>
        </p:spPr>
        <p:txBody>
          <a:bodyPr wrap="square" lIns="0" tIns="0" rIns="0" bIns="0" rtlCol="0" anchor="t"/>
          <a:lstStyle/>
          <a:p>
            <a:pPr indent="0" marL="0">
              <a:spcAft>
                <a:spcPts val="400"/>
              </a:spcAft>
              <a:buNone/>
            </a:pPr>
            <a:r>
              <a:rPr lang="en-US" sz="1400" dirty="0">
                <a:solidFill>
                  <a:srgbClr val="A89C91"/>
                </a:solidFill>
                <a:latin typeface="Arial" pitchFamily="34" charset="0"/>
                <a:ea typeface="Arial" pitchFamily="34" charset="-122"/>
                <a:cs typeface="Arial" pitchFamily="34" charset="-120"/>
              </a:rPr>
              <a:t>Indian epidemiology, drug availability, local protocols.</a:t>
            </a:r>
            <a:endParaRPr lang="en-US" sz="1400" dirty="0"/>
          </a:p>
        </p:txBody>
      </p:sp>
      <p:sp>
        <p:nvSpPr>
          <p:cNvPr id="30" name="Shape 23"/>
          <p:cNvSpPr/>
          <p:nvPr/>
        </p:nvSpPr>
        <p:spPr>
          <a:xfrm>
            <a:off x="4338218" y="4229100"/>
            <a:ext cx="3515258" cy="1943100"/>
          </a:xfrm>
          <a:prstGeom prst="roundRect">
            <a:avLst>
              <a:gd name="adj" fmla="val 3765"/>
            </a:avLst>
          </a:prstGeom>
          <a:solidFill>
            <a:srgbClr val="141010"/>
          </a:solidFill>
          <a:ln w="12700">
            <a:solidFill>
              <a:srgbClr val="2E2522"/>
            </a:solidFill>
            <a:prstDash val="solid"/>
          </a:ln>
        </p:spPr>
      </p:sp>
      <p:sp>
        <p:nvSpPr>
          <p:cNvPr id="31" name="Shape 24"/>
          <p:cNvSpPr/>
          <p:nvPr/>
        </p:nvSpPr>
        <p:spPr>
          <a:xfrm>
            <a:off x="4566818" y="4430268"/>
            <a:ext cx="502920" cy="502920"/>
          </a:xfrm>
          <a:prstGeom prst="ellipse">
            <a:avLst/>
          </a:prstGeom>
          <a:solidFill>
            <a:srgbClr val="3A1E12"/>
          </a:solidFill>
          <a:ln w="12700">
            <a:solidFill>
              <a:srgbClr val="3A1E12"/>
            </a:solidFill>
            <a:prstDash val="solid"/>
          </a:ln>
        </p:spPr>
      </p:sp>
      <p:pic>
        <p:nvPicPr>
          <p:cNvPr id="32" name="Image 4" descr="preencoded.png">    </p:cNvPr>
          <p:cNvPicPr>
            <a:picLocks noChangeAspect="1"/>
          </p:cNvPicPr>
          <p:nvPr/>
        </p:nvPicPr>
        <p:blipFill>
          <a:blip r:embed="rId5"/>
          <a:stretch>
            <a:fillRect/>
          </a:stretch>
        </p:blipFill>
        <p:spPr>
          <a:xfrm>
            <a:off x="4694834" y="4558284"/>
            <a:ext cx="246888" cy="246888"/>
          </a:xfrm>
          <a:prstGeom prst="rect">
            <a:avLst/>
          </a:prstGeom>
        </p:spPr>
      </p:pic>
      <p:sp>
        <p:nvSpPr>
          <p:cNvPr id="33" name="Text 25"/>
          <p:cNvSpPr txBox="1"/>
          <p:nvPr/>
        </p:nvSpPr>
        <p:spPr>
          <a:xfrm>
            <a:off x="4566818" y="508863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You understand it</a:t>
            </a:r>
            <a:endParaRPr lang="en-US" sz="1700" dirty="0"/>
          </a:p>
        </p:txBody>
      </p:sp>
      <p:sp>
        <p:nvSpPr>
          <p:cNvPr id="34" name="Text 26"/>
          <p:cNvSpPr txBox="1"/>
          <p:nvPr/>
        </p:nvSpPr>
        <p:spPr>
          <a:xfrm>
            <a:off x="4566818" y="5468239"/>
            <a:ext cx="3058058" cy="566801"/>
          </a:xfrm>
          <a:prstGeom prst="rect">
            <a:avLst/>
          </a:prstGeom>
          <a:noFill/>
          <a:ln/>
        </p:spPr>
        <p:txBody>
          <a:bodyPr wrap="square" lIns="0" tIns="0" rIns="0" bIns="0" rtlCol="0" anchor="t"/>
          <a:lstStyle/>
          <a:p>
            <a:pPr indent="0" marL="0">
              <a:spcAft>
                <a:spcPts val="400"/>
              </a:spcAft>
              <a:buNone/>
            </a:pPr>
            <a:r>
              <a:rPr lang="en-US" sz="1400" dirty="0">
                <a:solidFill>
                  <a:srgbClr val="A89C91"/>
                </a:solidFill>
                <a:latin typeface="Arial" pitchFamily="34" charset="0"/>
                <a:ea typeface="Arial" pitchFamily="34" charset="-122"/>
                <a:cs typeface="Arial" pitchFamily="34" charset="-120"/>
              </a:rPr>
              <a:t>If you can't explain it, you can't act on it.</a:t>
            </a:r>
            <a:endParaRPr lang="en-US" sz="1400" dirty="0"/>
          </a:p>
        </p:txBody>
      </p:sp>
      <p:sp>
        <p:nvSpPr>
          <p:cNvPr id="35" name="Shape 27"/>
          <p:cNvSpPr/>
          <p:nvPr/>
        </p:nvSpPr>
        <p:spPr>
          <a:xfrm>
            <a:off x="8127797" y="4229100"/>
            <a:ext cx="3515258" cy="1943100"/>
          </a:xfrm>
          <a:prstGeom prst="roundRect">
            <a:avLst>
              <a:gd name="adj" fmla="val 3765"/>
            </a:avLst>
          </a:prstGeom>
          <a:solidFill>
            <a:srgbClr val="141010"/>
          </a:solidFill>
          <a:ln w="12700">
            <a:solidFill>
              <a:srgbClr val="2E2522"/>
            </a:solidFill>
            <a:prstDash val="solid"/>
          </a:ln>
        </p:spPr>
      </p:sp>
      <p:sp>
        <p:nvSpPr>
          <p:cNvPr id="36" name="Shape 28"/>
          <p:cNvSpPr/>
          <p:nvPr/>
        </p:nvSpPr>
        <p:spPr>
          <a:xfrm>
            <a:off x="8356397" y="4430268"/>
            <a:ext cx="502920" cy="502920"/>
          </a:xfrm>
          <a:prstGeom prst="ellipse">
            <a:avLst/>
          </a:prstGeom>
          <a:solidFill>
            <a:srgbClr val="3A1E12"/>
          </a:solidFill>
          <a:ln w="12700">
            <a:solidFill>
              <a:srgbClr val="3A1E12"/>
            </a:solidFill>
            <a:prstDash val="solid"/>
          </a:ln>
        </p:spPr>
      </p:sp>
      <p:pic>
        <p:nvPicPr>
          <p:cNvPr id="37" name="Image 5" descr="preencoded.png">    </p:cNvPr>
          <p:cNvPicPr>
            <a:picLocks noChangeAspect="1"/>
          </p:cNvPicPr>
          <p:nvPr/>
        </p:nvPicPr>
        <p:blipFill>
          <a:blip r:embed="rId6"/>
          <a:stretch>
            <a:fillRect/>
          </a:stretch>
        </p:blipFill>
        <p:spPr>
          <a:xfrm>
            <a:off x="8484413" y="4558284"/>
            <a:ext cx="246888" cy="246888"/>
          </a:xfrm>
          <a:prstGeom prst="rect">
            <a:avLst/>
          </a:prstGeom>
        </p:spPr>
      </p:pic>
      <p:sp>
        <p:nvSpPr>
          <p:cNvPr id="38" name="Text 29"/>
          <p:cNvSpPr txBox="1"/>
          <p:nvPr/>
        </p:nvSpPr>
        <p:spPr>
          <a:xfrm>
            <a:off x="8356397" y="5088636"/>
            <a:ext cx="3058058" cy="315595"/>
          </a:xfrm>
          <a:prstGeom prst="rect">
            <a:avLst/>
          </a:prstGeom>
          <a:noFill/>
          <a:ln/>
        </p:spPr>
        <p:txBody>
          <a:bodyPr wrap="square" lIns="0" tIns="0" rIns="0" bIns="0" rtlCol="0" anchor="t"/>
          <a:lstStyle/>
          <a:p>
            <a:pPr indent="0" marL="0">
              <a:buNone/>
            </a:pPr>
            <a:r>
              <a:rPr lang="en-US" sz="1700" b="1" dirty="0">
                <a:solidFill>
                  <a:srgbClr val="FBF4EC"/>
                </a:solidFill>
                <a:latin typeface="Arial" pitchFamily="34" charset="0"/>
                <a:ea typeface="Arial" pitchFamily="34" charset="-122"/>
                <a:cs typeface="Arial" pitchFamily="34" charset="-120"/>
              </a:rPr>
              <a:t>A human signs off</a:t>
            </a:r>
            <a:endParaRPr lang="en-US" sz="1700" dirty="0"/>
          </a:p>
        </p:txBody>
      </p:sp>
      <p:sp>
        <p:nvSpPr>
          <p:cNvPr id="39" name="Text 30"/>
          <p:cNvSpPr txBox="1"/>
          <p:nvPr/>
        </p:nvSpPr>
        <p:spPr>
          <a:xfrm>
            <a:off x="8356397" y="5468239"/>
            <a:ext cx="3058058" cy="566801"/>
          </a:xfrm>
          <a:prstGeom prst="rect">
            <a:avLst/>
          </a:prstGeom>
          <a:noFill/>
          <a:ln/>
        </p:spPr>
        <p:txBody>
          <a:bodyPr wrap="square" lIns="0" tIns="0" rIns="0" bIns="0" rtlCol="0" anchor="t"/>
          <a:lstStyle/>
          <a:p>
            <a:pPr indent="0" marL="0">
              <a:spcAft>
                <a:spcPts val="400"/>
              </a:spcAft>
              <a:buNone/>
            </a:pPr>
            <a:r>
              <a:rPr lang="en-US" sz="1400" dirty="0">
                <a:solidFill>
                  <a:srgbClr val="A89C91"/>
                </a:solidFill>
                <a:latin typeface="Arial" pitchFamily="34" charset="0"/>
                <a:ea typeface="Arial" pitchFamily="34" charset="-122"/>
                <a:cs typeface="Arial" pitchFamily="34" charset="-120"/>
              </a:rPr>
              <a:t>Accountability stays with the clinician. Always.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808"/>
        </a:solidFill>
      </p:bgPr>
    </p:bg>
    <p:spTree>
      <p:nvGrpSpPr>
        <p:cNvPr id="1" name=""/>
        <p:cNvGrpSpPr/>
        <p:nvPr/>
      </p:nvGrpSpPr>
      <p:grpSpPr>
        <a:xfrm>
          <a:off x="0" y="0"/>
          <a:ext cx="0" cy="0"/>
          <a:chOff x="0" y="0"/>
          <a:chExt cx="0" cy="0"/>
        </a:xfrm>
      </p:grpSpPr>
      <p:sp>
        <p:nvSpPr>
          <p:cNvPr id="3" name="Shape 0"/>
          <p:cNvSpPr/>
          <p:nvPr/>
        </p:nvSpPr>
        <p:spPr>
          <a:xfrm>
            <a:off x="548640" y="384048"/>
            <a:ext cx="109728" cy="109728"/>
          </a:xfrm>
          <a:prstGeom prst="ellipse">
            <a:avLst/>
          </a:prstGeom>
          <a:solidFill>
            <a:srgbClr val="FF641E"/>
          </a:solidFill>
          <a:ln w="12700">
            <a:solidFill>
              <a:srgbClr val="FF641E"/>
            </a:solidFill>
            <a:prstDash val="solid"/>
          </a:ln>
        </p:spPr>
      </p:sp>
      <p:sp>
        <p:nvSpPr>
          <p:cNvPr id="4" name="Text 1"/>
          <p:cNvSpPr txBox="1"/>
          <p:nvPr/>
        </p:nvSpPr>
        <p:spPr>
          <a:xfrm>
            <a:off x="731520" y="301752"/>
            <a:ext cx="2743200" cy="274320"/>
          </a:xfrm>
          <a:prstGeom prst="rect">
            <a:avLst/>
          </a:prstGeom>
          <a:noFill/>
          <a:ln/>
        </p:spPr>
        <p:txBody>
          <a:bodyPr wrap="square" lIns="0" tIns="0" rIns="0" bIns="0" rtlCol="0" anchor="ctr"/>
          <a:lstStyle/>
          <a:p>
            <a:pPr indent="0" marL="0">
              <a:buNone/>
            </a:pPr>
            <a:r>
              <a:rPr lang="en-US" sz="1000" b="1" spc="300" kern="0" dirty="0">
                <a:solidFill>
                  <a:srgbClr val="FBF4EC"/>
                </a:solidFill>
                <a:latin typeface="Arial" pitchFamily="34" charset="0"/>
                <a:ea typeface="Arial" pitchFamily="34" charset="-122"/>
                <a:cs typeface="Arial" pitchFamily="34" charset="-120"/>
              </a:rPr>
              <a:t>PARABOX AI</a:t>
            </a:r>
            <a:endParaRPr lang="en-US" sz="1000" dirty="0"/>
          </a:p>
        </p:txBody>
      </p:sp>
      <p:sp>
        <p:nvSpPr>
          <p:cNvPr id="5" name="Text 2"/>
          <p:cNvSpPr txBox="1"/>
          <p:nvPr/>
        </p:nvSpPr>
        <p:spPr>
          <a:xfrm>
            <a:off x="9814255" y="301752"/>
            <a:ext cx="1828800" cy="274320"/>
          </a:xfrm>
          <a:prstGeom prst="rect">
            <a:avLst/>
          </a:prstGeom>
          <a:noFill/>
          <a:ln/>
        </p:spPr>
        <p:txBody>
          <a:bodyPr wrap="square" lIns="0" tIns="0" rIns="0" bIns="0" rtlCol="0" anchor="ctr"/>
          <a:lstStyle/>
          <a:p>
            <a:pPr algn="r" indent="0" marL="0">
              <a:buNone/>
            </a:pPr>
            <a:r>
              <a:rPr lang="en-US" sz="1000" dirty="0">
                <a:solidFill>
                  <a:srgbClr val="6F655E"/>
                </a:solidFill>
                <a:latin typeface="Arial" pitchFamily="34" charset="0"/>
                <a:ea typeface="Arial" pitchFamily="34" charset="-122"/>
                <a:cs typeface="Arial" pitchFamily="34" charset="-120"/>
              </a:rPr>
              <a:t>19 / 19</a:t>
            </a:r>
            <a:endParaRPr lang="en-US" sz="1000" dirty="0"/>
          </a:p>
        </p:txBody>
      </p:sp>
      <p:sp>
        <p:nvSpPr>
          <p:cNvPr id="6" name="Text 3"/>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6F655E"/>
                </a:solidFill>
                <a:latin typeface="Arial" pitchFamily="34" charset="0"/>
                <a:ea typeface="Arial" pitchFamily="34" charset="-122"/>
                <a:cs typeface="Arial" pitchFamily="34" charset="-120"/>
              </a:rPr>
              <a:t>paraboxai.com  ·  @abhishekjbenur</a:t>
            </a:r>
            <a:endParaRPr lang="en-US" sz="900" dirty="0"/>
          </a:p>
        </p:txBody>
      </p:sp>
      <p:sp>
        <p:nvSpPr>
          <p:cNvPr id="7" name="Text 4"/>
          <p:cNvSpPr txBox="1"/>
          <p:nvPr/>
        </p:nvSpPr>
        <p:spPr>
          <a:xfrm>
            <a:off x="5242255" y="6400800"/>
            <a:ext cx="6400800" cy="228600"/>
          </a:xfrm>
          <a:prstGeom prst="rect">
            <a:avLst/>
          </a:prstGeom>
          <a:noFill/>
          <a:ln/>
        </p:spPr>
        <p:txBody>
          <a:bodyPr wrap="square" lIns="0" tIns="0" rIns="0" bIns="0" rtlCol="0" anchor="ctr"/>
          <a:lstStyle/>
          <a:p>
            <a:pPr algn="r" indent="0" marL="0">
              <a:buNone/>
            </a:pPr>
            <a:r>
              <a:rPr lang="en-US" sz="900" spc="100" kern="0" dirty="0">
                <a:solidFill>
                  <a:srgbClr val="6F655E"/>
                </a:solidFill>
                <a:latin typeface="Arial" pitchFamily="34" charset="0"/>
                <a:ea typeface="Arial" pitchFamily="34" charset="-122"/>
                <a:cs typeface="Arial" pitchFamily="34" charset="-120"/>
              </a:rPr>
              <a:t>PULMOCON 2026  ·  AI IN CLINICAL PRACTICE</a:t>
            </a:r>
            <a:endParaRPr lang="en-US" sz="900" dirty="0"/>
          </a:p>
        </p:txBody>
      </p:sp>
      <p:sp>
        <p:nvSpPr>
          <p:cNvPr id="8" name="Text 5"/>
          <p:cNvSpPr txBox="1"/>
          <p:nvPr/>
        </p:nvSpPr>
        <p:spPr>
          <a:xfrm>
            <a:off x="548640" y="1463040"/>
            <a:ext cx="10058400" cy="320040"/>
          </a:xfrm>
          <a:prstGeom prst="rect">
            <a:avLst/>
          </a:prstGeom>
          <a:noFill/>
          <a:ln/>
        </p:spPr>
        <p:txBody>
          <a:bodyPr wrap="square" lIns="0" tIns="0" rIns="0" bIns="0" rtlCol="0" anchor="ctr"/>
          <a:lstStyle/>
          <a:p>
            <a:pPr indent="0" marL="0">
              <a:buNone/>
            </a:pPr>
            <a:r>
              <a:rPr lang="en-US" sz="1200" b="1" spc="300" kern="0" dirty="0">
                <a:solidFill>
                  <a:srgbClr val="FF641E"/>
                </a:solidFill>
                <a:latin typeface="Arial" pitchFamily="34" charset="0"/>
                <a:ea typeface="Arial" pitchFamily="34" charset="-122"/>
                <a:cs typeface="Arial" pitchFamily="34" charset="-120"/>
              </a:rPr>
              <a:t>TAKE-HOME</a:t>
            </a:r>
            <a:endParaRPr lang="en-US" sz="1200" dirty="0"/>
          </a:p>
        </p:txBody>
      </p:sp>
      <p:sp>
        <p:nvSpPr>
          <p:cNvPr id="9" name="Text 6"/>
          <p:cNvSpPr txBox="1"/>
          <p:nvPr/>
        </p:nvSpPr>
        <p:spPr>
          <a:xfrm>
            <a:off x="548640" y="1828800"/>
            <a:ext cx="10972800" cy="850900"/>
          </a:xfrm>
          <a:prstGeom prst="rect">
            <a:avLst/>
          </a:prstGeom>
          <a:noFill/>
          <a:ln/>
        </p:spPr>
        <p:txBody>
          <a:bodyPr wrap="square" lIns="0" tIns="0" rIns="0" bIns="0" rtlCol="0" anchor="t"/>
          <a:lstStyle/>
          <a:p>
            <a:pPr indent="0" marL="0">
              <a:buNone/>
            </a:pPr>
            <a:r>
              <a:rPr lang="en-US" sz="5200" b="1" dirty="0">
                <a:solidFill>
                  <a:srgbClr val="FBF4EC"/>
                </a:solidFill>
                <a:latin typeface="Arial" pitchFamily="34" charset="0"/>
                <a:ea typeface="Arial" pitchFamily="34" charset="-122"/>
                <a:cs typeface="Arial" pitchFamily="34" charset="-120"/>
              </a:rPr>
              <a:t>AI drafts. </a:t>
            </a:r>
            <a:pPr indent="0" marL="0">
              <a:buNone/>
            </a:pPr>
            <a:r>
              <a:rPr lang="en-US" sz="5200" b="1" dirty="0">
                <a:solidFill>
                  <a:srgbClr val="FF641E"/>
                </a:solidFill>
                <a:latin typeface="Arial" pitchFamily="34" charset="0"/>
                <a:ea typeface="Arial" pitchFamily="34" charset="-122"/>
                <a:cs typeface="Arial" pitchFamily="34" charset="-120"/>
              </a:rPr>
              <a:t>You decide.</a:t>
            </a:r>
            <a:endParaRPr lang="en-US" sz="5200" dirty="0"/>
          </a:p>
        </p:txBody>
      </p:sp>
      <p:sp>
        <p:nvSpPr>
          <p:cNvPr id="10" name="Text 7"/>
          <p:cNvSpPr txBox="1"/>
          <p:nvPr/>
        </p:nvSpPr>
        <p:spPr>
          <a:xfrm>
            <a:off x="548640" y="2908300"/>
            <a:ext cx="9601200" cy="914400"/>
          </a:xfrm>
          <a:prstGeom prst="rect">
            <a:avLst/>
          </a:prstGeom>
          <a:noFill/>
          <a:ln/>
        </p:spPr>
        <p:txBody>
          <a:bodyPr wrap="square" lIns="0" tIns="0" rIns="0" bIns="0" rtlCol="0" anchor="t"/>
          <a:lstStyle/>
          <a:p>
            <a:pPr indent="0" marL="0">
              <a:buNone/>
            </a:pPr>
            <a:r>
              <a:rPr lang="en-US" sz="1900" i="1" dirty="0">
                <a:solidFill>
                  <a:srgbClr val="A89C91"/>
                </a:solidFill>
                <a:latin typeface="Cambria" pitchFamily="34" charset="0"/>
                <a:ea typeface="Cambria" pitchFamily="34" charset="-122"/>
                <a:cs typeface="Cambria" pitchFamily="34" charset="-120"/>
              </a:rPr>
              <a:t>Use clinical-grade tools for clinical questions, connect your assistant to real evidence, and keep your judgement and your patient's privacy at the centre.</a:t>
            </a:r>
            <a:endParaRPr lang="en-US" sz="1900" dirty="0"/>
          </a:p>
        </p:txBody>
      </p:sp>
      <p:sp>
        <p:nvSpPr>
          <p:cNvPr id="11" name="Shape 8"/>
          <p:cNvSpPr/>
          <p:nvPr/>
        </p:nvSpPr>
        <p:spPr>
          <a:xfrm>
            <a:off x="548640" y="4892040"/>
            <a:ext cx="11094415" cy="1097280"/>
          </a:xfrm>
          <a:prstGeom prst="roundRect">
            <a:avLst>
              <a:gd name="adj" fmla="val 6667"/>
            </a:avLst>
          </a:prstGeom>
          <a:solidFill>
            <a:srgbClr val="141010"/>
          </a:solidFill>
          <a:ln w="12700">
            <a:solidFill>
              <a:srgbClr val="2E2522"/>
            </a:solidFill>
            <a:prstDash val="solid"/>
          </a:ln>
        </p:spPr>
      </p:sp>
      <p:sp>
        <p:nvSpPr>
          <p:cNvPr id="12" name="Text 9"/>
          <p:cNvSpPr txBox="1"/>
          <p:nvPr/>
        </p:nvSpPr>
        <p:spPr>
          <a:xfrm>
            <a:off x="822960" y="5029200"/>
            <a:ext cx="2743200" cy="274320"/>
          </a:xfrm>
          <a:prstGeom prst="rect">
            <a:avLst/>
          </a:prstGeom>
          <a:noFill/>
          <a:ln/>
        </p:spPr>
        <p:txBody>
          <a:bodyPr wrap="square" lIns="0" tIns="0" rIns="0" bIns="0" rtlCol="0" anchor="ctr"/>
          <a:lstStyle/>
          <a:p>
            <a:pPr indent="0" marL="0">
              <a:buNone/>
            </a:pPr>
            <a:r>
              <a:rPr lang="en-US" sz="1000" b="1" spc="300" kern="0" dirty="0">
                <a:solidFill>
                  <a:srgbClr val="FF641E"/>
                </a:solidFill>
                <a:latin typeface="Arial" pitchFamily="34" charset="0"/>
                <a:ea typeface="Arial" pitchFamily="34" charset="-122"/>
                <a:cs typeface="Arial" pitchFamily="34" charset="-120"/>
              </a:rPr>
              <a:t>UP NEXT</a:t>
            </a:r>
            <a:endParaRPr lang="en-US" sz="1000" dirty="0"/>
          </a:p>
        </p:txBody>
      </p:sp>
      <p:sp>
        <p:nvSpPr>
          <p:cNvPr id="13" name="Text 10"/>
          <p:cNvSpPr txBox="1"/>
          <p:nvPr/>
        </p:nvSpPr>
        <p:spPr>
          <a:xfrm>
            <a:off x="822960" y="5321808"/>
            <a:ext cx="10545775" cy="548640"/>
          </a:xfrm>
          <a:prstGeom prst="rect">
            <a:avLst/>
          </a:prstGeom>
          <a:noFill/>
          <a:ln/>
        </p:spPr>
        <p:txBody>
          <a:bodyPr wrap="square" lIns="0" tIns="0" rIns="0" bIns="0" rtlCol="0" anchor="t"/>
          <a:lstStyle/>
          <a:p>
            <a:pPr indent="0" marL="0">
              <a:buNone/>
            </a:pPr>
            <a:r>
              <a:rPr lang="en-US" sz="1500" dirty="0">
                <a:solidFill>
                  <a:srgbClr val="FBF4EC"/>
                </a:solidFill>
                <a:latin typeface="Arial" pitchFamily="34" charset="0"/>
                <a:ea typeface="Arial" pitchFamily="34" charset="-122"/>
                <a:cs typeface="Arial" pitchFamily="34" charset="-120"/>
              </a:rPr>
              <a:t>Difficult Cases: How AI Can Help (live cases) · Dr. Saikat Banerjee · 6:25 PM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Parabox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Clinical Practice</dc:title>
  <dc:subject>PptxGenJS Presentation</dc:subject>
  <dc:creator>Dr. Abhishek J. Benur · Parabox AI</dc:creator>
  <cp:lastModifiedBy>Dr. Abhishek J. Benur · Parabox AI</cp:lastModifiedBy>
  <cp:revision>1</cp:revision>
  <dcterms:created xsi:type="dcterms:W3CDTF">2026-09-28T19:10:49Z</dcterms:created>
  <dcterms:modified xsi:type="dcterms:W3CDTF">2026-09-28T19:10:49Z</dcterms:modified>
</cp:coreProperties>
</file>