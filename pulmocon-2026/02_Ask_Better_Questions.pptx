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minutes, live exercise. Energy up: ask the room how many used ChatGPT or Claude this week, then how many were disappointed by an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both aloud. The right-hand prompt took 40 seconds longer to write and saves 10 minutes of back-and-forth.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mental model. One sentence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Anthropic prompting best practices; OpenAI GPT-5 prompting guide; Google Gemini prompt design strategies; Microsoft 365 Copilot prompt guidance. All accessed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read the table; highlight the right-hand column. The Anthropic long-context tip reports up to ~30% better answers when the question comes after the documents.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framework behind the 1,000 Medical Prompts library. Order inside a prompt: Persona, Material, Request, Parameters, Output, then Tweak in follow-ups.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top to bottom: each label is one letter of P-R-O-M-P-T.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Tropical fever is a perfect example: context changes the ranking completely.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ask a colleague who speaks the language to check the medical terms.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to the next session on finding and understanding research papers.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tags are used across all 1,000 prompts in the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Iteration is where experts differ from beginners.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LIVE: type the prompt in Claude or ChatGPT on the projector, add the audience's suggestions each round, and run it. Keep to 4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1,000 Medical Prompts library for residents and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566928"/>
            <a:ext cx="128016" cy="128016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68096" y="4846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PROMPT-REFINEMENT EXERCISE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83080"/>
            <a:ext cx="1078992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better </a:t>
            </a:r>
            <a:pPr indent="0" marL="0">
              <a:buNone/>
            </a:pPr>
            <a:r>
              <a:rPr lang="en-US" sz="54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questions.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84607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A89C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AI gives a textbook answer or a useless one. The difference is the prompt, and prompting is a skill you can learn in ten minutes.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4709160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470916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LABS SAY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68880" y="470916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468880" y="470916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P-R-O-M-P-T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840480" y="470916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40480" y="470916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VS GOOD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212080" y="470916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212080" y="47091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EXERCISE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0" y="5532120"/>
            <a:ext cx="12191695" cy="1325880"/>
          </a:xfrm>
          <a:prstGeom prst="rect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57150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Abhishek J. Benur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1447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1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Pulmonologist · Co-Founder, Parabox AI · Author, The 1,000 Medical Prompts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985455" y="57607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A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@abhishekjbenur</a:t>
            </a:r>
            <a:endParaRPr lang="en-US" sz="14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0A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7:20 PM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MODEL, SAME MINUTE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is only as good as </a:t>
            </a:r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ASK BETTER QUESTIONS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5387188" cy="3474720"/>
          </a:xfrm>
          <a:prstGeom prst="roundRect">
            <a:avLst>
              <a:gd name="adj" fmla="val 2105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2212848"/>
            <a:ext cx="4838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MOST OF US TYPE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560320"/>
            <a:ext cx="48385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Tell me about COPD exacerbation treatment.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017520"/>
            <a:ext cx="48385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generic textbook paragraph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patient, no setting, no severity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or European drugs and doses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sources you can check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still have to do all the thinking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55868" y="2011680"/>
            <a:ext cx="5387188" cy="3474720"/>
          </a:xfrm>
          <a:prstGeom prst="roundRect">
            <a:avLst>
              <a:gd name="adj" fmla="val 2105"/>
            </a:avLst>
          </a:prstGeom>
          <a:solidFill>
            <a:srgbClr val="3A1E12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30188" y="2212848"/>
            <a:ext cx="4838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PROMPT WITH CONTEXT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530188" y="2560320"/>
            <a:ext cx="4838548" cy="1424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 as a pulmonologist in an Indian district hospital. 68-year-old man, known COPD, 3 days of increased breathlessness and purulent sputum, SpO2 86% on room air, no NIV available. Give a stepwise management plan for the first 6 hours with drugs and doses [VERIFY], when to refer, and 3 red flags. Cite GOLD 2025 where relevant.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530188" y="4122420"/>
            <a:ext cx="4838548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plan for this patient, in this setting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Doses flagged for you to check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triggers and red flags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source you can open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5623560"/>
            <a:ext cx="11094415" cy="530352"/>
          </a:xfrm>
          <a:prstGeom prst="roundRect">
            <a:avLst>
              <a:gd name="adj" fmla="val 13793"/>
            </a:avLst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5623560"/>
            <a:ext cx="10637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changed in the model. </a:t>
            </a:r>
            <a:pPr indent="0" marL="0">
              <a:buNone/>
            </a:pPr>
            <a:r>
              <a:rPr lang="en-US" sz="130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changed in the question.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PROMPTS MATTER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</a:t>
            </a:r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doesn't know your patient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ASK BETTER QUESTIONS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3515258" cy="3520440"/>
          </a:xfrm>
          <a:prstGeom prst="roundRect">
            <a:avLst>
              <a:gd name="adj" fmla="val 2081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340864"/>
            <a:ext cx="246888" cy="2468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77240" y="2871216"/>
            <a:ext cx="3058058" cy="585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predicts, it doesn't know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3520694"/>
            <a:ext cx="3058058" cy="1874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language model writes the most likely next words. With a vague question, 'most likely' means the average textbook answer.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338218" y="2011680"/>
            <a:ext cx="3515258" cy="3520440"/>
          </a:xfrm>
          <a:prstGeom prst="roundRect">
            <a:avLst>
              <a:gd name="adj" fmla="val 2081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66818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834" y="2340864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566818" y="2871216"/>
            <a:ext cx="3058058" cy="585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fills gaps with defaults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4566818" y="3520694"/>
            <a:ext cx="3058058" cy="1874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setting given? It assumes a well-resourced Western hospital: drugs, doses, investigations you may not have.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8127797" y="2011680"/>
            <a:ext cx="3515258" cy="3520440"/>
          </a:xfrm>
          <a:prstGeom prst="roundRect">
            <a:avLst>
              <a:gd name="adj" fmla="val 2081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356397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4413" y="2340864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356397" y="2871216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sounds sure either way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8356397" y="3250819"/>
            <a:ext cx="3058058" cy="21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confident tone is not evidence. Unless you ask for sources and uncertainty, it won't volunteer them.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548640" y="5669280"/>
            <a:ext cx="11094415" cy="530352"/>
          </a:xfrm>
          <a:prstGeom prst="roundRect">
            <a:avLst>
              <a:gd name="adj" fmla="val 13793"/>
            </a:avLst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77240" y="5669280"/>
            <a:ext cx="10637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job is to supply </a:t>
            </a:r>
            <a:pPr indent="0" marL="0">
              <a:buNone/>
            </a:pPr>
            <a:r>
              <a:rPr lang="en-US" sz="130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only you know:</a:t>
            </a:r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patient, the setting, the purpose, and the format you need.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ASK BETTER QUESTIONS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109728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337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6576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</a:t>
            </a:r>
            <a:pPr indent="0" marL="0">
              <a:buNone/>
            </a:pPr>
            <a:r>
              <a:rPr lang="en-US" sz="44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 lab</a:t>
            </a:r>
            <a:pPr indent="0" marL="0">
              <a:buNone/>
            </a:pPr>
            <a:r>
              <a:rPr lang="en-US" sz="4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agrees on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6634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A89C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Anthropic, OpenAI, Google and Microsoft publish prompting guides. They use different words for the same six ideas.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LABS, ONE CONSENSUS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principles from the </a:t>
            </a:r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guides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ASK BETTER QUESTIONS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3515258" cy="1943100"/>
          </a:xfrm>
          <a:prstGeom prst="roundRect">
            <a:avLst>
              <a:gd name="adj" fmla="val 3765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340864"/>
            <a:ext cx="246888" cy="2468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77240" y="2871216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it a role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3250819"/>
            <a:ext cx="3058058" cy="5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senior expert with a clear level and style. Google: Persona. OpenAI: Identity.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338218" y="2011680"/>
            <a:ext cx="3515258" cy="1943100"/>
          </a:xfrm>
          <a:prstGeom prst="roundRect">
            <a:avLst>
              <a:gd name="adj" fmla="val 3765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66818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834" y="2340864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566818" y="2871216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context and why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4566818" y="3250819"/>
            <a:ext cx="3058058" cy="5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patient, setting and purpose. Explaining why helps it generalise (Anthropic).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127797" y="2011680"/>
            <a:ext cx="3515258" cy="1943100"/>
          </a:xfrm>
          <a:prstGeom prst="roundRect">
            <a:avLst>
              <a:gd name="adj" fmla="val 3765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356397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4413" y="2340864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356397" y="2871216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clear task, in steps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8356397" y="3250819"/>
            <a:ext cx="3058058" cy="5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 steps beat a paragraph. Break big jobs into a chain of prompts.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48640" y="4229100"/>
            <a:ext cx="3515258" cy="1943100"/>
          </a:xfrm>
          <a:prstGeom prst="roundRect">
            <a:avLst>
              <a:gd name="adj" fmla="val 3765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77240" y="443026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558284"/>
            <a:ext cx="246888" cy="24688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77240" y="5088636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output</a:t>
            </a:r>
            <a:endParaRPr lang="en-US" sz="1700" dirty="0"/>
          </a:p>
        </p:txBody>
      </p:sp>
      <p:sp>
        <p:nvSpPr>
          <p:cNvPr id="29" name="Text 22"/>
          <p:cNvSpPr txBox="1"/>
          <p:nvPr/>
        </p:nvSpPr>
        <p:spPr>
          <a:xfrm>
            <a:off x="777240" y="5468239"/>
            <a:ext cx="3058058" cy="5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Format, length, audience and tone. Google: Format. Microsoft: Expectations.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4338218" y="4229100"/>
            <a:ext cx="3515258" cy="1943100"/>
          </a:xfrm>
          <a:prstGeom prst="roundRect">
            <a:avLst>
              <a:gd name="adj" fmla="val 3765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566818" y="443026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4834" y="4558284"/>
            <a:ext cx="246888" cy="24688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4566818" y="5088636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it in a source</a:t>
            </a:r>
            <a:endParaRPr lang="en-US" sz="1700" dirty="0"/>
          </a:p>
        </p:txBody>
      </p:sp>
      <p:sp>
        <p:nvSpPr>
          <p:cNvPr id="34" name="Text 26"/>
          <p:cNvSpPr txBox="1"/>
          <p:nvPr/>
        </p:nvSpPr>
        <p:spPr>
          <a:xfrm>
            <a:off x="4566818" y="5468239"/>
            <a:ext cx="3058058" cy="5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or connect the guideline or paper; ask it to quote before it answers.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8127797" y="4229100"/>
            <a:ext cx="3515258" cy="1943100"/>
          </a:xfrm>
          <a:prstGeom prst="roundRect">
            <a:avLst>
              <a:gd name="adj" fmla="val 3765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8356397" y="443026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4413" y="4558284"/>
            <a:ext cx="246888" cy="246888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8356397" y="5088636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</a:t>
            </a:r>
            <a:endParaRPr lang="en-US" sz="1700" dirty="0"/>
          </a:p>
        </p:txBody>
      </p:sp>
      <p:sp>
        <p:nvSpPr>
          <p:cNvPr id="39" name="Text 30"/>
          <p:cNvSpPr txBox="1"/>
          <p:nvPr/>
        </p:nvSpPr>
        <p:spPr>
          <a:xfrm>
            <a:off x="8356397" y="5468239"/>
            <a:ext cx="3058058" cy="5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in the same chat: shorter, add a case, cite that, make it a table.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IDEAS, DIFFERENT LABELS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lab's </a:t>
            </a:r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ASK BETTER QUESTIONS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931920"/>
                <a:gridCol w="49651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FF64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FF64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THEIR FORMULA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FF64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TIP THAT MATTERS MOST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80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BF4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(Gemini)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64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 · Task · Context · Format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A89C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 in full sentences; most good prompts are ~20+ words, not 5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BF4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Microsoft (Copilot)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64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Goal · Context · Expectations · Source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A89C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 the source you want it to use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80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BF4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OpenAI (ChatGPT)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64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Identity · Instructions · Examples · Context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A89C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Newer models follow instructions literally: never contradict yourself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BF4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Anthropic (Claude)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64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Clear, direct, with context, examples and structure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A89C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Put long documents first and your question last; use labelled sections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808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669280"/>
            <a:ext cx="11094415" cy="530352"/>
          </a:xfrm>
          <a:prstGeom prst="roundRect">
            <a:avLst>
              <a:gd name="adj" fmla="val 13793"/>
            </a:avLst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77240" y="5669280"/>
            <a:ext cx="10637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version for medicine combines all four: </a:t>
            </a:r>
            <a:pPr indent="0" marL="0">
              <a:buNone/>
            </a:pPr>
            <a:r>
              <a:rPr lang="en-US" sz="130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P-R-O-M-P-T.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good medical prompt is </a:t>
            </a:r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P-R-O-M-P-T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ASK BETTER QUESTIONS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3515258" cy="1943100"/>
          </a:xfrm>
          <a:prstGeom prst="roundRect">
            <a:avLst>
              <a:gd name="adj" fmla="val 3765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221284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· PERSONA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468880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the AI should be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848483"/>
            <a:ext cx="3058058" cy="969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pulmonologist in a government teaching hospital who teaches residents."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338218" y="2011680"/>
            <a:ext cx="3515258" cy="1943100"/>
          </a:xfrm>
          <a:prstGeom prst="roundRect">
            <a:avLst>
              <a:gd name="adj" fmla="val 3765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66818" y="221284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· REQUEST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4566818" y="2468880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task, numbered steps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4566818" y="2848483"/>
            <a:ext cx="3058058" cy="969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"1. Problem representation. 2. Differential. 3. Next tests."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127797" y="2011680"/>
            <a:ext cx="3515258" cy="1943100"/>
          </a:xfrm>
          <a:prstGeom prst="roundRect">
            <a:avLst>
              <a:gd name="adj" fmla="val 3765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56397" y="221284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· OUTPUT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8356397" y="2468880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Shape, length, audience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8356397" y="2848483"/>
            <a:ext cx="3058058" cy="969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table, then 5 bullets, for final-year MBBS students."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4229100"/>
            <a:ext cx="3515258" cy="1943100"/>
          </a:xfrm>
          <a:prstGeom prst="roundRect">
            <a:avLst>
              <a:gd name="adj" fmla="val 3765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443026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· MATERIAL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4686300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context and sources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5065903"/>
            <a:ext cx="3058058" cy="969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de-identified case, the guideline, the paper. Always before the task.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338218" y="4229100"/>
            <a:ext cx="3515258" cy="1943100"/>
          </a:xfrm>
          <a:prstGeom prst="roundRect">
            <a:avLst>
              <a:gd name="adj" fmla="val 3765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66818" y="443026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· PARAMETERS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4566818" y="4686300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and guardrails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4566818" y="5065903"/>
            <a:ext cx="3058058" cy="969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"Mark doses [VERIFY]. Say [NOT REPORTED] if it isn't in the paper."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127797" y="4229100"/>
            <a:ext cx="3515258" cy="1943100"/>
          </a:xfrm>
          <a:prstGeom prst="roundRect">
            <a:avLst>
              <a:gd name="adj" fmla="val 3765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356397" y="443026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· TWEAK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8356397" y="4686300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and self-check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8356397" y="5065903"/>
            <a:ext cx="3058058" cy="969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"Now critique your answer as a strict examiner."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CLINICAL PROMPT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prompt, </a:t>
            </a:r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block labelled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ASK BETTER QUESTIONS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7406640" cy="4160520"/>
          </a:xfrm>
          <a:prstGeom prst="roundRect">
            <a:avLst>
              <a:gd name="adj" fmla="val 1758"/>
            </a:avLst>
          </a:prstGeom>
          <a:solidFill>
            <a:srgbClr val="141010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194560"/>
            <a:ext cx="3648456" cy="292608"/>
          </a:xfrm>
          <a:prstGeom prst="roundRect">
            <a:avLst>
              <a:gd name="adj" fmla="val 50000"/>
            </a:avLst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2194560"/>
            <a:ext cx="3648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· APPROACH TO A SYMPTOM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2633472"/>
            <a:ext cx="6858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PERSONA:</a:t>
            </a:r>
            <a:pPr indent="0" marL="0">
              <a:buNone/>
            </a:pPr>
            <a:r>
              <a:rPr lang="en-US" sz="125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You are a senior pulmonologist who teaches MD residents.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CONTEXT: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Setting: </a:t>
            </a:r>
            <a:pPr indent="0" marL="0">
              <a:buNone/>
            </a:pPr>
            <a:r>
              <a:rPr lang="en-US" sz="125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[tertiary government hospital, India]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 (de-identified): </a:t>
            </a:r>
            <a:pPr indent="0" marL="0">
              <a:buNone/>
            </a:pPr>
            <a:r>
              <a:rPr lang="en-US" sz="125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[45-year-old woman, 2 months of haemoptysis, 5 kg weight loss, non-smoker]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 need: </a:t>
            </a:r>
            <a:pPr indent="0" marL="0">
              <a:buNone/>
            </a:pPr>
            <a:r>
              <a:rPr lang="en-US" sz="125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 teaching-ward approach, not a final diagnosis]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Confirm true haemoptysis versus mimics.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Prioritised differential with Indian epidemiology (TB first).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Stepwise investigations.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Red flags for massive haemoptysis.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</a:t>
            </a:r>
            <a:pPr indent="0" marL="0">
              <a:buNone/>
            </a:pPr>
            <a:r>
              <a:rPr lang="en-US" sz="125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Mark thresholds </a:t>
            </a:r>
            <a:pPr indent="0" marL="0">
              <a:buNone/>
            </a:pPr>
            <a:r>
              <a:rPr lang="en-US" sz="125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[VERIFY]</a:t>
            </a:r>
            <a:pPr indent="0" marL="0">
              <a:buNone/>
            </a:pPr>
            <a:r>
              <a:rPr lang="en-US" sz="125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Ask me for missing details with </a:t>
            </a:r>
            <a:pPr indent="0" marL="0">
              <a:buNone/>
            </a:pPr>
            <a:r>
              <a:rPr lang="en-US" sz="125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[ASK ME]</a:t>
            </a:r>
            <a:pPr indent="0" marL="0">
              <a:buNone/>
            </a:pPr>
            <a:r>
              <a:rPr lang="en-US" sz="125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</a:t>
            </a:r>
            <a:pPr indent="0" marL="0">
              <a:buNone/>
            </a:pPr>
            <a:r>
              <a:rPr lang="en-US" sz="125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Headings, then a 60-second summary I can say on rounds.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201168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2377440"/>
            <a:ext cx="3413455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level, tone and specialty.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before task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reads the patient first, then the question.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 task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gets skipped.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with tags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becomes visible.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how you'll use it.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ASK BETTER QUESTIONS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109728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337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VS GOOD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6576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clinical </a:t>
            </a:r>
            <a:pPr indent="0" marL="0">
              <a:buNone/>
            </a:pPr>
            <a:r>
              <a:rPr lang="en-US" sz="44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before-and-afters</a:t>
            </a:r>
            <a:endParaRPr lang="en-US" sz="4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AND AFTER · DIFFERENTIAL DIAGNOSIS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list of causes to </a:t>
            </a:r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reasoning partner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ASK BETTER QUESTIONS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5387188" cy="4160520"/>
          </a:xfrm>
          <a:prstGeom prst="roundRect">
            <a:avLst>
              <a:gd name="adj" fmla="val 1758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2212848"/>
            <a:ext cx="4838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560320"/>
            <a:ext cx="48385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Causes of fever with low platelets?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017520"/>
            <a:ext cx="483854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causes, alphabetical, no priorities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about your season or region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'can't-miss' flag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next step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55868" y="2011680"/>
            <a:ext cx="5387188" cy="4160520"/>
          </a:xfrm>
          <a:prstGeom prst="roundRect">
            <a:avLst>
              <a:gd name="adj" fmla="val 1758"/>
            </a:avLst>
          </a:prstGeom>
          <a:solidFill>
            <a:srgbClr val="3A1E12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30188" y="2212848"/>
            <a:ext cx="4838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530188" y="2560320"/>
            <a:ext cx="4838548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 as an internal-medicine consultant in [coastal Karnataka, monsoon season]. 24-year-old man, 5 days of fever, myalgia, platelets 48,000, mild transaminitis, no bleeding. Give a prioritised differential (dengue, leptospirosis, scrub typhus, malaria and others), the one test that best separates each, red flags for admission, and what would change your ranking.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6530188" y="4640580"/>
            <a:ext cx="4838548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for this patient, place and season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that actually discriminate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net built in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AND AFTER · PATIENT EDUCATION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jargon to </a:t>
            </a:r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the patient can use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ASK BETTER QUESTIONS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5387188" cy="4160520"/>
          </a:xfrm>
          <a:prstGeom prst="roundRect">
            <a:avLst>
              <a:gd name="adj" fmla="val 1758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2212848"/>
            <a:ext cx="4838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560320"/>
            <a:ext cx="48385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asthma to a patient.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017520"/>
            <a:ext cx="483854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Wikipedia-style paragraph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terms left unexplained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only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on what to actually do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55868" y="2011680"/>
            <a:ext cx="5387188" cy="4160520"/>
          </a:xfrm>
          <a:prstGeom prst="roundRect">
            <a:avLst>
              <a:gd name="adj" fmla="val 1758"/>
            </a:avLst>
          </a:prstGeom>
          <a:solidFill>
            <a:srgbClr val="3A1E12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30188" y="2212848"/>
            <a:ext cx="4838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530188" y="2560320"/>
            <a:ext cx="4838548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asthma to a 35-year-old mother of two who studied till class 8, in simple [Hindi]. Use 6 short points: what asthma is, why the inhaler is daily, how to use a spacer, 3 warning signs to come to hospital, and one myth to correct ('inhalers are addictive'). Under 150 words. No medical jargon.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6530188" y="4229100"/>
            <a:ext cx="4838548" cy="1760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language and reading level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Behaviour, not just facts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Addresses a real Indian myth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AND AFTER · EVIDENCE QUESTION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an opinion to </a:t>
            </a:r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cited answer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ASK BETTER QUESTIONS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5387188" cy="3474720"/>
          </a:xfrm>
          <a:prstGeom prst="roundRect">
            <a:avLst>
              <a:gd name="adj" fmla="val 2105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2212848"/>
            <a:ext cx="4838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560320"/>
            <a:ext cx="48385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prone positioning good?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017520"/>
            <a:ext cx="48385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 whom? For what outcome?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from memory, may invent trials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effect sizes, no uncertainty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55868" y="2011680"/>
            <a:ext cx="5387188" cy="3474720"/>
          </a:xfrm>
          <a:prstGeom prst="roundRect">
            <a:avLst>
              <a:gd name="adj" fmla="val 2105"/>
            </a:avLst>
          </a:prstGeom>
          <a:solidFill>
            <a:srgbClr val="3A1E12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30188" y="2212848"/>
            <a:ext cx="4838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530188" y="2560320"/>
            <a:ext cx="4838548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the PubMed connector, find RCTs and meta-analyses on prone positioning in [awake, non-intubated adults with COVID-19 or ARDS] for the outcome [intubation]. For each: design, n, effect size with 95% CI, PMID. Then summarise in 4 bullets, noting where results conflict. Write [NOT REPORTED] for missing data.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6530188" y="4229100"/>
            <a:ext cx="4838548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PICO-shaped question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papers with PMIDs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about conflicting results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5623560"/>
            <a:ext cx="11094415" cy="530352"/>
          </a:xfrm>
          <a:prstGeom prst="roundRect">
            <a:avLst>
              <a:gd name="adj" fmla="val 13793"/>
            </a:avLst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5623560"/>
            <a:ext cx="10637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every clinical question into </a:t>
            </a:r>
            <a:pPr indent="0" marL="0">
              <a:buNone/>
            </a:pPr>
            <a:r>
              <a:rPr lang="en-US" sz="130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PICO:</a:t>
            </a:r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Population, Intervention, Comparison, Outcome.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ADMIT UNCERTAINTY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tags that </a:t>
            </a:r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fabrication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ASK BETTER QUESTIONS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2567864" cy="2834640"/>
          </a:xfrm>
          <a:prstGeom prst="roundRect">
            <a:avLst>
              <a:gd name="adj" fmla="val 2849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2212848"/>
            <a:ext cx="211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[VERIFY]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468880"/>
            <a:ext cx="2110664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to check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848483"/>
            <a:ext cx="2110664" cy="1860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Doses, cut-offs, statistics you must confirm in a primary source.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390824" y="2011680"/>
            <a:ext cx="2567864" cy="2834640"/>
          </a:xfrm>
          <a:prstGeom prst="roundRect">
            <a:avLst>
              <a:gd name="adj" fmla="val 2849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619424" y="2212848"/>
            <a:ext cx="211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[CITE]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3619424" y="2468880"/>
            <a:ext cx="2110664" cy="585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needing a source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3619424" y="3118358"/>
            <a:ext cx="2110664" cy="1590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from a paper you uploaded or a real PMID or DOI.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33008" y="2011680"/>
            <a:ext cx="2567864" cy="2834640"/>
          </a:xfrm>
          <a:prstGeom prst="roundRect">
            <a:avLst>
              <a:gd name="adj" fmla="val 2849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61608" y="2212848"/>
            <a:ext cx="211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[NOT REPORTED]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6461608" y="2468880"/>
            <a:ext cx="2110664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gaps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6461608" y="2848483"/>
            <a:ext cx="2110664" cy="1860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inventing a value the paper doesn't give.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9075191" y="2011680"/>
            <a:ext cx="2567864" cy="2834640"/>
          </a:xfrm>
          <a:prstGeom prst="roundRect">
            <a:avLst>
              <a:gd name="adj" fmla="val 2849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303791" y="2212848"/>
            <a:ext cx="211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[ASK ME]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9303791" y="2468880"/>
            <a:ext cx="2110664" cy="585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information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9303791" y="3118358"/>
            <a:ext cx="2110664" cy="1590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asks you instead of assuming.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48640" y="5669280"/>
            <a:ext cx="11094415" cy="530352"/>
          </a:xfrm>
          <a:prstGeom prst="roundRect">
            <a:avLst>
              <a:gd name="adj" fmla="val 13793"/>
            </a:avLst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77240" y="5669280"/>
            <a:ext cx="10637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one line to any prompt: </a:t>
            </a:r>
            <a:pPr indent="0" marL="0">
              <a:buNone/>
            </a:pPr>
            <a:r>
              <a:rPr lang="en-US" sz="130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you are unsure, say so and mark it [VERIFY]."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RESTART, REFINE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follow-ups that </a:t>
            </a:r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any answer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ASK BETTER QUESTIONS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1999427" cy="3017520"/>
          </a:xfrm>
          <a:prstGeom prst="roundRect">
            <a:avLst>
              <a:gd name="adj" fmla="val 3659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340864"/>
            <a:ext cx="246888" cy="2468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77240" y="2871216"/>
            <a:ext cx="1542227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"Ask me 3 questions first."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3647694"/>
            <a:ext cx="1542227" cy="1244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gathers context before answering.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2822387" y="2011680"/>
            <a:ext cx="1999427" cy="3017520"/>
          </a:xfrm>
          <a:prstGeom prst="roundRect">
            <a:avLst>
              <a:gd name="adj" fmla="val 3659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050987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003" y="2340864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050987" y="2871216"/>
            <a:ext cx="1542227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"Critique your answer."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3050987" y="3425444"/>
            <a:ext cx="1542227" cy="146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strict examiner or reviewer.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096134" y="2011680"/>
            <a:ext cx="1999427" cy="3017520"/>
          </a:xfrm>
          <a:prstGeom prst="roundRect">
            <a:avLst>
              <a:gd name="adj" fmla="val 3659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324734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2750" y="2340864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324734" y="2871216"/>
            <a:ext cx="1542227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"Make it a table."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324734" y="3425444"/>
            <a:ext cx="1542227" cy="146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5 bullets, or a one-liner.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7369881" y="2011680"/>
            <a:ext cx="1999427" cy="3017520"/>
          </a:xfrm>
          <a:prstGeom prst="roundRect">
            <a:avLst>
              <a:gd name="adj" fmla="val 3659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598481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497" y="2340864"/>
            <a:ext cx="246888" cy="24688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598481" y="2871216"/>
            <a:ext cx="1542227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did you assume?"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7598481" y="3425444"/>
            <a:ext cx="1542227" cy="146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assumptions come out.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9643628" y="2011680"/>
            <a:ext cx="1999427" cy="3017520"/>
          </a:xfrm>
          <a:prstGeom prst="roundRect">
            <a:avLst>
              <a:gd name="adj" fmla="val 3659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9872228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0244" y="2340864"/>
            <a:ext cx="246888" cy="24688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872228" y="2871216"/>
            <a:ext cx="1542227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"Show your sources."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9872228" y="3425444"/>
            <a:ext cx="1542227" cy="146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open them yourself.</a:t>
            </a:r>
            <a:endParaRPr lang="en-US" sz="1400" dirty="0"/>
          </a:p>
        </p:txBody>
      </p:sp>
      <p:sp>
        <p:nvSpPr>
          <p:cNvPr id="35" name="Shape 27"/>
          <p:cNvSpPr/>
          <p:nvPr/>
        </p:nvSpPr>
        <p:spPr>
          <a:xfrm>
            <a:off x="548640" y="5669280"/>
            <a:ext cx="11094415" cy="530352"/>
          </a:xfrm>
          <a:prstGeom prst="roundRect">
            <a:avLst>
              <a:gd name="adj" fmla="val 13793"/>
            </a:avLst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777240" y="5669280"/>
            <a:ext cx="10637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users treat the first answer as </a:t>
            </a:r>
            <a:pPr indent="0" marL="0">
              <a:buNone/>
            </a:pPr>
            <a:r>
              <a:rPr lang="en-US" sz="130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draft to interrogate,</a:t>
            </a:r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 a verdict.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EXERCISE · YOUR TURN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this prompt in </a:t>
            </a:r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rounds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ASK BETTER QUESTIONS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965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prompt: "Write about pneumonia." Shout out what to add at each round.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606040"/>
            <a:ext cx="2581580" cy="3520440"/>
          </a:xfrm>
          <a:prstGeom prst="roundRect">
            <a:avLst>
              <a:gd name="adj" fmla="val 2834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2788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3429000"/>
            <a:ext cx="2179244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1: add Persona and Material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" y="4042410"/>
            <a:ext cx="2179244" cy="194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should answer? Which patient, which setting? Community-acquired, 70-year-old, CURB-65 of 3, district hospital.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3111932" y="28346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3386252" y="2606040"/>
            <a:ext cx="2581580" cy="3520440"/>
          </a:xfrm>
          <a:prstGeom prst="roundRect">
            <a:avLst>
              <a:gd name="adj" fmla="val 2834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587420" y="2788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3587420" y="3429000"/>
            <a:ext cx="2179244" cy="283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2: add Request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3587420" y="3804285"/>
            <a:ext cx="2179244" cy="218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exactly do we need? Admit or not, empirical antibiotics, investigations, monitoring.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5949544" y="28346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6223864" y="2606040"/>
            <a:ext cx="2581580" cy="3520440"/>
          </a:xfrm>
          <a:prstGeom prst="roundRect">
            <a:avLst>
              <a:gd name="adj" fmla="val 2834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25032" y="2788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6425032" y="3429000"/>
            <a:ext cx="2179244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3: add Parameters and Output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425032" y="4042410"/>
            <a:ext cx="2179244" cy="194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Doses marked [VERIFY], cite the guideline, a one-page table for the ward, then a 3-line handover.</a:t>
            </a:r>
            <a:endParaRPr lang="en-US" sz="1450" dirty="0"/>
          </a:p>
        </p:txBody>
      </p:sp>
      <p:sp>
        <p:nvSpPr>
          <p:cNvPr id="25" name="Text 22"/>
          <p:cNvSpPr txBox="1"/>
          <p:nvPr/>
        </p:nvSpPr>
        <p:spPr>
          <a:xfrm>
            <a:off x="8787155" y="28346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6" name="Shape 23"/>
          <p:cNvSpPr/>
          <p:nvPr/>
        </p:nvSpPr>
        <p:spPr>
          <a:xfrm>
            <a:off x="9061475" y="2606040"/>
            <a:ext cx="2581580" cy="3520440"/>
          </a:xfrm>
          <a:prstGeom prst="roundRect">
            <a:avLst>
              <a:gd name="adj" fmla="val 2834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262643" y="2788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28" name="Text 25"/>
          <p:cNvSpPr txBox="1"/>
          <p:nvPr/>
        </p:nvSpPr>
        <p:spPr>
          <a:xfrm>
            <a:off x="9262643" y="3429000"/>
            <a:ext cx="2179244" cy="283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9262643" y="3804285"/>
            <a:ext cx="2179244" cy="218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round 0 and round 3 side by side on screen. Same model. Which would you trust on a night shift?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PRESS ENTER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six-second</a:t>
            </a:r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checklist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ASK BETTER QUESTIONS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3515258" cy="1943100"/>
          </a:xfrm>
          <a:prstGeom prst="roundRect">
            <a:avLst>
              <a:gd name="adj" fmla="val 3765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340864"/>
            <a:ext cx="246888" cy="2468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77240" y="2871216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should answer?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3250819"/>
            <a:ext cx="3058058" cy="5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and level.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338218" y="2011680"/>
            <a:ext cx="3515258" cy="1943100"/>
          </a:xfrm>
          <a:prstGeom prst="roundRect">
            <a:avLst>
              <a:gd name="adj" fmla="val 3765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66818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834" y="2340864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566818" y="2871216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it need to know?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4566818" y="3250819"/>
            <a:ext cx="3058058" cy="5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Patient, setting, source, de-identified.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8127797" y="2011680"/>
            <a:ext cx="3515258" cy="1943100"/>
          </a:xfrm>
          <a:prstGeom prst="roundRect">
            <a:avLst>
              <a:gd name="adj" fmla="val 3765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356397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4413" y="2340864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356397" y="2871216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exactly is the task?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8356397" y="3250819"/>
            <a:ext cx="3058058" cy="5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 steps.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548640" y="4229100"/>
            <a:ext cx="3515258" cy="1943100"/>
          </a:xfrm>
          <a:prstGeom prst="roundRect">
            <a:avLst>
              <a:gd name="adj" fmla="val 3765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77240" y="443026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558284"/>
            <a:ext cx="246888" cy="24688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77240" y="5088636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come out?</a:t>
            </a:r>
            <a:endParaRPr lang="en-US" sz="1700" dirty="0"/>
          </a:p>
        </p:txBody>
      </p:sp>
      <p:sp>
        <p:nvSpPr>
          <p:cNvPr id="29" name="Text 22"/>
          <p:cNvSpPr txBox="1"/>
          <p:nvPr/>
        </p:nvSpPr>
        <p:spPr>
          <a:xfrm>
            <a:off x="777240" y="5468239"/>
            <a:ext cx="3058058" cy="5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Format, length, audience.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4338218" y="4229100"/>
            <a:ext cx="3515258" cy="1943100"/>
          </a:xfrm>
          <a:prstGeom prst="roundRect">
            <a:avLst>
              <a:gd name="adj" fmla="val 3765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566818" y="443026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4834" y="4558284"/>
            <a:ext cx="246888" cy="24688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4566818" y="5088636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must it not do?</a:t>
            </a:r>
            <a:endParaRPr lang="en-US" sz="1700" dirty="0"/>
          </a:p>
        </p:txBody>
      </p:sp>
      <p:sp>
        <p:nvSpPr>
          <p:cNvPr id="34" name="Text 26"/>
          <p:cNvSpPr txBox="1"/>
          <p:nvPr/>
        </p:nvSpPr>
        <p:spPr>
          <a:xfrm>
            <a:off x="4566818" y="5468239"/>
            <a:ext cx="3058058" cy="5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Tags: [VERIFY], [CITE], [NOT REPORTED].</a:t>
            </a:r>
            <a:endParaRPr lang="en-US" sz="1400" dirty="0"/>
          </a:p>
        </p:txBody>
      </p:sp>
      <p:sp>
        <p:nvSpPr>
          <p:cNvPr id="35" name="Shape 27"/>
          <p:cNvSpPr/>
          <p:nvPr/>
        </p:nvSpPr>
        <p:spPr>
          <a:xfrm>
            <a:off x="8127797" y="4229100"/>
            <a:ext cx="3515258" cy="1943100"/>
          </a:xfrm>
          <a:prstGeom prst="roundRect">
            <a:avLst>
              <a:gd name="adj" fmla="val 3765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8356397" y="443026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4413" y="4558284"/>
            <a:ext cx="246888" cy="246888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8356397" y="5088636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will I refine it?</a:t>
            </a:r>
            <a:endParaRPr lang="en-US" sz="1700" dirty="0"/>
          </a:p>
        </p:txBody>
      </p:sp>
      <p:sp>
        <p:nvSpPr>
          <p:cNvPr id="39" name="Text 30"/>
          <p:cNvSpPr txBox="1"/>
          <p:nvPr/>
        </p:nvSpPr>
        <p:spPr>
          <a:xfrm>
            <a:off x="8356397" y="5468239"/>
            <a:ext cx="3058058" cy="56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Critique, sources, assumptions.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ASK BETTER QUESTIONS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TAKE-HOME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828800"/>
            <a:ext cx="10972800" cy="161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questions. </a:t>
            </a:r>
            <a:pPr indent="0" marL="0">
              <a:buNone/>
            </a:pPr>
            <a:r>
              <a:rPr lang="en-US" sz="52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medicine.</a:t>
            </a:r>
            <a:endParaRPr lang="en-US" sz="5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6677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A89C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the AI what only you know, ask for exactly what you need, and make it show its uncertainty. 1,000 ready-made clinical prompts: paraboxai.com.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11094415" cy="1097280"/>
          </a:xfrm>
          <a:prstGeom prst="roundRect">
            <a:avLst>
              <a:gd name="adj" fmla="val 6667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321808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· then Finding Ideas &amp; Research Questions · Dr. Saikat Banerjee · 7:40 PM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Parabox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Ask Better Questions</dc:title>
  <dc:subject>PptxGenJS Presentation</dc:subject>
  <dc:creator>Dr. Abhishek J. Benur · Parabox AI</dc:creator>
  <cp:lastModifiedBy>Dr. Abhishek J. Benur · Parabox AI</cp:lastModifiedBy>
  <cp:revision>1</cp:revision>
  <dcterms:created xsi:type="dcterms:W3CDTF">2026-09-28T19:10:49Z</dcterms:created>
  <dcterms:modified xsi:type="dcterms:W3CDTF">2026-09-28T19:10:49Z</dcterms:modified>
</cp:coreProperties>
</file>