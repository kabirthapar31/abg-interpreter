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15-minute end-to-end demonstration. One running example: a de-identified dataset of patients with COPD exacerbation, taken from analysis to abstract to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for the demonstration.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privacy rule: no names, hospital numbers or exact dates in uploaded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upload the practice dataset in ChatGPT or Claude. Show the code it 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one tool per job; nobody needs all six.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draft, then show how to make it yours: rewrite the first sentence in your own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ICMJE recommendations (updated 2023 onwards) address AI-assisted technologies explicitly. Peer review confidentiality: never upload manuscripts under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 moment: tonight's four decks were built with Claude from a written brief and our existing design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run it in Claude and open the .pptx.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integrity point: AI-generated images must never masquerade as patient or experimental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end-to-end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hand over to the joint safety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566928"/>
            <a:ext cx="128016" cy="128016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68096" y="484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DEMONSTRATION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10789920" cy="166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data, writing </a:t>
            </a:r>
            <a:pPr indent="0" marL="0">
              <a:buNone/>
            </a:pPr>
            <a:r>
              <a:rPr lang="en-US" sz="54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presentation.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347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A89C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spreadsheet to a manuscript to a conference deck, with the right tool at each step and your judgement at every checkpoint.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470916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47091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554480" y="4709160"/>
            <a:ext cx="685800" cy="329184"/>
          </a:xfrm>
          <a:prstGeom prst="roundRect">
            <a:avLst>
              <a:gd name="adj" fmla="val 50000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554480" y="470916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377440" y="470916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377440" y="47091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83280" y="47091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383280" y="47091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715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Abhishek J. Benur  ·  Dr. Saikat Banerjee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1447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1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Pulmonologist · Co-Founder, Parabox AI · Author, The 1,000 Medical Prompts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985455" y="5760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A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@abhishekjbenur</a:t>
            </a:r>
            <a:endParaRPr lang="en-US" sz="14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0A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8:40 PM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dataset,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stops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AI FOR DATA, WRITING &amp; PRESENTATION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57400"/>
            <a:ext cx="2014057" cy="3429000"/>
          </a:xfrm>
          <a:prstGeom prst="roundRect">
            <a:avLst>
              <a:gd name="adj" fmla="val 3632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2880360"/>
            <a:ext cx="1611721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and de-identify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493770"/>
            <a:ext cx="1611721" cy="1855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identifiers; build a data dictionary.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2544409" y="22860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2818729" y="2057400"/>
            <a:ext cx="2014057" cy="3429000"/>
          </a:xfrm>
          <a:prstGeom prst="roundRect">
            <a:avLst>
              <a:gd name="adj" fmla="val 3632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019897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3019897" y="2880360"/>
            <a:ext cx="1611721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019897" y="3255645"/>
            <a:ext cx="1611721" cy="2093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the tests, run them in chat, confirm in a stats package.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4814499" y="22860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5088819" y="2057400"/>
            <a:ext cx="2014057" cy="3429000"/>
          </a:xfrm>
          <a:prstGeom prst="roundRect">
            <a:avLst>
              <a:gd name="adj" fmla="val 3632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89987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5289987" y="2880360"/>
            <a:ext cx="1611721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and figures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289987" y="3493770"/>
            <a:ext cx="1611721" cy="1855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Publication-ready Table 1, results tables, charts from code.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7084588" y="22860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7358908" y="2057400"/>
            <a:ext cx="2014057" cy="3429000"/>
          </a:xfrm>
          <a:prstGeom prst="roundRect">
            <a:avLst>
              <a:gd name="adj" fmla="val 3632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560076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7560076" y="2880360"/>
            <a:ext cx="1611721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560076" y="3255645"/>
            <a:ext cx="1611721" cy="2093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IMRaD draft from your results; you own the argument.</a:t>
            </a:r>
            <a:endParaRPr lang="en-US" sz="1450" dirty="0"/>
          </a:p>
        </p:txBody>
      </p:sp>
      <p:sp>
        <p:nvSpPr>
          <p:cNvPr id="29" name="Text 26"/>
          <p:cNvSpPr txBox="1"/>
          <p:nvPr/>
        </p:nvSpPr>
        <p:spPr>
          <a:xfrm>
            <a:off x="9354678" y="22860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9628998" y="2057400"/>
            <a:ext cx="2014057" cy="3429000"/>
          </a:xfrm>
          <a:prstGeom prst="roundRect">
            <a:avLst>
              <a:gd name="adj" fmla="val 3632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830166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9830166" y="2880360"/>
            <a:ext cx="1611721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9830166" y="3255645"/>
            <a:ext cx="1611721" cy="2093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Abstract, poster and slides from the same verified content.</a:t>
            </a:r>
            <a:endParaRPr lang="en-US" sz="1450" dirty="0"/>
          </a:p>
        </p:txBody>
      </p:sp>
      <p:sp>
        <p:nvSpPr>
          <p:cNvPr id="34" name="Shape 31"/>
          <p:cNvSpPr/>
          <p:nvPr/>
        </p:nvSpPr>
        <p:spPr>
          <a:xfrm>
            <a:off x="548640" y="5623560"/>
            <a:ext cx="11094415" cy="530352"/>
          </a:xfrm>
          <a:prstGeom prst="roundRect">
            <a:avLst>
              <a:gd name="adj" fmla="val 13793"/>
            </a:avLst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77240" y="562356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every arrow: </a:t>
            </a:r>
            <a:pPr indent="0" marL="0">
              <a:buNone/>
            </a:pPr>
            <a:r>
              <a:rPr lang="en-US" sz="130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checkpoint.</a:t>
            </a:r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speeds each stop; you sign off before the next.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AI FOR DATA, WRITING &amp; PRESENTATION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0972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37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657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</a:t>
            </a:r>
            <a:pPr indent="0" marL="0">
              <a:buNone/>
            </a:pPr>
            <a:r>
              <a:rPr lang="en-US" sz="44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the syntax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663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A89C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can write and run the analysis code. You still choose the question and check the answer.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analysis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AI FOR DATA, WRITING &amp; PRESENTATION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2567864" cy="3520440"/>
          </a:xfrm>
          <a:prstGeom prst="roundRect">
            <a:avLst>
              <a:gd name="adj" fmla="val 284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34086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" y="2871216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REAL PYTHON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127248"/>
            <a:ext cx="2110664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data analysis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3713226"/>
            <a:ext cx="2110664" cy="168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CSV or Excel file; it writes and runs code you can inspect, and draws charts.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390824" y="2011680"/>
            <a:ext cx="2567864" cy="3520440"/>
          </a:xfrm>
          <a:prstGeom prst="roundRect">
            <a:avLst>
              <a:gd name="adj" fmla="val 284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19424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440" y="2340864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619424" y="2871216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AND FILES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3619424" y="3127248"/>
            <a:ext cx="2110664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3619424" y="3475101"/>
            <a:ext cx="2110664" cy="191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code on uploaded data and builds real Excel, Word and PowerPoint files from the results.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233008" y="2011680"/>
            <a:ext cx="2567864" cy="3520440"/>
          </a:xfrm>
          <a:prstGeom prst="roundRect">
            <a:avLst>
              <a:gd name="adj" fmla="val 284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61608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624" y="2340864"/>
            <a:ext cx="246888" cy="24688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461608" y="2871216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6461608" y="3127248"/>
            <a:ext cx="2110664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Julius AI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6461608" y="3475101"/>
            <a:ext cx="2110664" cy="191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Chat-to-chart for larger datasets; Python and R behind a simple interface.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9075191" y="2011680"/>
            <a:ext cx="2567864" cy="3520440"/>
          </a:xfrm>
          <a:prstGeom prst="roundRect">
            <a:avLst>
              <a:gd name="adj" fmla="val 2849"/>
            </a:avLst>
          </a:prstGeom>
          <a:solidFill>
            <a:srgbClr val="3A1E12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303791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1807" y="2340864"/>
            <a:ext cx="246888" cy="24688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303791" y="2871216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VALIDATE HERE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9303791" y="3127248"/>
            <a:ext cx="2110664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 · Jamovi · R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9303791" y="3475101"/>
            <a:ext cx="2110664" cy="191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Point-and-click, publication-grade output. Confirm every key result here.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548640" y="5669280"/>
            <a:ext cx="11094415" cy="530352"/>
          </a:xfrm>
          <a:prstGeom prst="roundRect">
            <a:avLst>
              <a:gd name="adj" fmla="val 13793"/>
            </a:avLst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777240" y="566928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</a:t>
            </a:r>
            <a:pPr indent="0" marL="0">
              <a:buNone/>
            </a:pPr>
            <a:r>
              <a:rPr lang="en-US" sz="130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de-identified data only,</a:t>
            </a:r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check your ethics approval allows it to leave the institution.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PROMPT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CSV to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statistical analysis plan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AI FOR DATA, WRITING &amp; PRESENTATION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7406640" cy="4160520"/>
          </a:xfrm>
          <a:prstGeom prst="roundRect">
            <a:avLst>
              <a:gd name="adj" fmla="val 1758"/>
            </a:avLst>
          </a:prstGeom>
          <a:solidFill>
            <a:srgbClr val="141010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194560"/>
            <a:ext cx="4403750" cy="292608"/>
          </a:xfrm>
          <a:prstGeom prst="roundRect">
            <a:avLst>
              <a:gd name="adj" fmla="val 50000"/>
            </a:avLst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194560"/>
            <a:ext cx="4403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UPLOAD THE DE-IDENTIFIED CSV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633472"/>
            <a:ext cx="6858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PERSONA: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You are a biostatistician who supports MD thesis students and is strict about test assumptions.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MATERIAL: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[De-identified CSV]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Research question: </a:t>
            </a:r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[Is eosinophil count ≥300 associated with 90-day readmission in COPD exacerbation?]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Design: </a:t>
            </a:r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[retrospective cohort, n=212]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Describe the variables and missing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Propose the analysis plan: tests for each objective, and why.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Check the assumptions, then run the analysis; show the code.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Build Table 1 and the main results table (effect size, 95% CI, p).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List the limitations of this analysis.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Don't switch tests to get significance. Flag small cells and multiple comparisons. Write </a:t>
            </a:r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[CHECK IN JASP]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next to each key result.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201168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2377440"/>
            <a:ext cx="341345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before running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plan comes first.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checked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wrong test is the commonest AI error.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shown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reproduce and audit it.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flag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key number is re-run in JASP.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 NUMBER GOES IN YOUR PAPER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sanity check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AI FOR DATA, WRITING &amp; PRESENTATION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34086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" y="287121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test?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250819"/>
            <a:ext cx="3058058" cy="5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the data type, distribution and design.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338218" y="201168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66818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834" y="2340864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66818" y="287121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size and CI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566818" y="3250819"/>
            <a:ext cx="3058058" cy="5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a p-value: what the difference is and how sure.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127797" y="201168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56397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413" y="2340864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356397" y="287121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8356397" y="3250819"/>
            <a:ext cx="3058058" cy="5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the code or the JASP file with your data.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422910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77240" y="443026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558284"/>
            <a:ext cx="246888" cy="24688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77240" y="508863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independently</a:t>
            </a:r>
            <a:endParaRPr lang="en-US" sz="1700" dirty="0"/>
          </a:p>
        </p:txBody>
      </p:sp>
      <p:sp>
        <p:nvSpPr>
          <p:cNvPr id="29" name="Text 22"/>
          <p:cNvSpPr txBox="1"/>
          <p:nvPr/>
        </p:nvSpPr>
        <p:spPr>
          <a:xfrm>
            <a:off x="777240" y="5468239"/>
            <a:ext cx="3058058" cy="5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result in JASP, Jamovi or R.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4338218" y="422910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566818" y="443026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834" y="4558284"/>
            <a:ext cx="246888" cy="24688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566818" y="508863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p-hacking</a:t>
            </a:r>
            <a:endParaRPr lang="en-US" sz="1700" dirty="0"/>
          </a:p>
        </p:txBody>
      </p:sp>
      <p:sp>
        <p:nvSpPr>
          <p:cNvPr id="34" name="Text 26"/>
          <p:cNvSpPr txBox="1"/>
          <p:nvPr/>
        </p:nvSpPr>
        <p:spPr>
          <a:xfrm>
            <a:off x="4566818" y="5468239"/>
            <a:ext cx="3058058" cy="5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fixed in advance; no switching to get p &lt; 0.05.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8127797" y="422910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356397" y="443026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4413" y="4558284"/>
            <a:ext cx="246888" cy="24688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356397" y="508863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statistician's eye</a:t>
            </a:r>
            <a:endParaRPr lang="en-US" sz="1700" dirty="0"/>
          </a:p>
        </p:txBody>
      </p:sp>
      <p:sp>
        <p:nvSpPr>
          <p:cNvPr id="39" name="Text 30"/>
          <p:cNvSpPr txBox="1"/>
          <p:nvPr/>
        </p:nvSpPr>
        <p:spPr>
          <a:xfrm>
            <a:off x="8356397" y="5468239"/>
            <a:ext cx="3058058" cy="5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thesis or a paper, show it to one before submitting.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AI FOR DATA, WRITING &amp; PRESENTATION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0972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37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657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</a:t>
            </a:r>
            <a:pPr indent="0" marL="0">
              <a:buNone/>
            </a:pPr>
            <a:r>
              <a:rPr lang="en-US" sz="44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editor, not author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663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A89C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bring the results and the argument; AI helps with structure, clarity and journal fit.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WRITING STACK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tool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writing job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AI FOR DATA, WRITING &amp; PRESENTATION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21284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LONG-FORM DRAFTING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468880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848483"/>
            <a:ext cx="3058058" cy="96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Structures IMRaD sections, tightens prose, matches a target journal's style.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338218" y="201168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66818" y="221284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REWRITES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566818" y="2468880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4566818" y="2848483"/>
            <a:ext cx="3058058" cy="96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Titles, abstract versions, cover letters, responses to reviewers.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127797" y="201168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56397" y="221284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 AS YOU WRITE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356397" y="2468880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Jenni AI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356397" y="2848483"/>
            <a:ext cx="3058058" cy="96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citations in Vancouver and other styles, from PubMed and Semantic Scholar.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422910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43026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POLISH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4686300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Paperpal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5065903"/>
            <a:ext cx="3058058" cy="96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editing and pre-submission checks built for manuscripts.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338218" y="422910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66818" y="443026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566818" y="4686300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Zotero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4566818" y="5065903"/>
            <a:ext cx="3058058" cy="96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Free. Saves papers, formats citations, flags retracted papers.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127797" y="422910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56397" y="443026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CHECK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8356397" y="4686300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Scite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356397" y="5065903"/>
            <a:ext cx="3058058" cy="96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later work support or contradict what you're citing?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PROMPT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the discussion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your results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AI FOR DATA, WRITING &amp; PRESENTATION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7406640" cy="4160520"/>
          </a:xfrm>
          <a:prstGeom prst="roundRect">
            <a:avLst>
              <a:gd name="adj" fmla="val 1758"/>
            </a:avLst>
          </a:prstGeom>
          <a:solidFill>
            <a:srgbClr val="141010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194560"/>
            <a:ext cx="4943246" cy="292608"/>
          </a:xfrm>
          <a:prstGeom prst="roundRect">
            <a:avLst>
              <a:gd name="adj" fmla="val 50000"/>
            </a:avLst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194560"/>
            <a:ext cx="49432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PASTE YOUR RESULTS AND KEY PAPERS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633472"/>
            <a:ext cx="6858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PERSONA: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You are a senior respiratory physician and journal reviewer who writes concise discussions.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MATERIAL: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My results: </a:t>
            </a:r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[paste Table 2 and main findings]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Key papers (abstracts or PDFs): </a:t>
            </a:r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[paste 5–8]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Target journal: </a:t>
            </a:r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[Lung India]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Draft a 700-word discussion in this order: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Main finding in one sentence.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Comparison with each key paper: agree or disagree, and why.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Possible mechanisms.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Strengths, then limitations (honestly).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Implications for Indian practice and research.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Cite only the papers I pasted, as </a:t>
            </a:r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[Author, year]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Don't overstate causation from observational data. Mark any claim without a source </a:t>
            </a:r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[CITATION NEEDED]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201168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2377440"/>
            <a:ext cx="341345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evidence only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invented references.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structure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 reviewers expect.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 look here first.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[CITATION NEEDED]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are visible, not filled.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 INTEGRITY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journals now enforce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AI FOR DATA, WRITING &amp; PRESENTATION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5410048" cy="3520440"/>
          </a:xfrm>
          <a:prstGeom prst="roundRect">
            <a:avLst>
              <a:gd name="adj" fmla="val 2078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34086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" y="2871216"/>
            <a:ext cx="495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ICMJE AND COPE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127248"/>
            <a:ext cx="495284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never an author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3506851"/>
            <a:ext cx="4952848" cy="1888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can't take responsibility, so it can't be listed as an author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accountable for every sentence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Disclose AI use as the journal requires (methods or acknowledgements)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233008" y="2011680"/>
            <a:ext cx="5410048" cy="3520440"/>
          </a:xfrm>
          <a:prstGeom prst="roundRect">
            <a:avLst>
              <a:gd name="adj" fmla="val 2078"/>
            </a:avLst>
          </a:prstGeom>
          <a:solidFill>
            <a:srgbClr val="3A1E12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61608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624" y="2340864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61608" y="2871216"/>
            <a:ext cx="495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DO THIS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6461608" y="3127248"/>
            <a:ext cx="495284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violations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6461608" y="3506851"/>
            <a:ext cx="4952848" cy="1888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Uploading a manuscript you're peer reviewing to a chatbot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images presented as data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you haven't read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Paraphrasing tools used to hide copying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48640" y="5669280"/>
            <a:ext cx="11094415" cy="530352"/>
          </a:xfrm>
          <a:prstGeom prst="roundRect">
            <a:avLst>
              <a:gd name="adj" fmla="val 13793"/>
            </a:avLst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77240" y="566928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target journal's AI policy </a:t>
            </a:r>
            <a:pPr indent="0" marL="0">
              <a:buNone/>
            </a:pPr>
            <a:r>
              <a:rPr lang="en-US" sz="130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start writing, not after acceptance.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AI FOR DATA, WRITING &amp; PRESENTATION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0972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37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657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manuscript to </a:t>
            </a:r>
            <a:pPr indent="0" marL="0">
              <a:buNone/>
            </a:pPr>
            <a:r>
              <a:rPr lang="en-US" sz="44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and posters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663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A89C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verified content becomes an abstract, a poster and a talk, in a fraction of the time.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DECK-BUILDING ROUTES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ways to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deck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AI FOR DATA, WRITING &amp; PRESENTATION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1999427" cy="3520440"/>
          </a:xfrm>
          <a:prstGeom prst="roundRect">
            <a:avLst>
              <a:gd name="adj" fmla="val 365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34086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" y="2871216"/>
            <a:ext cx="1542227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219069"/>
            <a:ext cx="1542227" cy="2175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real, editable PowerPoint files. This deck was made this way.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2822387" y="2011680"/>
            <a:ext cx="1999427" cy="3520440"/>
          </a:xfrm>
          <a:prstGeom prst="roundRect">
            <a:avLst>
              <a:gd name="adj" fmla="val 365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050987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003" y="2340864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050987" y="2871216"/>
            <a:ext cx="1542227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Design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3050987" y="3219069"/>
            <a:ext cx="1542227" cy="2175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visual canvas: refine slides and posters by chatting.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096134" y="2011680"/>
            <a:ext cx="1999427" cy="3520440"/>
          </a:xfrm>
          <a:prstGeom prst="roundRect">
            <a:avLst>
              <a:gd name="adj" fmla="val 365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324734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750" y="2340864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324734" y="2871216"/>
            <a:ext cx="1542227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324734" y="3219069"/>
            <a:ext cx="1542227" cy="2175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prompt-to-deck; connects to ChatGPT and Claude.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7369881" y="2011680"/>
            <a:ext cx="1999427" cy="3520440"/>
          </a:xfrm>
          <a:prstGeom prst="roundRect">
            <a:avLst>
              <a:gd name="adj" fmla="val 365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598481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497" y="2340864"/>
            <a:ext cx="246888" cy="24688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598481" y="2871216"/>
            <a:ext cx="1542227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7598481" y="3219069"/>
            <a:ext cx="1542227" cy="2175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grounded only in your uploaded sources.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9643628" y="2011680"/>
            <a:ext cx="1999427" cy="3520440"/>
          </a:xfrm>
          <a:prstGeom prst="roundRect">
            <a:avLst>
              <a:gd name="adj" fmla="val 365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9872228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0244" y="2340864"/>
            <a:ext cx="246888" cy="24688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872228" y="2871216"/>
            <a:ext cx="1542227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PowerPoint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9872228" y="3457194"/>
            <a:ext cx="1542227" cy="1937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inside PowerPoint for Office users.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548640" y="5669280"/>
            <a:ext cx="11094415" cy="530352"/>
          </a:xfrm>
          <a:prstGeom prst="roundRect">
            <a:avLst>
              <a:gd name="adj" fmla="val 13793"/>
            </a:avLst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777240" y="566928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a .pptx file for the venue? </a:t>
            </a:r>
            <a:pPr indent="0" marL="0">
              <a:buNone/>
            </a:pPr>
            <a:r>
              <a:rPr lang="en-US" sz="130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 Claude or Copilot,</a:t>
            </a:r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test any web-tool export the day before.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PROMPT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to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conference talk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AI FOR DATA, WRITING &amp; PRESENTATION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7406640" cy="4160520"/>
          </a:xfrm>
          <a:prstGeom prst="roundRect">
            <a:avLst>
              <a:gd name="adj" fmla="val 1758"/>
            </a:avLst>
          </a:prstGeom>
          <a:solidFill>
            <a:srgbClr val="141010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194560"/>
            <a:ext cx="4619549" cy="292608"/>
          </a:xfrm>
          <a:prstGeom prst="roundRect">
            <a:avLst>
              <a:gd name="adj" fmla="val 50000"/>
            </a:avLst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194560"/>
            <a:ext cx="46195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CLAUDE · ATTACH THE MANUSCRIPT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633472"/>
            <a:ext cx="6858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PERSONA: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You are a medical educator who designs clear, visual conference talks.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MATERIAL: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[Attached manuscript]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Talk: </a:t>
            </a:r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[8 minutes, Pulmocon free-paper session]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Audience: </a:t>
            </a:r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[pulmonologists and residents]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Style: </a:t>
            </a:r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[dark background, one accent colour, minimal text]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Build a </a:t>
            </a:r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[10]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-slide PowerPoint: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Title; 2. Why this question matters (one statistic); 3. Objective; 4. Methods as a flow diagram; 5–7. One result per slide as a chart or table; 8. Limitations; 9. Take-home message; 10. Thank you and contact.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speaker notes to every slide, about 50 seconds each.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 only numbers from the manuscript. One idea per slide, 30 words maximum.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201168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2377440"/>
            <a:ext cx="341345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drives length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minutes means ~10 slides.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Slide-by-slide plan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generic 'make slides'.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notes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script, timed.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from the paper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drift in the data.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POSTERS AND FIGURES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visuals</a:t>
            </a:r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earn their place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AI FOR DATA, WRITING &amp; PRESENTATION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3515258" cy="2834640"/>
          </a:xfrm>
          <a:prstGeom prst="roundRect">
            <a:avLst>
              <a:gd name="adj" fmla="val 2581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34086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" y="287121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250819"/>
            <a:ext cx="3058058" cy="1458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a 3-column layout with a one-line headline finding and a QR code to the full abstract. Refine in Claude Design or PowerPoint.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338218" y="2011680"/>
            <a:ext cx="3515258" cy="2834640"/>
          </a:xfrm>
          <a:prstGeom prst="roundRect">
            <a:avLst>
              <a:gd name="adj" fmla="val 2581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66818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834" y="2340864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66818" y="287121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from data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566818" y="3250819"/>
            <a:ext cx="3058058" cy="1458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charts with code from your actual dataset, never from an image model. Check the axes and the n.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127797" y="2011680"/>
            <a:ext cx="3515258" cy="2834640"/>
          </a:xfrm>
          <a:prstGeom prst="roundRect">
            <a:avLst>
              <a:gd name="adj" fmla="val 2581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56397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413" y="2340864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356397" y="287121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Schematics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8356397" y="3250819"/>
            <a:ext cx="3058058" cy="1458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models are fine for concept diagrams and mechanisms, labelled as illustrations, never as data or clinical images.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5669280"/>
            <a:ext cx="11094415" cy="530352"/>
          </a:xfrm>
          <a:prstGeom prst="roundRect">
            <a:avLst>
              <a:gd name="adj" fmla="val 13793"/>
            </a:avLst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77240" y="566928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 you never cross: </a:t>
            </a:r>
            <a:pPr indent="0" marL="0">
              <a:buNone/>
            </a:pPr>
            <a:r>
              <a:rPr lang="en-US" sz="130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AI-generated image is never data.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THIS SLIDE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cheat sheet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AI FOR DATA, WRITING &amp; PRESENTATION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931920"/>
                <a:gridCol w="3685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TOOL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CHECKPOINT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BF4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 plan and code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data analysis · Claude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89C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tests, assumptions met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BF4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 the results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JASP · Jamovi · 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89C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numbers, independently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BF4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 the manuscript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· ChatGPT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89C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argument, your voice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BF4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Citations and references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Jenni AI · Zotero · Scite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89C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reference opened and read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BF4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Polish and submit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Paperpal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89C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Journal AI policy and disclosure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BF4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Slides and poster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· Claude Design · Gamma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89C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Numbers match the paper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AI FOR DATA, WRITING &amp; PRESENTATION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828800"/>
            <a:ext cx="109728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work. </a:t>
            </a:r>
            <a:pPr indent="0" marL="0">
              <a:buNone/>
            </a:pPr>
            <a:r>
              <a:rPr lang="en-US" sz="52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integrity.</a:t>
            </a:r>
            <a:endParaRPr lang="en-US" sz="5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9083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A89C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can compress weeks of analysis, writing and slide-making into days. The question, the checks and the name on the paper stay yours.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11094415" cy="1097280"/>
          </a:xfrm>
          <a:prstGeom prst="roundRect">
            <a:avLst>
              <a:gd name="adj" fmla="val 6667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321808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AI Safely: Check Before You Trust · interactive closing · 8:55 PM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Parabox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Data, Writing &amp; Presentation</dc:title>
  <dc:subject>PptxGenJS Presentation</dc:subject>
  <dc:creator>Dr. Abhishek J. Benur · Parabox AI</dc:creator>
  <cp:lastModifiedBy>Dr. Abhishek J. Benur · Parabox AI</cp:lastModifiedBy>
  <cp:revision>1</cp:revision>
  <dcterms:created xsi:type="dcterms:W3CDTF">2026-09-28T19:10:49Z</dcterms:created>
  <dcterms:modified xsi:type="dcterms:W3CDTF">2026-09-28T19:10:49Z</dcterms:modified>
</cp:coreProperties>
</file>