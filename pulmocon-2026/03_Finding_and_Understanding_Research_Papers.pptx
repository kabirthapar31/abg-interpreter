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minutes, live demonstration. Two halves: finding (connectors and tools) and understanding (prompts for reading a paper).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PubMed adds over a million citations annually (NLM statistics). Claude's PubMed connector: 35M+ citations (Anthropic). Consensus: 220M+ papers (Consensus,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for the rest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LIVE: enable the PubMed connector and run the prompt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PMIDs, click two of them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Consensus in the ChatGPT app store as of April 2026. Covers 220M+ papers from PubMed, Semantic Scholar and arXiv.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Research is the right first step for a topic you know nothing about. It is the wrong last step for anything you will cite.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ResearchRabbit moved to freemium in 2026 (free tier capped at 50 seed articles). R Discovery is by Cactus Communications, popular with Indian researchers.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Jenni is a writing tool; mention it here because it cites as you write. More writing tools in the final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is one prompt in Volume 2 of the 1,000 Medical Prompts (journal club section).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on a recent landmark paper. Show the quoted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NotebookLM limits: up to 50 sources per notebook on the free tier (check current limits).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Retraction check: Retraction Watch database or the journal page. Zotero flags retracted items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Dr. Saikat.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566928"/>
            <a:ext cx="128016" cy="128016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68096" y="484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83080"/>
            <a:ext cx="10789920" cy="1668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&amp; understanding </a:t>
            </a:r>
            <a:pPr indent="0" marL="0">
              <a:buNone/>
            </a:pPr>
            <a:r>
              <a:rPr lang="en-US" sz="5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papers.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347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PubMed and 200 million papers from inside your chat, map the literature in minutes, and read any paper like a reviewer.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470916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47091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28800" y="4709160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28800" y="47091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TOOLS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474720" y="47091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74720" y="470916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PROMPTS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212080" y="4709160"/>
            <a:ext cx="777240" cy="329184"/>
          </a:xfrm>
          <a:prstGeom prst="roundRect">
            <a:avLst>
              <a:gd name="adj" fmla="val 50000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12080" y="470916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5715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Abhishek J. Benur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1447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A12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Pulmonologist · Co-Founder, Parabox AI · Author, The 1,000 Medical Prompts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985455" y="5760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@abhishekjbenur</a:t>
            </a:r>
            <a:endParaRPr lang="en-US" sz="14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8:00 PM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papers,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little time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05740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1M+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01752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PubMed citations a year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401568"/>
            <a:ext cx="33323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clinician can keep up by reading alone.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338218" y="205740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35M+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4338218" y="301752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in PubMed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338218" y="3401568"/>
            <a:ext cx="33323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searchable from inside Claude through the PubMed connector.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127797" y="2057400"/>
            <a:ext cx="35152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220M+</a:t>
            </a:r>
            <a:endParaRPr lang="en-US" sz="5400" dirty="0"/>
          </a:p>
        </p:txBody>
      </p:sp>
      <p:sp>
        <p:nvSpPr>
          <p:cNvPr id="17" name="Text 14"/>
          <p:cNvSpPr txBox="1"/>
          <p:nvPr/>
        </p:nvSpPr>
        <p:spPr>
          <a:xfrm>
            <a:off x="8127797" y="301752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in Consensus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127797" y="3401568"/>
            <a:ext cx="33323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Searchable from inside ChatGPT and Claude.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4526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77240" y="4526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doesn't read for you. It gets you to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right 10 papers faster,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helps you understand them.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from NLM and vendor pages, 2026; approximate.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steps from question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understanding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1635709" cy="4069080"/>
          </a:xfrm>
          <a:prstGeom prst="roundRect">
            <a:avLst>
              <a:gd name="adj" fmla="val 447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880360"/>
            <a:ext cx="1233373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255645"/>
            <a:ext cx="1233373" cy="273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topic into a PICO question.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2166061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2440381" y="2057400"/>
            <a:ext cx="1635709" cy="4069080"/>
          </a:xfrm>
          <a:prstGeom prst="roundRect">
            <a:avLst>
              <a:gd name="adj" fmla="val 447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41549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2641549" y="2880360"/>
            <a:ext cx="1233373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2641549" y="3255645"/>
            <a:ext cx="1233373" cy="273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Connectors: PubMed and Consensus inside Claude or ChatGPT.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4057802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4332122" y="2057400"/>
            <a:ext cx="1635709" cy="4069080"/>
          </a:xfrm>
          <a:prstGeom prst="roundRect">
            <a:avLst>
              <a:gd name="adj" fmla="val 447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33290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4533290" y="2880360"/>
            <a:ext cx="1233373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533290" y="3255645"/>
            <a:ext cx="1233373" cy="273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Scholar, ResearchRabbit, R Discovery for related work.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5949544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6223864" y="2057400"/>
            <a:ext cx="1635709" cy="4069080"/>
          </a:xfrm>
          <a:prstGeom prst="roundRect">
            <a:avLst>
              <a:gd name="adj" fmla="val 447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25032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6425032" y="2880360"/>
            <a:ext cx="1233373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425032" y="3255645"/>
            <a:ext cx="1233373" cy="273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 tables; keep the 5–10 that matter.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7841285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8115605" y="2057400"/>
            <a:ext cx="1635709" cy="4069080"/>
          </a:xfrm>
          <a:prstGeom prst="roundRect">
            <a:avLst>
              <a:gd name="adj" fmla="val 447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16773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8316773" y="2880360"/>
            <a:ext cx="1233373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316773" y="3255645"/>
            <a:ext cx="1233373" cy="273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 PDF and question it with prompts.</a:t>
            </a:r>
            <a:endParaRPr lang="en-US" sz="1450" dirty="0"/>
          </a:p>
        </p:txBody>
      </p:sp>
      <p:sp>
        <p:nvSpPr>
          <p:cNvPr id="34" name="Text 31"/>
          <p:cNvSpPr txBox="1"/>
          <p:nvPr/>
        </p:nvSpPr>
        <p:spPr>
          <a:xfrm>
            <a:off x="9733026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5" name="Shape 32"/>
          <p:cNvSpPr/>
          <p:nvPr/>
        </p:nvSpPr>
        <p:spPr>
          <a:xfrm>
            <a:off x="10007346" y="2057400"/>
            <a:ext cx="1635709" cy="4069080"/>
          </a:xfrm>
          <a:prstGeom prst="roundRect">
            <a:avLst>
              <a:gd name="adj" fmla="val 447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0208514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37" name="Text 34"/>
          <p:cNvSpPr txBox="1"/>
          <p:nvPr/>
        </p:nvSpPr>
        <p:spPr>
          <a:xfrm>
            <a:off x="10208514" y="2880360"/>
            <a:ext cx="1233373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10208514" y="3255645"/>
            <a:ext cx="1233373" cy="273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every source. Check the claim. Save to Zotero.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0972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37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from </a:t>
            </a:r>
            <a:pPr indent="0" marL="0">
              <a:buNone/>
            </a:pPr>
            <a:r>
              <a:rPr lang="en-US" sz="4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your chat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63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Connectors turn Claude and ChatGPT from 'remembering' papers into searching real databases.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+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410048" cy="3520440"/>
          </a:xfrm>
          <a:prstGeom prst="roundRect">
            <a:avLst>
              <a:gd name="adj" fmla="val 2078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495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127248"/>
            <a:ext cx="495284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PubMed inside Claude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506851"/>
            <a:ext cx="4952848" cy="1888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 35M+ biomedical citations with real PMIDs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abstracts and open-access full text (PMC)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related articles to a paper you like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of Claude for Healthcare and life sciences connectors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33008" y="2011680"/>
            <a:ext cx="5410048" cy="3520440"/>
          </a:xfrm>
          <a:prstGeom prst="roundRect">
            <a:avLst>
              <a:gd name="adj" fmla="val 2078"/>
            </a:avLst>
          </a:prstGeom>
          <a:solidFill>
            <a:srgbClr val="3A1E12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6160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624" y="234086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61608" y="2871216"/>
            <a:ext cx="495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IN 30 SECONDS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6461608" y="3127248"/>
            <a:ext cx="495284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Connectors → PubMed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461608" y="3506851"/>
            <a:ext cx="4952848" cy="1888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it on in the chat's tools menu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'search PubMed for…' so it uses the connector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PMIDs every time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in Claude on the web, desktop and mobile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it: ask for a paper and click the PMID.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opens and matches, the connector did its job.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literature scan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PMIDs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7406640" cy="4160520"/>
          </a:xfrm>
          <a:prstGeom prst="roundRect">
            <a:avLst>
              <a:gd name="adj" fmla="val 1758"/>
            </a:avLst>
          </a:prstGeom>
          <a:solidFill>
            <a:srgbClr val="141010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194560"/>
            <a:ext cx="3001061" cy="292608"/>
          </a:xfrm>
          <a:prstGeom prst="roundRect">
            <a:avLst>
              <a:gd name="adj" fmla="val 50000"/>
            </a:avLst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194560"/>
            <a:ext cx="300106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CLAUDE + PUBMED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633472"/>
            <a:ext cx="6858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PubMed for studies from </a:t>
            </a:r>
            <a:pPr indent="0" marL="0">
              <a:buNone/>
            </a:pPr>
            <a:r>
              <a:rPr lang="en-US" sz="13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[2020–2026]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on </a:t>
            </a:r>
            <a:pPr indent="0" marL="0">
              <a:buNone/>
            </a:pPr>
            <a:r>
              <a:rPr lang="en-US" sz="13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[bronchiectasis exacerbations and long-term macrolides]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 table: first author, year, design, country, n, intervention, comparator, primary outcome, main result with effect size and 95% CI, PMID.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Group the studies by design.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Say what is consistent and what conflicts.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List 3 evidence gaps a resident could study in India.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Include only papers retrieved in this search. Write </a:t>
            </a:r>
            <a:pPr indent="0" marL="0">
              <a:buNone/>
            </a:pPr>
            <a:r>
              <a:rPr lang="en-US" sz="13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[NOT REPORTED]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 missing values. Flag any retracted paper.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01168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377440"/>
            <a:ext cx="341345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and topic scoped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it current and focused.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table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Comparable fields for every study.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for your thesis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reading to research ideas.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what it retrieved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references from memory.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 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</a:t>
            </a:r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inside ChatGPT and Claude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3515258" cy="3520440"/>
          </a:xfrm>
          <a:prstGeom prst="roundRect">
            <a:avLst>
              <a:gd name="adj" fmla="val 2081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3058058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the evidence say?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520694"/>
            <a:ext cx="3058058" cy="187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yes/no question; get a summary across studies with how many support or oppose it (the Consensus Meter).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38218" y="2011680"/>
            <a:ext cx="3515258" cy="3520440"/>
          </a:xfrm>
          <a:prstGeom prst="roundRect">
            <a:avLst>
              <a:gd name="adj" fmla="val 2081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6681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234086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566818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study quality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4566818" y="3250819"/>
            <a:ext cx="3058058" cy="21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to RCTs, meta-analyses or systematic reviews, by year, sample size or journal.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127797" y="2011680"/>
            <a:ext cx="3515258" cy="3520440"/>
          </a:xfrm>
          <a:prstGeom prst="roundRect">
            <a:avLst>
              <a:gd name="adj" fmla="val 2081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356397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413" y="234086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356397" y="2871216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switch it on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356397" y="3250819"/>
            <a:ext cx="3058058" cy="21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Apps → Consensus (listed since 2026). Claude: Settings → Connectors → Consensus.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Consensus for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'is there evidence that…'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PubMed for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'find me the papers on…'.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</a:t>
            </a:r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an analyst on demand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5410048" cy="4160520"/>
          </a:xfrm>
          <a:prstGeom prst="roundRect">
            <a:avLst>
              <a:gd name="adj" fmla="val 1758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495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127248"/>
            <a:ext cx="495284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 a new topic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506851"/>
            <a:ext cx="4952848" cy="252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structured, cited report in 5–15 minutes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for an introduction or a seminar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guidelines across societies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in ChatGPT, Claude, Gemini and Perplexity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233008" y="2011680"/>
            <a:ext cx="5410048" cy="4160520"/>
          </a:xfrm>
          <a:prstGeom prst="roundRect">
            <a:avLst>
              <a:gd name="adj" fmla="val 1758"/>
            </a:avLst>
          </a:prstGeom>
          <a:solidFill>
            <a:srgbClr val="3A1E12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6160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624" y="234086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61608" y="2871216"/>
            <a:ext cx="495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WITH CARE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6461608" y="3127248"/>
            <a:ext cx="495284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systematic review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461608" y="3506851"/>
            <a:ext cx="4952848" cy="252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miss key papers or misread results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Mixes high- and low-quality sources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every citation it returns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paste patient data into it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0972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37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RESEARCH TOOLKIT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tools </a:t>
            </a:r>
            <a:pPr indent="0" marL="0">
              <a:buNone/>
            </a:pPr>
            <a:r>
              <a:rPr lang="en-US" sz="4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knowing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63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does one job better than a general chatbot.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AND MAP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papers,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connections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200M+ PAPERS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127248"/>
            <a:ext cx="211066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Scholar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490976"/>
            <a:ext cx="2110664" cy="190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search across the literature with one-line TLDR summaries and citation counts.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3390824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19424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440" y="234086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619424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APP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3619424" y="3127248"/>
            <a:ext cx="211066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Discovery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619424" y="3490976"/>
            <a:ext cx="2110664" cy="190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personalised daily feed of new papers in your field, with audio and translated summaries.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33008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6160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24" y="2340864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61608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461608" y="3127248"/>
            <a:ext cx="211066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ResearchRabbit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6461608" y="3490976"/>
            <a:ext cx="2110664" cy="190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few seed papers; it builds a citation map and surfaces related and later work.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9075191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303791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807" y="2340864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303791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GRAPH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9303791" y="3127248"/>
            <a:ext cx="211066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Connected Papers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9303791" y="3490976"/>
            <a:ext cx="2110664" cy="190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seed paper becomes a graph of similar work; spot the landmark papers fast.</a:t>
            </a:r>
            <a:endParaRPr lang="en-US" sz="1350" dirty="0"/>
          </a:p>
        </p:txBody>
      </p:sp>
      <p:sp>
        <p:nvSpPr>
          <p:cNvPr id="34" name="Shape 27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35" name="Text 28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broad (Semantic Scholar or PubMed), then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your best 2–3 papers</a:t>
            </a:r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ResearchRabbit or Connected Papers.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SCREEN, READ AND CHECK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200 results to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 that matter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2567864" cy="416052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AND EXTRACT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127248"/>
            <a:ext cx="211066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Elicit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490976"/>
            <a:ext cx="2110664" cy="254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many papers and pulls PICO, outcomes and results into a table you can export.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3390824" y="2011680"/>
            <a:ext cx="2567864" cy="416052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19424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440" y="234086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619424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WITH A PDF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3619424" y="3127248"/>
            <a:ext cx="211066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SciSpace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619424" y="3490976"/>
            <a:ext cx="2110664" cy="254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plain-language questions of a paper: methods, tables, statistics.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233008" y="2011680"/>
            <a:ext cx="2567864" cy="416052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6160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24" y="2340864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461608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CITATIONS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461608" y="3127248"/>
            <a:ext cx="211066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Scite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6461608" y="3490976"/>
            <a:ext cx="2110664" cy="254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whether later papers support or contradict a finding.</a:t>
            </a:r>
            <a:endParaRPr lang="en-US" sz="1350" dirty="0"/>
          </a:p>
        </p:txBody>
      </p:sp>
      <p:sp>
        <p:nvSpPr>
          <p:cNvPr id="28" name="Shape 22"/>
          <p:cNvSpPr/>
          <p:nvPr/>
        </p:nvSpPr>
        <p:spPr>
          <a:xfrm>
            <a:off x="9075191" y="2011680"/>
            <a:ext cx="2567864" cy="416052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303791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807" y="2340864"/>
            <a:ext cx="246888" cy="24688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303791" y="2871216"/>
            <a:ext cx="2110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WITH CITATIONS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9303791" y="3127248"/>
            <a:ext cx="211066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Jenni AI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9303791" y="3490976"/>
            <a:ext cx="2110664" cy="2544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help with inline citations (Vancouver and others) from PubMed and Semantic Scholar.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GUIDE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research tool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which job?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441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657600"/>
                <a:gridCol w="3502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CHOICE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200" kern="0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ALSO GOOD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papers on a specific question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+ PubMed connector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PubMed directly · Semantic Scholar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 there evidence that…?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Consensus (ChatGPT or Claude)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OpenEvidence for clinical questions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 a topic I don't know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Research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Perplexity (academic focus)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 related and newer work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ResearchRabbit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Connected Papers · Litmaps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Stay updated in my specialty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Discovery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PubMed saved-search email alerts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 and extract many papers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Elicit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Rayyan for systematic reviews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80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BF4E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Understand one paper deeply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4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or ChatGPT with the PDF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A89C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NotebookLM · SciSpace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25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01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09728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337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any paper </a:t>
            </a:r>
            <a:pPr indent="0" marL="0">
              <a:buNone/>
            </a:pPr>
            <a:r>
              <a:rPr lang="en-US" sz="44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reviewer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66344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the PDF, then ask the questions a good journal club would ask.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PAPER IN 5 PROMPTS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</a:t>
            </a:r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every paper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2014057" cy="4069080"/>
          </a:xfrm>
          <a:prstGeom prst="roundRect">
            <a:avLst>
              <a:gd name="adj" fmla="val 363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9808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49808" y="2880360"/>
            <a:ext cx="1611721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they do?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" y="3493770"/>
            <a:ext cx="1611721" cy="249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summary in 5 lines: question, design, population, main result.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2544409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2818729" y="2057400"/>
            <a:ext cx="2014057" cy="4069080"/>
          </a:xfrm>
          <a:prstGeom prst="roundRect">
            <a:avLst>
              <a:gd name="adj" fmla="val 363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019897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3019897" y="2880360"/>
            <a:ext cx="1611721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PICO and design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019897" y="3255645"/>
            <a:ext cx="1611721" cy="273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Population, intervention, comparator, outcomes; the study design and why it fits.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4814499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088819" y="2057400"/>
            <a:ext cx="2014057" cy="4069080"/>
          </a:xfrm>
          <a:prstGeom prst="roundRect">
            <a:avLst>
              <a:gd name="adj" fmla="val 363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289987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5289987" y="2880360"/>
            <a:ext cx="1611721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 trust it?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289987" y="3255645"/>
            <a:ext cx="1611721" cy="2733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of bias with the right checklist: CASP, RoB 2, Newcastle–Ottawa.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7084588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7358908" y="2057400"/>
            <a:ext cx="2014057" cy="4069080"/>
          </a:xfrm>
          <a:prstGeom prst="roundRect">
            <a:avLst>
              <a:gd name="adj" fmla="val 363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560076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7560076" y="2880360"/>
            <a:ext cx="1611721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the numbers mean?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560076" y="3493770"/>
            <a:ext cx="1611721" cy="249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tables: HR, OR, CI, p-values, NNT, in plain words.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9354678" y="2286000"/>
            <a:ext cx="292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9628998" y="2057400"/>
            <a:ext cx="2014057" cy="4069080"/>
          </a:xfrm>
          <a:prstGeom prst="roundRect">
            <a:avLst>
              <a:gd name="adj" fmla="val 3632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830166" y="2240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9830166" y="2880360"/>
            <a:ext cx="1611721" cy="521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for my patients?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830166" y="3493770"/>
            <a:ext cx="1611721" cy="249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Applicability to Indian settings, and what would change practice.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TO USE TONIGHT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a paper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10 minutes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7406640" cy="4160520"/>
          </a:xfrm>
          <a:prstGeom prst="roundRect">
            <a:avLst>
              <a:gd name="adj" fmla="val 1758"/>
            </a:avLst>
          </a:prstGeom>
          <a:solidFill>
            <a:srgbClr val="141010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194560"/>
            <a:ext cx="3540557" cy="292608"/>
          </a:xfrm>
          <a:prstGeom prst="roundRect">
            <a:avLst>
              <a:gd name="adj" fmla="val 50000"/>
            </a:avLst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194560"/>
            <a:ext cx="35405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A0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· UPLOAD THE PDF FIRST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633472"/>
            <a:ext cx="6858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You are a clinical epidemiologist who runs our department journal club.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[Attached PDF of the paper]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My level: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[MD resident, year 2]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Summarise the paper in 5 plain-language lines.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Give the PICO and the study design.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Appraise it with the right checklist (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[CASP / RoB 2 / Newcastle–Ottawa]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list the 3 biggest threats to validity.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Explain Table 2 and the main result: what the effect size and 95% CI mean for a patient.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Say whether it applies to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 government hospital in India]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and why.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 only the attached paper; quote the sentence you rely on. Write </a:t>
            </a:r>
            <a:pPr indent="0" marL="0">
              <a:buNone/>
            </a:pPr>
            <a:r>
              <a:rPr lang="en-US" sz="1200" b="1" dirty="0">
                <a:solidFill>
                  <a:srgbClr val="FF64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[NOT REPORTED]</a:t>
            </a:r>
            <a:pPr indent="0" marL="0">
              <a:buNone/>
            </a:pPr>
            <a:r>
              <a:rPr lang="en-US" sz="1200" dirty="0">
                <a:solidFill>
                  <a:srgbClr val="FBF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if it isn't there.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0" y="2011680"/>
            <a:ext cx="3413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2377440"/>
            <a:ext cx="341345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'Use only the attached paper' plus quotes.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checklist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design decides the tool.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explained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size in patient terms.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Applicability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examiners ask.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ONE PAPER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</a:t>
            </a:r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read ten papers at once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2110664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answers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250819"/>
            <a:ext cx="2110664" cy="21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only from the papers you upload, with a citation to the exact passage.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390824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19424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440" y="234086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619424" y="2871216"/>
            <a:ext cx="2110664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across papers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3619424" y="3520694"/>
            <a:ext cx="2110664" cy="187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 these 6 trials define exacerbation?" in one table.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33008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6160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624" y="2340864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461608" y="2871216"/>
            <a:ext cx="2110664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overview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6461608" y="3250819"/>
            <a:ext cx="2110664" cy="21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podcast-style discussion of your papers for the commute.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075191" y="2011680"/>
            <a:ext cx="2567864" cy="3520440"/>
          </a:xfrm>
          <a:prstGeom prst="roundRect">
            <a:avLst>
              <a:gd name="adj" fmla="val 2849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303791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1807" y="2340864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303791" y="2871216"/>
            <a:ext cx="2110664" cy="58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 maps and guides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9303791" y="3520694"/>
            <a:ext cx="2110664" cy="1874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concept map and study guide from your sources. Free with a Google account.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48640" y="5669280"/>
            <a:ext cx="11094415" cy="530352"/>
          </a:xfrm>
          <a:prstGeom prst="roundRect">
            <a:avLst>
              <a:gd name="adj" fmla="val 13793"/>
            </a:avLst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77240" y="5669280"/>
            <a:ext cx="106372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 journal club prep and literature reviews: </a:t>
            </a:r>
            <a:pPr indent="0" marL="0">
              <a:buNone/>
            </a:pPr>
            <a:r>
              <a:rPr lang="en-US" sz="130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sources only, every answer traceable.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229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REMEMBER ONE THING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0972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cite a paper </a:t>
            </a:r>
            <a:pPr indent="0" marL="0">
              <a:buNone/>
            </a:pPr>
            <a:r>
              <a:rPr lang="en-US" sz="30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haven't opened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3515258" cy="4160520"/>
          </a:xfrm>
          <a:prstGeom prst="roundRect">
            <a:avLst>
              <a:gd name="adj" fmla="val 2081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34086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871216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127248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Invented references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3506851"/>
            <a:ext cx="3058058" cy="252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Real-sounding authors, journals and years that don't exist, or real papers that don't say what's claimed.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338218" y="2011680"/>
            <a:ext cx="3515258" cy="4160520"/>
          </a:xfrm>
          <a:prstGeom prst="roundRect">
            <a:avLst>
              <a:gd name="adj" fmla="val 2081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66818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2340864"/>
            <a:ext cx="246888" cy="24688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66818" y="2871216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HABIT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4566818" y="3127248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check, save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4566818" y="3506851"/>
            <a:ext cx="3058058" cy="252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PMID or DOI opens; the paper says what's claimed; it isn't retracted; save it to Zotero.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8127797" y="2011680"/>
            <a:ext cx="3515258" cy="4160520"/>
          </a:xfrm>
          <a:prstGeom prst="roundRect">
            <a:avLst>
              <a:gd name="adj" fmla="val 2081"/>
            </a:avLst>
          </a:prstGeom>
          <a:solidFill>
            <a:srgbClr val="3A1E12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356397" y="2212848"/>
            <a:ext cx="502920" cy="502920"/>
          </a:xfrm>
          <a:prstGeom prst="ellipse">
            <a:avLst/>
          </a:prstGeom>
          <a:solidFill>
            <a:srgbClr val="3A1E12"/>
          </a:solidFill>
          <a:ln w="12700">
            <a:solidFill>
              <a:srgbClr val="3A1E12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413" y="2340864"/>
            <a:ext cx="246888" cy="24688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356397" y="2871216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8356397" y="3127248"/>
            <a:ext cx="3058058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 is on it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8356397" y="3506851"/>
            <a:ext cx="3058058" cy="2528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89C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fabricated citation outlives the deadline that tempted you to skip the check.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8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384048"/>
            <a:ext cx="109728" cy="109728"/>
          </a:xfrm>
          <a:prstGeom prst="ellipse">
            <a:avLst/>
          </a:prstGeom>
          <a:solidFill>
            <a:srgbClr val="FF641E"/>
          </a:solidFill>
          <a:ln w="12700">
            <a:solidFill>
              <a:srgbClr val="FF641E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301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 AI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9814255" y="301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00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paraboxai.com  ·  @abhishekjbenur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242255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F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PULMOCON 2026  ·  FINDING &amp; UNDERSTANDING RESEARCH PAPERS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828800"/>
            <a:ext cx="109728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smarter. </a:t>
            </a:r>
            <a:pPr indent="0" marL="0">
              <a:buNone/>
            </a:pPr>
            <a:r>
              <a:rPr lang="en-US" sz="5200" b="1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deeper.</a:t>
            </a:r>
            <a:endParaRPr lang="en-US" sz="5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083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A89C9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Connectors to find, dedicated tools to map and screen, five questions to understand, and your own eyes to verify.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141010"/>
          </a:solidFill>
          <a:ln w="12700">
            <a:solidFill>
              <a:srgbClr val="2E252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6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5321808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BF4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Research Question to Study Design · Dr. Saikat Banerjee · 8:20 PM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Parabox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&amp; Understanding Research Papers</dc:title>
  <dc:subject>PptxGenJS Presentation</dc:subject>
  <dc:creator>Dr. Abhishek J. Benur · Parabox AI</dc:creator>
  <cp:lastModifiedBy>Dr. Abhishek J. Benur · Parabox AI</cp:lastModifiedBy>
  <cp:revision>1</cp:revision>
  <dcterms:created xsi:type="dcterms:W3CDTF">2026-09-28T19:10:49Z</dcterms:created>
  <dcterms:modified xsi:type="dcterms:W3CDTF">2026-09-28T19:10:49Z</dcterms:modified>
</cp:coreProperties>
</file>